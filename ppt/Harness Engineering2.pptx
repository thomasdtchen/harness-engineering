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notesSlides/notesSlide1.xml" Type="http://schemas.openxmlformats.org/officeDocument/2006/relationships/notesSlide"/><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slideMasters/slideMaster1.xml" Type="http://schemas.openxmlformats.org/officeDocument/2006/relationships/slideMaster"/><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57" Target="notesSlides/notesSlide23.xml" Type="http://schemas.openxmlformats.org/officeDocument/2006/relationships/notesSlide"/><Relationship Id="rId58" Target="notesSlides/notesSlide24.xml" Type="http://schemas.openxmlformats.org/officeDocument/2006/relationships/notesSlide"/><Relationship Id="rId59" Target="notesSlides/notesSlide25.xml" Type="http://schemas.openxmlformats.org/officeDocument/2006/relationships/notesSlide"/><Relationship Id="rId6" Target="notesMasters/notesMaster1.xml" Type="http://schemas.openxmlformats.org/officeDocument/2006/relationships/notesMaster"/><Relationship Id="rId60" Target="notesSlides/notesSlide26.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大家好，今天我将为大家介绍AI工程领域的最新范式——Harness Engineering。随着AI从简单的对话助手演变为能够自主执行复杂任务的智能体，我们如何确保其在生产环境中的可靠性、安全性和可维护性？本次分享将深入探讨AI工程的演进历程，并详细解析Harness的核心架构，为构建下一代AI应用提供全面的工程实践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本次分享将分为三个部分。首先，我们将回顾AI工程从Prompt到Context，再到Harness的演进历程。接着，我们将深入剖析Harness Engineering的核心架构和六大组件。最后，进行总结并展望未来趋势。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让我们进入第一部分，探讨AI工程是如何从最初的指令优化，一步步演变为构建完整运行环境的。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我们首先来看AI工程的第一个阶段：Prompt Engineering。这个阶段的核心是“如何说”，即通过优化指令来引导AI。我们运用各种技巧，如思维链、角色扮演等，希望模型能给出完美答案。这就像老师给学生出题，力求题目清晰。但这种方式的局限性也很明显，它依赖模型的“软性”理解，在复杂任务中不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introduces Context Engineering (2025), the craft of informing AI. We cover its core definition, an analogy to providing a student with maps/books, key practices like Information Asset Management, RAG, and Context Window Optimization. We also highlight a critical limitation: it solves knowledge breadth but not behavioral reliability. An example in customer support shows how injecting precise context (e.g., A08 vacuum specs) enables accurate, step-by-step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这就引出了我们今天的主角——Harness Engineering。它不再关注“怎么说”或“给什么”，而是关注“在什么系统里干活”。它为AI构建一个完整的运行环境，就像为千里马配备全套马具。我们的目标不再是让AI更聪明，而是让它更可靠、更安全。这标志着AI工程从“与AI对话”转向“用AI构建可靠的软件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清晰地对比了三个阶段的差异。从核心问题、管理范围到约束方式，我们可以看到一个清晰的演进路径：从关注“让AI更聪明地回答”，到“让AI知道得更多”，最终到“让AI更可靠地工作”。这三个阶段并非相互替代，而是层层递进、相互包含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现在，我们进入第二部分，深入探讨Harness Engineering的核心架构和六大组件。这部分是理解如何构建可靠AI Agent的关键。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典型的Harness架构可以分为三层。信息层负责提供信息，解决“AI知道什么”；执行层负责控制行为，解决“AI能做什么”；反馈层负责监控评估，解决“AI做得怎么样”。这三层共同构成了一个完整的控制与执行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在这三层架构之下，包含了六大核心组件。它们分别是上下文架构、工具与权限、验证与护栏、记忆与状态、可观测性与反馈，以及人工介入。接下来，我们将逐一解析这些组件的作用和必要性。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首先是上下文架构。它的核心是“按需供给”，而不是把所有信息一股脑塞给模型。通过信息分层、滚动摘要等技术，我们确保模型在正确的时间获得正确的信息，这不仅能提升效率，还能有效降低成本。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second component is Tools &amp; Permissions. AIs need to call external tools to complete tasks, but this also introduces security risks. Therefore, we must strictly manage what tools the AI can call and what permissions it has. The principle of least privilege and sandbox isolation are key practices here, ensuring the AI's capabilities are safely constrained within controllable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第三，验证与护栏。这是Harness的“免疫系统”。我们在输入、执行、输出的各个环节设置检查点，就像高速公路上的护栏。它能防止恶意输入，确保输出质量，并拦截危险行为，是保证AI行为可靠的关键。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记忆与状态。大模型本身是“健忘”的，上下文窗口有限。因此，我们需要为它构建一个外部记忆系统。通过向量数据库等技术，我们可以实现长期记忆和情节记忆，让AI能够执行长时任务，并在系统崩溃后恢复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五，可观测性与反馈。一个“黑盒”的AI系统是无法信任的。我们必须建立一套完整的监控和日志体系，像飞机的黑匣子一样，记录AI的每一步决策。这不仅有助于问题诊断和性能优化，更是实现AI系统持续改进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fifth key component is the Evaluation System. It's not enough to just look at the final answer. We need to evaluate the entire process. This system uses a four-layer model to assess everything from individual components to the final business outcome. A key practice is to automate this evaluation and integrate it into the CI/CD pipeline, ensuring that every change we make doesn't break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Last but not least, Cost Control. Without it, an AI Agent system can quickly become a budget black hole. This component turns token spending into a real-time, managed process. We use strategies like model routing—using cheaper, smaller models for simple tasks—and context compression to save costs. We also set up budget alerts and degradation strategies to ensure we stay within our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也是最重要的一环，人工介入。AI不是万能的，在高风险决策和超出其能力范围的问题上，人类的智慧和判断是不可替代的。通过设置门控执行、一键接管等机制，我们将人类置于最终的决策环中，这既是安全防线，也是AI持续学习的宝贵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Harness Engineering more concrete, let's look at a real-world example from Anthropic. They break down the problem into two main parts: Task Planning and Quality Assessment. This shows a systematic approach to managing complex AI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Task Planning. Imagine the task is to clone a complex application like claude.ai. A naive Agent might try to do everything at once and fail. The Harness solution, called an 'Initializer', first breaks down the huge request into smaller tasks, writes a plan, and sets up a way to track progress. This is a classic example of breaking down a complex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idea evolves. The initial task of breaking down the request becomes so important that it's assigned to a specialized Agent called a 'Planner'. This 'Planner' agent's only job is to understand the user's request and create a detailed to-do list. This is a key Harness principle: separating concerns to create a more robust and manageable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let's look at Quality Assessment. How do we know if the AI's output is good? Asking a human every time is slow. Asking the AI to grade itself is unreliable. The Harness solution is to create a separate 'Evaluator' Agent. This agent's only job is to check the work of the agent that generated the code, acting like an automated QA engineer.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putting it all together, the Harness now consists of three specialized agents: a Planner, a Generator, and an Evaluator. Each one is an expert in its own domain. This is the essence of Harness Engineering in action: building a reliable system by combining multiple specialized AI agents that work together towards a common goal.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final diagram shows the complete workflow. The Planner breaks down the task. Then, for each small part, the Generator and Evaluator enter a loop: propose, review, generate, evaluate, and fix if needed. This continues until the piece is perfect, then they move on to the next one. This is a powerful example of how Harness Engineering creates a reliable, automated, and self-improving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这张图展示了一个典型的生产级AI Agent系统架构。我们可以看到，Harness的六大组件被有机地整合到了接入层、核心层、协作层、工具数据层和安全治理层中。这直观地说明了Harness Engineering如何将一个AI模型，打造成一个功能强大、结构完整、安全可靠的生产级系统。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总结来说，Harness Engineering代表了AI工程的成熟，它将AI从一个聪明的“大脑”，变成了一个可靠的“员工”。希望今天的分享能帮助大家更好地理解和应用这一新范式。我的分享到此结束，谢谢大家！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4.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4.svg" Type="http://schemas.openxmlformats.org/officeDocument/2006/relationships/image"/><Relationship Id="rId11" Target="../notesSlides/notesSlide14.xml" Type="http://schemas.openxmlformats.org/officeDocument/2006/relationships/notesSlide"/><Relationship Id="rId2" Target="../media/image2.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0.sv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13" Target="../media/image41.png" Type="http://schemas.openxmlformats.org/officeDocument/2006/relationships/image"/><Relationship Id="rId14" Target="../media/image42.svg" Type="http://schemas.openxmlformats.org/officeDocument/2006/relationships/image"/><Relationship Id="rId15" Target="../media/image43.png" Type="http://schemas.openxmlformats.org/officeDocument/2006/relationships/image"/><Relationship Id="rId16" Target="../media/image44.svg" Type="http://schemas.openxmlformats.org/officeDocument/2006/relationships/image"/><Relationship Id="rId17" Target="../notesSlides/notesSlide15.xml" Type="http://schemas.openxmlformats.org/officeDocument/2006/relationships/notesSlide"/><Relationship Id="rId2" Target="../media/image2.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6.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13" Target="../media/image51.png" Type="http://schemas.openxmlformats.org/officeDocument/2006/relationships/image"/><Relationship Id="rId14" Target="../media/image52.svg" Type="http://schemas.openxmlformats.org/officeDocument/2006/relationships/image"/><Relationship Id="rId15" Target="../notesSlides/notesSlide17.xml" Type="http://schemas.openxmlformats.org/officeDocument/2006/relationships/notesSlide"/><Relationship Id="rId2" Target="../media/image2.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4.jpeg" Type="http://schemas.openxmlformats.org/officeDocument/2006/relationships/image"/><Relationship Id="rId3" Target="../notesSlides/notesSlide26.xml" Type="http://schemas.openxmlformats.org/officeDocument/2006/relationships/notesSlide"/><Relationship Id="rId4" Target="../media/image6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419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The New Engineering Paradigm for Building Reliable AI Agents</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Presenter: AI Assistant | June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01</a:t>
            </a:r>
            <a:endParaRPr lang="en-US" sz="1100"/>
          </a:p>
        </p:txBody>
      </p:sp>
      <p:cxnSp>
        <p:nvCxnSpPr>
          <p:cNvPr name="Connector 7" id="7"/>
          <p:cNvCxnSpPr/>
          <p:nvPr/>
        </p:nvCxnSpPr>
        <p:spPr>
          <a:xfrm rot="-14691" flipH="false" flipV="false">
            <a:off x="9652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8" id="8"/>
          <p:cNvSpPr/>
          <p:nvPr/>
        </p:nvSpPr>
        <p:spPr>
          <a:xfrm rot="0" flipH="false" flipV="false">
            <a:off x="9652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The Evolution of AI Engineering: From Instruction to Environment</a:t>
            </a:r>
            <a:endParaRPr lang="en-US" sz="1100"/>
          </a:p>
        </p:txBody>
      </p:sp>
      <p:sp>
        <p:nvSpPr>
          <p:cNvPr name="AutoShape 9" id="9"/>
          <p:cNvSpPr/>
          <p:nvPr/>
        </p:nvSpPr>
        <p:spPr>
          <a:xfrm rot="0" flipH="false" flipV="false">
            <a:off x="9652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evolution from Prompt Engineering instruction optimization, to Context Engineering context construction, and finally to the systematic engineering paradigm of Harness Engineering.</a:t>
            </a:r>
            <a:endParaRPr lang="en-US" sz="1100"/>
          </a:p>
        </p:txBody>
      </p:sp>
      <p:sp>
        <p:nvSpPr>
          <p:cNvPr name="AutoShape 10" id="10"/>
          <p:cNvSpPr/>
          <p:nvPr/>
        </p:nvSpPr>
        <p:spPr>
          <a:xfrm rot="0" flipH="false" flipV="false">
            <a:off x="44069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101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02</a:t>
            </a:r>
            <a:endParaRPr lang="en-US" sz="1100"/>
          </a:p>
        </p:txBody>
      </p:sp>
      <p:cxnSp>
        <p:nvCxnSpPr>
          <p:cNvPr name="Connector 13" id="13"/>
          <p:cNvCxnSpPr/>
          <p:nvPr/>
        </p:nvCxnSpPr>
        <p:spPr>
          <a:xfrm rot="-14691" flipH="false" flipV="false">
            <a:off x="46101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4" id="14"/>
          <p:cNvSpPr/>
          <p:nvPr/>
        </p:nvSpPr>
        <p:spPr>
          <a:xfrm rot="0" flipH="false" flipV="false">
            <a:off x="46101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Harness Engineering: Core Architecture</a:t>
            </a:r>
            <a:endParaRPr lang="en-US" sz="1100"/>
          </a:p>
        </p:txBody>
      </p:sp>
      <p:sp>
        <p:nvSpPr>
          <p:cNvPr name="AutoShape 15" id="15"/>
          <p:cNvSpPr/>
          <p:nvPr/>
        </p:nvSpPr>
        <p:spPr>
          <a:xfrm rot="0" flipH="false" flipV="false">
            <a:off x="46101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An in-depth analysis of the Overview of the Three-Layer Model ("Model Layer-Framework Layer-Application Layer"), and a Detailed Explanation of the Six Core Components such as Prompt and Context.</a:t>
            </a:r>
            <a:endParaRPr lang="en-US" sz="1100"/>
          </a:p>
        </p:txBody>
      </p:sp>
      <p:sp>
        <p:nvSpPr>
          <p:cNvPr name="AutoShape 16" id="16"/>
          <p:cNvSpPr/>
          <p:nvPr/>
        </p:nvSpPr>
        <p:spPr>
          <a:xfrm rot="0" flipH="false" flipV="false">
            <a:off x="80518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518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2550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03</a:t>
            </a:r>
            <a:endParaRPr lang="en-US" sz="1100"/>
          </a:p>
        </p:txBody>
      </p:sp>
      <p:cxnSp>
        <p:nvCxnSpPr>
          <p:cNvPr name="Connector 19" id="19"/>
          <p:cNvCxnSpPr/>
          <p:nvPr/>
        </p:nvCxnSpPr>
        <p:spPr>
          <a:xfrm rot="-14691" flipH="false" flipV="false">
            <a:off x="82550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0" id="20"/>
          <p:cNvSpPr/>
          <p:nvPr/>
        </p:nvSpPr>
        <p:spPr>
          <a:xfrm rot="0" flipH="false" flipV="false">
            <a:off x="82550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Summary and Outlook</a:t>
            </a:r>
            <a:endParaRPr lang="en-US" sz="1100"/>
          </a:p>
        </p:txBody>
      </p:sp>
      <p:sp>
        <p:nvSpPr>
          <p:cNvPr name="AutoShape 21" id="21"/>
          <p:cNvSpPr/>
          <p:nvPr/>
        </p:nvSpPr>
        <p:spPr>
          <a:xfrm rot="0" flipH="false" flipV="false">
            <a:off x="82550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Review of Core Ideas of Harness Engineering, exploring Future Trends in AI engineering, and the implementation challenges and opportunities in practical business scenarios.</a:t>
            </a:r>
            <a:endParaRPr lang="en-US" sz="1100"/>
          </a:p>
        </p:txBody>
      </p:sp>
      <p:sp>
        <p:nvSpPr>
          <p:cNvPr name="AutoShape 22" id="22"/>
          <p:cNvSpPr/>
          <p:nvPr/>
        </p:nvSpPr>
        <p:spPr>
          <a:xfrm rot="0" flipH="false" flipV="false">
            <a:off x="762000" y="5969000"/>
            <a:ext cx="10668000" cy="508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60452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33333"/>
                </a:solidFill>
                <a:latin typeface="Noto Sans SC"/>
                <a:ea typeface="Noto Sans SC"/>
                <a:cs typeface="Noto Sans SC"/>
                <a:sym typeface="Noto Sans SC"/>
              </a:rPr>
              <a:t>以系统化思维重构AI应用开发流程，让智能技术从实验走向可靠、可复用的工程实践。</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01</a:t>
            </a:r>
            <a:endParaRPr lang="en-US" sz="1100"/>
          </a:p>
        </p:txBody>
      </p:sp>
      <p:sp>
        <p:nvSpPr>
          <p:cNvPr name="AutoShape 3" id="3"/>
          <p:cNvSpPr/>
          <p:nvPr/>
        </p:nvSpPr>
        <p:spPr>
          <a:xfrm rot="0" flipH="false" flipV="false">
            <a:off x="0" y="5016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333333"/>
                </a:solidFill>
                <a:latin typeface="Poppins"/>
                <a:ea typeface="Poppins"/>
                <a:cs typeface="Poppins"/>
                <a:sym typeface="Poppins"/>
              </a:rPr>
              <a:t>The Evolution of AI Engineering</a:t>
            </a:r>
            <a:endParaRPr lang="en-US" sz="1100"/>
          </a:p>
        </p:txBody>
      </p:sp>
      <p:sp>
        <p:nvSpPr>
          <p:cNvPr name="AutoShape 4" id="4"/>
          <p:cNvSpPr/>
          <p:nvPr/>
        </p:nvSpPr>
        <p:spPr>
          <a:xfrm rot="0" flipH="false" flipV="false">
            <a:off x="5778500" y="5969000"/>
            <a:ext cx="635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6223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66666"/>
                </a:solidFill>
                <a:latin typeface="Poppins"/>
                <a:ea typeface="Poppins"/>
                <a:cs typeface="Poppins"/>
                <a:sym typeface="Poppins"/>
              </a:rPr>
              <a:t>The technological leap from optimizing individual instructions to building a full-stack intelligent environment.</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Prompt Engineering (2022-2024): The Art of Conversing with AI</a:t>
            </a:r>
            <a:endParaRPr lang="en-US" sz="1100"/>
          </a:p>
        </p:txBody>
      </p:sp>
      <p:sp>
        <p:nvSpPr>
          <p:cNvPr name="AutoShape 4" id="4"/>
          <p:cNvSpPr/>
          <p:nvPr/>
        </p:nvSpPr>
        <p:spPr>
          <a:xfrm rot="0" flipH="false" flipV="false">
            <a:off x="762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7" id="7"/>
          <p:cNvSpPr/>
          <p:nvPr/>
        </p:nvSpPr>
        <p:spPr>
          <a:xfrm rot="0" flipH="false" flipV="false">
            <a:off x="1460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Definition: The 'Instruction Manual' for Guiding AI</a:t>
            </a:r>
            <a:endParaRPr lang="en-US" sz="1100"/>
          </a:p>
        </p:txBody>
      </p:sp>
      <p:cxnSp>
        <p:nvCxnSpPr>
          <p:cNvPr name="Connector 8" id="8"/>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9" id="9"/>
          <p:cNvSpPr/>
          <p:nvPr/>
        </p:nvSpPr>
        <p:spPr>
          <a:xfrm rot="0" flipH="false" flipV="false">
            <a:off x="1016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As the first stage of AI engineering, its core is to guide the model to generate high-quality outputs through well-designed instructions (Prompts), ensuring the model's reasoning and output align with expectations.</a:t>
            </a:r>
            <a:endParaRPr lang="en-US" sz="1100"/>
          </a:p>
        </p:txBody>
      </p:sp>
      <p:sp>
        <p:nvSpPr>
          <p:cNvPr name="AutoShape 10" id="10"/>
          <p:cNvSpPr/>
          <p:nvPr/>
        </p:nvSpPr>
        <p:spPr>
          <a:xfrm rot="0" flipH="false" flipV="false">
            <a:off x="6223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95500"/>
            <a:ext cx="304800" cy="304800"/>
          </a:xfrm>
          <a:prstGeom prst="rect">
            <a:avLst/>
          </a:prstGeom>
        </p:spPr>
      </p:pic>
      <p:sp>
        <p:nvSpPr>
          <p:cNvPr name="AutoShape 13" id="13"/>
          <p:cNvSpPr/>
          <p:nvPr/>
        </p:nvSpPr>
        <p:spPr>
          <a:xfrm rot="0" flipH="false" flipV="false">
            <a:off x="6921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Strategy: Optimizing Expression and Applying Techniques</a:t>
            </a:r>
            <a:endParaRPr lang="en-US" sz="1100"/>
          </a:p>
        </p:txBody>
      </p:sp>
      <p:cxnSp>
        <p:nvCxnSpPr>
          <p:cNvPr name="Connector 14" id="14"/>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5" id="15"/>
          <p:cNvSpPr/>
          <p:nvPr/>
        </p:nvSpPr>
        <p:spPr>
          <a:xfrm rot="0" flipH="false" flipV="false">
            <a:off x="6477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Focus on precise intent expression, using techniques like Chain-of-Thought and Few-shot examples to enhance the model's performance and output quality.</a:t>
            </a:r>
            <a:endParaRPr lang="en-US" sz="1100"/>
          </a:p>
        </p:txBody>
      </p:sp>
      <p:sp>
        <p:nvSpPr>
          <p:cNvPr name="AutoShape 16" id="16"/>
          <p:cNvSpPr/>
          <p:nvPr/>
        </p:nvSpPr>
        <p:spPr>
          <a:xfrm rot="0" flipH="false" flipV="false">
            <a:off x="762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304800" cy="304800"/>
          </a:xfrm>
          <a:prstGeom prst="rect">
            <a:avLst/>
          </a:prstGeom>
        </p:spPr>
      </p:pic>
      <p:sp>
        <p:nvSpPr>
          <p:cNvPr name="AutoShape 19" id="19"/>
          <p:cNvSpPr/>
          <p:nvPr/>
        </p:nvSpPr>
        <p:spPr>
          <a:xfrm rot="0" flipH="false" flipV="false">
            <a:off x="1460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Analogy: Giving Exam Questions to a Student</a:t>
            </a:r>
            <a:endParaRPr lang="en-US" sz="1100"/>
          </a:p>
        </p:txBody>
      </p:sp>
      <p:cxnSp>
        <p:nvCxnSpPr>
          <p:cNvPr name="Connector 20" id="20"/>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Similar to a teacher designing exam questions, the goal of a Prompt engineer is to create the clearest questions to stimulate the model's potential.</a:t>
            </a:r>
            <a:endParaRPr lang="en-US" sz="1100"/>
          </a:p>
        </p:txBody>
      </p:sp>
      <p:sp>
        <p:nvSpPr>
          <p:cNvPr name="AutoShape 22" id="22"/>
          <p:cNvSpPr/>
          <p:nvPr/>
        </p:nvSpPr>
        <p:spPr>
          <a:xfrm rot="0" flipH="false" flipV="false">
            <a:off x="6223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304800" cy="304800"/>
          </a:xfrm>
          <a:prstGeom prst="rect">
            <a:avLst/>
          </a:prstGeom>
        </p:spPr>
      </p:pic>
      <p:sp>
        <p:nvSpPr>
          <p:cNvPr name="AutoShape 25" id="25"/>
          <p:cNvSpPr/>
          <p:nvPr/>
        </p:nvSpPr>
        <p:spPr>
          <a:xfrm rot="0" flipH="false" flipV="false">
            <a:off x="6921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Inherent Limitation: The Fragility of Soft Constraints</a:t>
            </a:r>
            <a:endParaRPr lang="en-US" sz="1100"/>
          </a:p>
        </p:txBody>
      </p:sp>
      <p:cxnSp>
        <p:nvCxnSpPr>
          <p:cNvPr name="Connector 26" id="26"/>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7" id="27"/>
          <p:cNvSpPr/>
          <p:nvPr/>
        </p:nvSpPr>
        <p:spPr>
          <a:xfrm rot="0" flipH="false" flipV="false">
            <a:off x="6477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Effectiveness is highly dependent on the model's understanding. The model may 'forget' or 'ignore' instructions, making it fragile for complex tasks.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cmpd="sng" cap="flat">
            <a:solidFill>
              <a:srgbClr val="E6CFCF">
                <a:alpha val="4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Context Engineering (2025): The Craft of Informing AI</a:t>
            </a:r>
            <a:endParaRPr lang="en-US" sz="1100"/>
          </a:p>
        </p:txBody>
      </p:sp>
      <p:sp>
        <p:nvSpPr>
          <p:cNvPr name="AutoShape 4" id="4"/>
          <p:cNvSpPr/>
          <p:nvPr/>
        </p:nvSpPr>
        <p:spPr>
          <a:xfrm rot="0" flipH="false" flipV="false">
            <a:off x="762000" y="1524000"/>
            <a:ext cx="5080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762000" y="1524000"/>
            <a:ext cx="76200" cy="18415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1016000" y="1651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 Core Definition: Answering 'What the Model Needs to Know'</a:t>
            </a:r>
            <a:endParaRPr lang="en-US" sz="1100"/>
          </a:p>
        </p:txBody>
      </p:sp>
      <p:cxnSp>
        <p:nvCxnSpPr>
          <p:cNvPr name="Connector 7" id="7"/>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8" id="8"/>
          <p:cNvSpPr/>
          <p:nvPr/>
        </p:nvSpPr>
        <p:spPr>
          <a:xfrm rot="0" flipH="false" flipV="false">
            <a:off x="1016000" y="23495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The second stage of AI engineering, pioneered by experts like Andrej Karpathy, focuses on constructing and managing the contextual information the model needs during inference.</a:t>
            </a:r>
            <a:endParaRPr lang="en-US" sz="1100"/>
          </a:p>
        </p:txBody>
      </p:sp>
      <p:sp>
        <p:nvSpPr>
          <p:cNvPr name="AutoShape 9" id="9"/>
          <p:cNvSpPr/>
          <p:nvPr/>
        </p:nvSpPr>
        <p:spPr>
          <a:xfrm rot="0" flipH="false" flipV="false">
            <a:off x="762000" y="3619500"/>
            <a:ext cx="5080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762000" y="3619500"/>
            <a:ext cx="76200" cy="1714500"/>
          </a:xfrm>
          <a:prstGeom prst="roundRect">
            <a:avLst>
              <a:gd name="adj" fmla="val 0"/>
            </a:avLst>
          </a:prstGeom>
          <a:solidFill>
            <a:srgbClr val="E60012">
              <a:alpha val="70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746500"/>
            <a:ext cx="254000" cy="254000"/>
          </a:xfrm>
          <a:prstGeom prst="rect">
            <a:avLst/>
          </a:prstGeom>
        </p:spPr>
      </p:pic>
      <p:sp>
        <p:nvSpPr>
          <p:cNvPr name="AutoShape 12" id="12"/>
          <p:cNvSpPr/>
          <p:nvPr/>
        </p:nvSpPr>
        <p:spPr>
          <a:xfrm rot="0" flipH="false" flipV="false">
            <a:off x="1397000" y="3746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Analogy: Providing a 'Map and Reference Books' to a Student</a:t>
            </a:r>
            <a:endParaRPr lang="en-US" sz="1100"/>
          </a:p>
        </p:txBody>
      </p:sp>
      <p:cxnSp>
        <p:nvCxnSpPr>
          <p:cNvPr name="Connector 13" id="13"/>
          <p:cNvCxnSpPr/>
          <p:nvPr/>
        </p:nvCxnSpPr>
        <p:spPr>
          <a:xfrm rot="-9549" flipH="false" flipV="false">
            <a:off x="1016009" y="43116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4" id="14"/>
          <p:cNvSpPr/>
          <p:nvPr/>
        </p:nvSpPr>
        <p:spPr>
          <a:xfrm rot="0" flipH="false" flipV="false">
            <a:off x="1016000" y="4445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Context engineers ensure the model has all necessary information to solve problems, just like providing a student with a map and reference materials.</a:t>
            </a:r>
            <a:endParaRPr lang="en-US" sz="1100"/>
          </a:p>
        </p:txBody>
      </p:sp>
      <p:cxnSp>
        <p:nvCxnSpPr>
          <p:cNvPr name="Connector 15" id="15"/>
          <p:cNvCxnSpPr/>
          <p:nvPr/>
        </p:nvCxnSpPr>
        <p:spPr>
          <a:xfrm rot="5388728" flipH="false" flipV="false">
            <a:off x="4159250" y="3454410"/>
            <a:ext cx="3873500" cy="12700"/>
          </a:xfrm>
          <a:prstGeom prst="straightConnector1">
            <a:avLst/>
          </a:prstGeom>
          <a:solidFill>
            <a:srgbClr val="DEE0E3">
              <a:alpha val="100000"/>
            </a:srgbClr>
          </a:solidFill>
          <a:ln w="12700" cmpd="sng" cap="flat">
            <a:solidFill>
              <a:srgbClr val="333333">
                <a:alpha val="20000"/>
              </a:srgbClr>
            </a:solidFill>
            <a:prstDash val="dash"/>
            <a:round/>
            <a:headEnd type="none" w="med" len="med"/>
            <a:tailEnd type="none" w="med" len="med"/>
          </a:ln>
        </p:spPr>
      </p:cxnSp>
      <p:sp>
        <p:nvSpPr>
          <p:cNvPr name="AutoShape 16" id="16"/>
          <p:cNvSpPr/>
          <p:nvPr/>
        </p:nvSpPr>
        <p:spPr>
          <a:xfrm rot="0" flipH="false" flipV="false">
            <a:off x="6350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676400"/>
            <a:ext cx="279400" cy="279400"/>
          </a:xfrm>
          <a:prstGeom prst="rect">
            <a:avLst/>
          </a:prstGeom>
        </p:spPr>
      </p:pic>
      <p:sp>
        <p:nvSpPr>
          <p:cNvPr name="AutoShape 18" id="18"/>
          <p:cNvSpPr/>
          <p:nvPr/>
        </p:nvSpPr>
        <p:spPr>
          <a:xfrm rot="0" flipH="false" flipV="false">
            <a:off x="6921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Information Asset Management</a:t>
            </a:r>
            <a:endParaRPr lang="en-US" sz="1100"/>
          </a:p>
        </p:txBody>
      </p:sp>
      <p:cxnSp>
        <p:nvCxnSpPr>
          <p:cNvPr name="Connector 19" id="19"/>
          <p:cNvCxnSpPr/>
          <p:nvPr/>
        </p:nvCxnSpPr>
        <p:spPr>
          <a:xfrm rot="-19098" flipH="false" flipV="false">
            <a:off x="6540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0" id="20"/>
          <p:cNvSpPr/>
          <p:nvPr/>
        </p:nvSpPr>
        <p:spPr>
          <a:xfrm rot="0" flipH="false" flipV="false">
            <a:off x="6540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Managing all content within the context window, including documents, conversation history, and tool definitions.</a:t>
            </a:r>
            <a:endParaRPr lang="en-US" sz="1100"/>
          </a:p>
        </p:txBody>
      </p:sp>
      <p:sp>
        <p:nvSpPr>
          <p:cNvPr name="AutoShape 21" id="21"/>
          <p:cNvSpPr/>
          <p:nvPr/>
        </p:nvSpPr>
        <p:spPr>
          <a:xfrm rot="0" flipH="false" flipV="false">
            <a:off x="9144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34500" y="1676400"/>
            <a:ext cx="279400" cy="279400"/>
          </a:xfrm>
          <a:prstGeom prst="rect">
            <a:avLst/>
          </a:prstGeom>
        </p:spPr>
      </p:pic>
      <p:sp>
        <p:nvSpPr>
          <p:cNvPr name="AutoShape 23" id="23"/>
          <p:cNvSpPr/>
          <p:nvPr/>
        </p:nvSpPr>
        <p:spPr>
          <a:xfrm rot="0" flipH="false" flipV="false">
            <a:off x="9715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33333"/>
                </a:solidFill>
                <a:latin typeface="Noto Sans SC"/>
                <a:ea typeface="Noto Sans SC"/>
                <a:cs typeface="Noto Sans SC"/>
                <a:sym typeface="Noto Sans SC"/>
              </a:rPr>
              <a:t>Retrieval-Augmented Generation (RAG)</a:t>
            </a:r>
            <a:endParaRPr lang="en-US" sz="1100"/>
          </a:p>
        </p:txBody>
      </p:sp>
      <p:cxnSp>
        <p:nvCxnSpPr>
          <p:cNvPr name="Connector 24" id="24"/>
          <p:cNvCxnSpPr/>
          <p:nvPr/>
        </p:nvCxnSpPr>
        <p:spPr>
          <a:xfrm rot="-19098" flipH="false" flipV="false">
            <a:off x="9334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5" id="25"/>
          <p:cNvSpPr/>
          <p:nvPr/>
        </p:nvSpPr>
        <p:spPr>
          <a:xfrm rot="0" flipH="false" flipV="false">
            <a:off x="9334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Retrieving relevant information from external knowledge bases to reduce hallucinations and provide up-to-date knowledge.</a:t>
            </a:r>
            <a:endParaRPr lang="en-US" sz="1100"/>
          </a:p>
        </p:txBody>
      </p:sp>
      <p:sp>
        <p:nvSpPr>
          <p:cNvPr name="AutoShape 26" id="26"/>
          <p:cNvSpPr/>
          <p:nvPr/>
        </p:nvSpPr>
        <p:spPr>
          <a:xfrm rot="0" flipH="false" flipV="false">
            <a:off x="6350000" y="3619500"/>
            <a:ext cx="5461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771900"/>
            <a:ext cx="279400" cy="279400"/>
          </a:xfrm>
          <a:prstGeom prst="rect">
            <a:avLst/>
          </a:prstGeom>
        </p:spPr>
      </p:pic>
      <p:sp>
        <p:nvSpPr>
          <p:cNvPr name="AutoShape 28" id="28"/>
          <p:cNvSpPr/>
          <p:nvPr/>
        </p:nvSpPr>
        <p:spPr>
          <a:xfrm rot="0" flipH="false" flipV="false">
            <a:off x="6921500" y="3746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Context Window Optimization: Combating 'Lost in the Middle'</a:t>
            </a:r>
            <a:endParaRPr lang="en-US" sz="1100"/>
          </a:p>
        </p:txBody>
      </p:sp>
      <p:cxnSp>
        <p:nvCxnSpPr>
          <p:cNvPr name="Connector 29" id="29"/>
          <p:cNvCxnSpPr/>
          <p:nvPr/>
        </p:nvCxnSpPr>
        <p:spPr>
          <a:xfrm rot="-8594" flipH="false" flipV="false">
            <a:off x="6540508" y="4311650"/>
            <a:ext cx="5080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30" id="30"/>
          <p:cNvSpPr/>
          <p:nvPr/>
        </p:nvSpPr>
        <p:spPr>
          <a:xfrm rot="0" flipH="false" flipV="false">
            <a:off x="6540500" y="44450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Addressing issues like 'Lost in the Middle' to ensure key information is effectively utilized by the model.</a:t>
            </a:r>
            <a:endParaRPr lang="en-US" sz="1100"/>
          </a:p>
        </p:txBody>
      </p:sp>
      <p:sp>
        <p:nvSpPr>
          <p:cNvPr name="AutoShape 31" id="31"/>
          <p:cNvSpPr/>
          <p:nvPr/>
        </p:nvSpPr>
        <p:spPr>
          <a:xfrm rot="0" flipH="false" flipV="false">
            <a:off x="762000" y="5461000"/>
            <a:ext cx="10668000" cy="1143000"/>
          </a:xfrm>
          <a:prstGeom prst="roundRect">
            <a:avLst>
              <a:gd name="adj" fmla="val 0"/>
            </a:avLst>
          </a:prstGeom>
          <a:solidFill>
            <a:srgbClr val="F7F8FA">
              <a:alpha val="100000"/>
            </a:srgbClr>
          </a:solidFill>
          <a:ln w="12700" cmpd="sng" cap="flat">
            <a:solidFill>
              <a:srgbClr val="E5E7EB">
                <a:alpha val="100000"/>
              </a:srgbClr>
            </a:solidFill>
            <a:prstDash val="solid"/>
            <a:round/>
          </a:ln>
        </p:spPr>
        <p:txBody>
          <a:bodyPr anchor="ctr" rtlCol="false" vert="horz" lIns="63500" rIns="63500" tIns="63500" bIns="63500"/>
          <a:lstStyle/>
          <a:p>
            <a:pPr algn="ctr">
              <a:defRPr/>
            </a:pPr>
            <a:endParaRPr/>
          </a:p>
        </p:txBody>
      </p:sp>
      <p:sp>
        <p:nvSpPr>
          <p:cNvPr name="AutoShape 32" id="32"/>
          <p:cNvSpPr/>
          <p:nvPr/>
        </p:nvSpPr>
        <p:spPr>
          <a:xfrm rot="0" flipH="false" flipV="false">
            <a:off x="952500" y="5524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60012"/>
                </a:solidFill>
                <a:latin typeface="Noto Sans SC"/>
                <a:ea typeface="Noto Sans SC"/>
                <a:cs typeface="Noto Sans SC"/>
                <a:sym typeface="Noto Sans SC"/>
              </a:rPr>
              <a:t>EXAMPLE: Customer Support | Key Limitation:</a:t>
            </a:r>
            <a:r>
              <a:rPr lang="en-US" b="false" i="false" strike="noStrike" u="none" sz="1100">
                <a:solidFill>
                  <a:srgbClr val="3C3C3C"/>
                </a:solidFill>
                <a:latin typeface="Noto Sans SC"/>
                <a:ea typeface="Noto Sans SC"/>
                <a:cs typeface="Noto Sans SC"/>
                <a:sym typeface="Noto Sans SC"/>
              </a:rPr>
              <a:t>While Context Engineering solves knowledge 'breadth', it fails to guarantee behavioral reliability. Even with correct info, the model may not use it properly. In customer support, this means precise troubleshooting guides (injected as context) are needed to ensure accurate, step-by-step responses (e.g., "Clean battery contacts first") instead of generic advice.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33333"/>
                </a:solidFill>
                <a:latin typeface="Noto Sans SC"/>
                <a:ea typeface="Noto Sans SC"/>
                <a:cs typeface="Noto Sans SC"/>
                <a:sym typeface="Noto Sans SC"/>
              </a:rPr>
              <a:t>Harness Engineering (2026-Present): The 'Operating System' for AI Agents</a:t>
            </a:r>
            <a:endParaRPr lang="en-US" sz="1100"/>
          </a:p>
        </p:txBody>
      </p:sp>
      <p:sp>
        <p:nvSpPr>
          <p:cNvPr name="AutoShape 4" id="4"/>
          <p:cNvSpPr/>
          <p:nvPr/>
        </p:nvSpPr>
        <p:spPr>
          <a:xfrm rot="0" flipH="false" flipV="false">
            <a:off x="762000" y="1905000"/>
            <a:ext cx="1066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33333"/>
                </a:solidFill>
                <a:latin typeface="Noto Sans SC"/>
                <a:ea typeface="Noto Sans SC"/>
                <a:cs typeface="Noto Sans SC"/>
                <a:sym typeface="Noto Sans SC"/>
              </a:rPr>
              <a:t>Core Definition: The 'Operating System' for AI Agents</a:t>
            </a:r>
            <a:r>
              <a:rPr lang="en-US" b="false" i="false" strike="noStrike" u="none" sz="1400">
                <a:solidFill>
                  <a:srgbClr val="333333"/>
                </a:solidFill>
                <a:latin typeface="Noto Sans SC"/>
                <a:ea typeface="Noto Sans SC"/>
                <a:cs typeface="Noto Sans SC"/>
                <a:sym typeface="Noto Sans SC"/>
              </a:rPr>
              <a:t/>
            </a:r>
            <a:br>
              <a:rPr lang="en-US" b="false" i="false" strike="noStrike" u="none" sz="1400">
                <a:solidFill>
                  <a:srgbClr val="333333"/>
                </a:solidFill>
                <a:latin typeface="Noto Sans SC"/>
                <a:ea typeface="Noto Sans SC"/>
                <a:cs typeface="Noto Sans SC"/>
                <a:sym typeface="Noto Sans SC"/>
              </a:rPr>
            </a:br>
            <a:r>
              <a:rPr lang="en-US" b="false" i="false" strike="noStrike" u="none" sz="1300">
                <a:solidFill>
                  <a:srgbClr val="525252"/>
                </a:solidFill>
                <a:latin typeface="Noto Sans SC"/>
                <a:ea typeface="Noto Sans SC"/>
                <a:cs typeface="Noto Sans SC"/>
                <a:sym typeface="Noto Sans SC"/>
              </a:rPr>
              <a:t>Harness acts as the 'OS' for AI Agents, unifying capabilities, tools, state, and orchestration into a single runtime. It solves the core gap from 'Demo' to 'Production', ensuring stable, reliable, and cost-controlled operation.</a:t>
            </a:r>
            <a:endParaRPr lang="en-US" sz="1100"/>
          </a:p>
        </p:txBody>
      </p:sp>
      <p:cxnSp>
        <p:nvCxnSpPr>
          <p:cNvPr name="Connector 5" id="5"/>
          <p:cNvCxnSpPr/>
          <p:nvPr/>
        </p:nvCxnSpPr>
        <p:spPr>
          <a:xfrm rot="-4092" flipH="false" flipV="false">
            <a:off x="762004" y="3422650"/>
            <a:ext cx="10668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6" id="6"/>
          <p:cNvSpPr/>
          <p:nvPr/>
        </p:nvSpPr>
        <p:spPr>
          <a:xfrm rot="0" flipH="false" flipV="false">
            <a:off x="762000" y="3683000"/>
            <a:ext cx="3302000" cy="1651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873500"/>
            <a:ext cx="304800" cy="304800"/>
          </a:xfrm>
          <a:prstGeom prst="rect">
            <a:avLst/>
          </a:prstGeom>
        </p:spPr>
      </p:pic>
      <p:sp>
        <p:nvSpPr>
          <p:cNvPr name="AutoShape 8" id="8"/>
          <p:cNvSpPr/>
          <p:nvPr/>
        </p:nvSpPr>
        <p:spPr>
          <a:xfrm rot="0" flipH="false" flipV="false">
            <a:off x="1333500" y="38481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System Design: Orchestrator as the Brain</a:t>
            </a:r>
            <a:endParaRPr lang="en-US" sz="1100"/>
          </a:p>
        </p:txBody>
      </p:sp>
      <p:cxnSp>
        <p:nvCxnSpPr>
          <p:cNvPr name="Connector 9" id="9"/>
          <p:cNvCxnSpPr/>
          <p:nvPr/>
        </p:nvCxnSpPr>
        <p:spPr>
          <a:xfrm rot="-14946" flipH="false" flipV="false">
            <a:off x="952514" y="43116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0" id="10"/>
          <p:cNvSpPr/>
          <p:nvPr/>
        </p:nvSpPr>
        <p:spPr>
          <a:xfrm rot="0" flipH="false" flipV="false">
            <a:off x="952500" y="4445000"/>
            <a:ext cx="292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Centralized control of AI behavior and workflow, moving beyond probabilistic outputs to deterministic execution.</a:t>
            </a:r>
            <a:endParaRPr lang="en-US" sz="1100"/>
          </a:p>
        </p:txBody>
      </p:sp>
      <p:sp>
        <p:nvSpPr>
          <p:cNvPr name="AutoShape 11" id="11"/>
          <p:cNvSpPr/>
          <p:nvPr/>
        </p:nvSpPr>
        <p:spPr>
          <a:xfrm rot="0" flipH="false" flipV="false">
            <a:off x="4445000" y="3683000"/>
            <a:ext cx="3302000" cy="1651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873500"/>
            <a:ext cx="304800" cy="304800"/>
          </a:xfrm>
          <a:prstGeom prst="rect">
            <a:avLst/>
          </a:prstGeom>
        </p:spPr>
      </p:pic>
      <p:sp>
        <p:nvSpPr>
          <p:cNvPr name="AutoShape 13" id="13"/>
          <p:cNvSpPr/>
          <p:nvPr/>
        </p:nvSpPr>
        <p:spPr>
          <a:xfrm rot="0" flipH="false" flipV="false">
            <a:off x="5016500" y="38481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333333"/>
                </a:solidFill>
                <a:latin typeface="Noto Sans SC"/>
                <a:ea typeface="Noto Sans SC"/>
                <a:cs typeface="Noto Sans SC"/>
                <a:sym typeface="Noto Sans SC"/>
              </a:rPr>
              <a:t>Constraints &amp; Validation: Enforce Hard Limits</a:t>
            </a:r>
            <a:endParaRPr lang="en-US" sz="1100"/>
          </a:p>
        </p:txBody>
      </p:sp>
      <p:cxnSp>
        <p:nvCxnSpPr>
          <p:cNvPr name="Connector 14" id="14"/>
          <p:cNvCxnSpPr/>
          <p:nvPr/>
        </p:nvCxnSpPr>
        <p:spPr>
          <a:xfrm rot="-14946" flipH="false" flipV="false">
            <a:off x="4635514" y="43116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5" id="15"/>
          <p:cNvSpPr/>
          <p:nvPr/>
        </p:nvSpPr>
        <p:spPr>
          <a:xfrm rot="0" flipH="false" flipV="false">
            <a:off x="4635500" y="4445000"/>
            <a:ext cx="292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Enforce hard constraints via code and automated validation to ensure safety, reliability, and cost control.</a:t>
            </a:r>
            <a:endParaRPr lang="en-US" sz="1100"/>
          </a:p>
        </p:txBody>
      </p:sp>
      <p:sp>
        <p:nvSpPr>
          <p:cNvPr name="AutoShape 16" id="16"/>
          <p:cNvSpPr/>
          <p:nvPr/>
        </p:nvSpPr>
        <p:spPr>
          <a:xfrm rot="0" flipH="false" flipV="false">
            <a:off x="8128000" y="3683000"/>
            <a:ext cx="3302000" cy="1651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873500"/>
            <a:ext cx="304800" cy="304800"/>
          </a:xfrm>
          <a:prstGeom prst="rect">
            <a:avLst/>
          </a:prstGeom>
        </p:spPr>
      </p:pic>
      <p:sp>
        <p:nvSpPr>
          <p:cNvPr name="AutoShape 18" id="18"/>
          <p:cNvSpPr/>
          <p:nvPr/>
        </p:nvSpPr>
        <p:spPr>
          <a:xfrm rot="0" flipH="false" flipV="false">
            <a:off x="8699500" y="38481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100">
                <a:solidFill>
                  <a:srgbClr val="333333"/>
                </a:solidFill>
                <a:latin typeface="Noto Sans SC"/>
                <a:ea typeface="Noto Sans SC"/>
                <a:cs typeface="Noto Sans SC"/>
                <a:sym typeface="Noto Sans SC"/>
              </a:rPr>
              <a:t>Full Lifecycle Management: From Creation to Termination</a:t>
            </a:r>
            <a:endParaRPr lang="en-US" sz="1100"/>
          </a:p>
        </p:txBody>
      </p:sp>
      <p:cxnSp>
        <p:nvCxnSpPr>
          <p:cNvPr name="Connector 19" id="19"/>
          <p:cNvCxnSpPr/>
          <p:nvPr/>
        </p:nvCxnSpPr>
        <p:spPr>
          <a:xfrm rot="-14946" flipH="false" flipV="false">
            <a:off x="8318514" y="43116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0" id="20"/>
          <p:cNvSpPr/>
          <p:nvPr/>
        </p:nvSpPr>
        <p:spPr>
          <a:xfrm rot="0" flipH="false" flipV="false">
            <a:off x="8318500" y="4445000"/>
            <a:ext cx="292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End-to-end management of AI Agents, covering task reception, planning, execution, and result output.</a:t>
            </a:r>
            <a:endParaRPr lang="en-US" sz="1100"/>
          </a:p>
        </p:txBody>
      </p:sp>
      <p:sp>
        <p:nvSpPr>
          <p:cNvPr name="AutoShape 21" id="21"/>
          <p:cNvSpPr/>
          <p:nvPr/>
        </p:nvSpPr>
        <p:spPr>
          <a:xfrm rot="0" flipH="false" flipV="false">
            <a:off x="762000" y="5588000"/>
            <a:ext cx="10668000" cy="889000"/>
          </a:xfrm>
          <a:prstGeom prst="roundRect">
            <a:avLst>
              <a:gd name="adj" fmla="val 0"/>
            </a:avLst>
          </a:prstGeom>
          <a:solidFill>
            <a:srgbClr val="E60012">
              <a:alpha val="6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889000" y="5651500"/>
            <a:ext cx="1041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E60012"/>
                </a:solidFill>
                <a:latin typeface="Noto Sans SC"/>
                <a:ea typeface="Noto Sans SC"/>
                <a:cs typeface="Noto Sans SC"/>
                <a:sym typeface="Noto Sans SC"/>
              </a:rPr>
              <a:t>Core Principle: Separation of Decision Rights</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100">
                <a:solidFill>
                  <a:srgbClr val="333333"/>
                </a:solidFill>
                <a:latin typeface="Noto Sans SC"/>
                <a:ea typeface="Noto Sans SC"/>
                <a:cs typeface="Noto Sans SC"/>
                <a:sym typeface="Noto Sans SC"/>
              </a:rPr>
              <a:t>Agents handle local, creative work (e.g., proposing plans). The Harness handles global, deterministic control (e.g., task lifecycle, execution arbitration, failure handling).</a:t>
            </a:r>
            <a:r>
              <a:rPr lang="en-US" b="true" i="false" strike="noStrike" u="none" sz="1100">
                <a:solidFill>
                  <a:srgbClr val="333333"/>
                </a:solidFill>
                <a:latin typeface="Noto Sans SC"/>
                <a:ea typeface="Noto Sans SC"/>
                <a:cs typeface="Noto Sans SC"/>
                <a:sym typeface="Noto Sans SC"/>
              </a:rPr>
              <a:t>Don't let the Agent drive the car; let it be the navigator.</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Three Generations of Evolution: From Instruction to Environment</a:t>
            </a:r>
            <a:endParaRPr lang="en-US" sz="1100"/>
          </a:p>
        </p:txBody>
      </p:sp>
      <p:cxnSp>
        <p:nvCxnSpPr>
          <p:cNvPr name="Connector 4" id="4"/>
          <p:cNvCxnSpPr/>
          <p:nvPr/>
        </p:nvCxnSpPr>
        <p:spPr>
          <a:xfrm rot="-4092" flipH="false" flipV="false">
            <a:off x="762004" y="1517650"/>
            <a:ext cx="1066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5" id="5"/>
          <p:cNvSpPr/>
          <p:nvPr/>
        </p:nvSpPr>
        <p:spPr>
          <a:xfrm rot="0" flipH="false" flipV="false">
            <a:off x="7620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3505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01 Prompt Engineering</a:t>
            </a:r>
            <a:endParaRPr lang="en-US" sz="1100"/>
          </a:p>
        </p:txBody>
      </p:sp>
      <p:cxnSp>
        <p:nvCxnSpPr>
          <p:cNvPr name="Connector 8" id="8"/>
          <p:cNvCxnSpPr/>
          <p:nvPr/>
        </p:nvCxnSpPr>
        <p:spPr>
          <a:xfrm rot="-13428" flipH="false" flipV="false">
            <a:off x="8890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9" id="9"/>
          <p:cNvSpPr/>
          <p:nvPr/>
        </p:nvSpPr>
        <p:spPr>
          <a:xfrm rot="0" flipH="false" flipV="false">
            <a:off x="8890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express instructions clearly? Optimize single-turn interaction quality.</a:t>
            </a:r>
            <a:endParaRPr lang="en-US" sz="1100"/>
          </a:p>
        </p:txBody>
      </p:sp>
      <p:cxnSp>
        <p:nvCxnSpPr>
          <p:cNvPr name="Connector 10" id="10"/>
          <p:cNvCxnSpPr/>
          <p:nvPr/>
        </p:nvCxnSpPr>
        <p:spPr>
          <a:xfrm rot="-13428" flipH="false" flipV="false">
            <a:off x="8890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1" id="11"/>
          <p:cNvSpPr/>
          <p:nvPr/>
        </p:nvSpPr>
        <p:spPr>
          <a:xfrm rot="0" flipH="false" flipV="false">
            <a:off x="8890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language. Risks include hallucinations. Engineers act as prompt writers.</a:t>
            </a:r>
            <a:endParaRPr lang="en-US" sz="1100"/>
          </a:p>
        </p:txBody>
      </p:sp>
      <p:sp>
        <p:nvSpPr>
          <p:cNvPr name="AutoShape 12" id="12"/>
          <p:cNvSpPr/>
          <p:nvPr/>
        </p:nvSpPr>
        <p:spPr>
          <a:xfrm rot="0" flipH="false" flipV="false">
            <a:off x="8890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9525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answer more intelligently."</a:t>
            </a:r>
            <a:endParaRPr lang="en-US" sz="1100"/>
          </a:p>
        </p:txBody>
      </p:sp>
      <p:sp>
        <p:nvSpPr>
          <p:cNvPr name="AutoShape 14" id="14"/>
          <p:cNvSpPr/>
          <p:nvPr/>
        </p:nvSpPr>
        <p:spPr>
          <a:xfrm rot="0" flipH="false" flipV="false">
            <a:off x="44704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70400" y="1905000"/>
            <a:ext cx="3505200" cy="762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974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02 Context Engineering</a:t>
            </a:r>
            <a:endParaRPr lang="en-US" sz="1100"/>
          </a:p>
        </p:txBody>
      </p:sp>
      <p:cxnSp>
        <p:nvCxnSpPr>
          <p:cNvPr name="Connector 17" id="17"/>
          <p:cNvCxnSpPr/>
          <p:nvPr/>
        </p:nvCxnSpPr>
        <p:spPr>
          <a:xfrm rot="-13428" flipH="false" flipV="false">
            <a:off x="45974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8" id="18"/>
          <p:cNvSpPr/>
          <p:nvPr/>
        </p:nvSpPr>
        <p:spPr>
          <a:xfrm rot="0" flipH="false" flipV="false">
            <a:off x="45974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provide sufficient information? Optimize context window management.</a:t>
            </a:r>
            <a:endParaRPr lang="en-US" sz="1100"/>
          </a:p>
        </p:txBody>
      </p:sp>
      <p:cxnSp>
        <p:nvCxnSpPr>
          <p:cNvPr name="Connector 19" id="19"/>
          <p:cNvCxnSpPr/>
          <p:nvPr/>
        </p:nvCxnSpPr>
        <p:spPr>
          <a:xfrm rot="-13428" flipH="false" flipV="false">
            <a:off x="45974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0" id="20"/>
          <p:cNvSpPr/>
          <p:nvPr/>
        </p:nvSpPr>
        <p:spPr>
          <a:xfrm rot="0" flipH="false" flipV="false">
            <a:off x="45974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information guidance. Risks include incomplete information, context pollution. Engineers act as information pipeline designers.</a:t>
            </a:r>
            <a:endParaRPr lang="en-US" sz="1100"/>
          </a:p>
        </p:txBody>
      </p:sp>
      <p:sp>
        <p:nvSpPr>
          <p:cNvPr name="AutoShape 21" id="21"/>
          <p:cNvSpPr/>
          <p:nvPr/>
        </p:nvSpPr>
        <p:spPr>
          <a:xfrm rot="0" flipH="false" flipV="false">
            <a:off x="45974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6609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know more."</a:t>
            </a:r>
            <a:endParaRPr lang="en-US" sz="1100"/>
          </a:p>
        </p:txBody>
      </p:sp>
      <p:sp>
        <p:nvSpPr>
          <p:cNvPr name="AutoShape 23" id="23"/>
          <p:cNvSpPr/>
          <p:nvPr/>
        </p:nvSpPr>
        <p:spPr>
          <a:xfrm rot="0" flipH="false" flipV="false">
            <a:off x="80518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51800" y="1905000"/>
            <a:ext cx="3505200" cy="762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788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03 Harness Engineering</a:t>
            </a:r>
            <a:endParaRPr lang="en-US" sz="1100"/>
          </a:p>
        </p:txBody>
      </p:sp>
      <p:cxnSp>
        <p:nvCxnSpPr>
          <p:cNvPr name="Connector 26" id="26"/>
          <p:cNvCxnSpPr/>
          <p:nvPr/>
        </p:nvCxnSpPr>
        <p:spPr>
          <a:xfrm rot="-13428" flipH="false" flipV="false">
            <a:off x="81788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7" id="27"/>
          <p:cNvSpPr/>
          <p:nvPr/>
        </p:nvSpPr>
        <p:spPr>
          <a:xfrm rot="0" flipH="false" flipV="false">
            <a:off x="81788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stabilize behavior and ensure reliability? Manage the full lifecycle of Agent tasks. Software engineering &amp; DevOps.</a:t>
            </a:r>
            <a:endParaRPr lang="en-US" sz="1100"/>
          </a:p>
        </p:txBody>
      </p:sp>
      <p:cxnSp>
        <p:nvCxnSpPr>
          <p:cNvPr name="Connector 28" id="28"/>
          <p:cNvCxnSpPr/>
          <p:nvPr/>
        </p:nvCxnSpPr>
        <p:spPr>
          <a:xfrm rot="-13428" flipH="false" flipV="false">
            <a:off x="81788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9" id="29"/>
          <p:cNvSpPr/>
          <p:nvPr/>
        </p:nvSpPr>
        <p:spPr>
          <a:xfrm rot="0" flipH="false" flipV="false">
            <a:off x="81788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Hard constraints enforced by code. Risks include system crashes, security vulnerabilities, and cost overruns. Engineers act as control system architects.</a:t>
            </a:r>
            <a:endParaRPr lang="en-US" sz="1100"/>
          </a:p>
        </p:txBody>
      </p:sp>
      <p:sp>
        <p:nvSpPr>
          <p:cNvPr name="AutoShape 30" id="30"/>
          <p:cNvSpPr/>
          <p:nvPr/>
        </p:nvSpPr>
        <p:spPr>
          <a:xfrm rot="0" flipH="false" flipV="false">
            <a:off x="81788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82423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work more reliably."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508500" y="1524000"/>
            <a:ext cx="3175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02</a:t>
            </a:r>
            <a:endParaRPr lang="en-US" sz="1100"/>
          </a:p>
        </p:txBody>
      </p:sp>
      <p:sp>
        <p:nvSpPr>
          <p:cNvPr name="AutoShape 3" id="3"/>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333333"/>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546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842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400">
                <a:solidFill>
                  <a:srgbClr val="666666"/>
                </a:solidFill>
                <a:latin typeface="Poppins"/>
                <a:ea typeface="Poppins"/>
                <a:cs typeface="Poppins"/>
                <a:sym typeface="Poppins"/>
              </a:rPr>
              <a:t>Focusing on the core architecture and six key components, using an engineering mindset to build the foundation for highly available, scalable, and monitorable AI Agent systems.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1C2A3F"/>
                </a:solidFill>
                <a:latin typeface="Noto Sans SC"/>
                <a:ea typeface="Noto Sans SC"/>
                <a:cs typeface="Noto Sans SC"/>
                <a:sym typeface="Noto Sans SC"/>
              </a:rPr>
              <a:t>Harness Overall Architecture</a:t>
            </a:r>
            <a:endParaRPr lang="en-US" sz="1100"/>
          </a:p>
        </p:txBody>
      </p:sp>
      <p:sp>
        <p:nvSpPr>
          <p:cNvPr name="AutoShape 3" id="3"/>
          <p:cNvSpPr/>
          <p:nvPr/>
        </p:nvSpPr>
        <p:spPr>
          <a:xfrm rot="0" flipH="false" flipV="false">
            <a:off x="4445000" y="1778000"/>
            <a:ext cx="3302000" cy="1270000"/>
          </a:xfrm>
          <a:prstGeom prst="roundRect">
            <a:avLst>
              <a:gd name="adj" fmla="val 10000"/>
            </a:avLst>
          </a:prstGeom>
          <a:solidFill>
            <a:srgbClr val="1E40AF">
              <a:alpha val="100000"/>
            </a:srgbClr>
          </a:solidFill>
          <a:ln w="12700" cmpd="sng" cap="flat">
            <a:solidFill>
              <a:srgbClr val="BFDBFE">
                <a:alpha val="100000"/>
              </a:srgbClr>
            </a:solidFill>
            <a:prstDash val="solid"/>
            <a:round/>
          </a:ln>
        </p:spPr>
        <p:txBody>
          <a:bodyPr anchor="ctr" rtlCol="false" anchorCtr="false" vert="horz" wrap="square" lIns="101600" rIns="101600" tIns="101600" bIns="101600"/>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Orchestrator (编排器)</a:t>
            </a:r>
            <a:r>
              <a:rPr lang="en-US" b="false" i="false" strike="noStrike" u="none" sz="1300">
                <a:solidFill>
                  <a:srgbClr val="FFFFFF"/>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000">
                <a:solidFill>
                  <a:srgbClr val="E5E7EB"/>
                </a:solidFill>
                <a:latin typeface="Noto Sans SC"/>
                <a:ea typeface="Noto Sans SC"/>
                <a:cs typeface="Noto Sans SC"/>
                <a:sym typeface="Noto Sans SC"/>
              </a:rPr>
              <a:t>The brain, responsible for task reception, plan parsing, agent scheduling, and lifecycle management.</a:t>
            </a:r>
          </a:p>
        </p:txBody>
      </p:sp>
      <p:sp>
        <p:nvSpPr>
          <p:cNvPr name="AutoShape 4" id="4"/>
          <p:cNvSpPr/>
          <p:nvPr/>
        </p:nvSpPr>
        <p:spPr>
          <a:xfrm rot="0" flipH="false" flipV="false">
            <a:off x="1016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Tool Registry</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Unified entry and security boundary for all tools, managing permissions and audits.</a:t>
            </a:r>
          </a:p>
        </p:txBody>
      </p:sp>
      <p:sp>
        <p:nvSpPr>
          <p:cNvPr name="AutoShape 5" id="5"/>
          <p:cNvSpPr/>
          <p:nvPr/>
        </p:nvSpPr>
        <p:spPr>
          <a:xfrm rot="0" flipH="false" flipV="false">
            <a:off x="8128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State &amp; Memory System</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Manages short-term runtime state and long-term reusable memory.</a:t>
            </a:r>
          </a:p>
        </p:txBody>
      </p:sp>
      <p:sp>
        <p:nvSpPr>
          <p:cNvPr name="AutoShape 6" id="6"/>
          <p:cNvSpPr/>
          <p:nvPr/>
        </p:nvSpPr>
        <p:spPr>
          <a:xfrm rot="0" flipH="false" flipV="false">
            <a:off x="1016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Cost Control Module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Monitors token consumption in real-time and enforces budget management.</a:t>
            </a:r>
          </a:p>
        </p:txBody>
      </p:sp>
      <p:sp>
        <p:nvSpPr>
          <p:cNvPr name="AutoShape 7" id="7"/>
          <p:cNvSpPr/>
          <p:nvPr/>
        </p:nvSpPr>
        <p:spPr>
          <a:xfrm rot="0" flipH="false" flipV="false">
            <a:off x="8128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Observability &amp; Tracing</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Collects logs, metrics, and traces for debugging and auditing.</a:t>
            </a:r>
          </a:p>
        </p:txBody>
      </p:sp>
      <p:sp>
        <p:nvSpPr>
          <p:cNvPr name="AutoShape 8" id="8"/>
          <p:cNvSpPr/>
          <p:nvPr/>
        </p:nvSpPr>
        <p:spPr>
          <a:xfrm rot="0" flipH="false" flipV="false">
            <a:off x="4445000" y="4572000"/>
            <a:ext cx="3302000" cy="762000"/>
          </a:xfrm>
          <a:prstGeom prst="roundRect">
            <a:avLst>
              <a:gd name="adj" fmla="val 13333"/>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50800" bIns="50800"/>
          <a:lstStyle/>
          <a:p>
            <a:pPr algn="ctr" marL="0" indent="0">
              <a:lnSpc>
                <a:spcPct val="100000"/>
              </a:lnSpc>
              <a:defRPr/>
            </a:pPr>
            <a:r>
              <a:rPr lang="en-US" b="true" i="false" strike="noStrike" u="none" sz="1200">
                <a:solidFill>
                  <a:srgbClr val="1E40AF"/>
                </a:solidFill>
                <a:latin typeface="Noto Sans SC"/>
                <a:ea typeface="Noto Sans SC"/>
                <a:cs typeface="Noto Sans SC"/>
                <a:sym typeface="Noto Sans SC"/>
              </a:rPr>
              <a:t>Evaluation Pipeline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Automatically evaluates the execution trajectory and final results.</a:t>
            </a:r>
          </a:p>
        </p:txBody>
      </p:sp>
      <p:cxnSp>
        <p:nvCxnSpPr>
          <p:cNvPr name="Connector 9" id="9"/>
          <p:cNvCxnSpPr/>
          <p:nvPr/>
        </p:nvCxnSpPr>
        <p:spPr>
          <a:xfrm rot="-114549" flipH="false" flipV="false">
            <a:off x="4064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0" id="10"/>
          <p:cNvCxnSpPr/>
          <p:nvPr/>
        </p:nvCxnSpPr>
        <p:spPr>
          <a:xfrm rot="-114549" flipH="false" flipV="false">
            <a:off x="7747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1" id="11"/>
          <p:cNvCxnSpPr/>
          <p:nvPr/>
        </p:nvCxnSpPr>
        <p:spPr>
          <a:xfrm rot="-114549" flipH="false" flipV="false">
            <a:off x="4064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2" id="12"/>
          <p:cNvCxnSpPr/>
          <p:nvPr/>
        </p:nvCxnSpPr>
        <p:spPr>
          <a:xfrm rot="-114549" flipH="false" flipV="false">
            <a:off x="7747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3" id="13"/>
          <p:cNvCxnSpPr/>
          <p:nvPr/>
        </p:nvCxnSpPr>
        <p:spPr>
          <a:xfrm rot="5365623" flipH="false" flipV="false">
            <a:off x="5461000" y="3930682"/>
            <a:ext cx="1270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sp>
        <p:nvSpPr>
          <p:cNvPr name="AutoShape 14" id="14"/>
          <p:cNvSpPr/>
          <p:nvPr/>
        </p:nvSpPr>
        <p:spPr>
          <a:xfrm rot="0" flipH="false" flipV="false">
            <a:off x="762000" y="5588000"/>
            <a:ext cx="10668000" cy="889000"/>
          </a:xfrm>
          <a:prstGeom prst="roundRect">
            <a:avLst>
              <a:gd name="adj" fmla="val 8571"/>
            </a:avLst>
          </a:prstGeom>
          <a:solidFill>
            <a:srgbClr val="F9FAFB">
              <a:alpha val="100000"/>
            </a:srgbClr>
          </a:solidFill>
          <a:ln w="12700" cmpd="sng" cap="flat">
            <a:solidFill>
              <a:srgbClr val="E5E7EB">
                <a:alpha val="100000"/>
              </a:srgbClr>
            </a:solidFill>
            <a:prstDash val="solid"/>
            <a:round/>
          </a:ln>
        </p:spPr>
        <p:txBody>
          <a:bodyPr anchor="ctr" rtlCol="false" anchorCtr="false" vert="horz" wrap="square" lIns="190500" rIns="190500" tIns="101600" bIns="101600"/>
          <a:lstStyle/>
          <a:p>
            <a:pPr algn="ctr" marL="0" indent="0">
              <a:lnSpc>
                <a:spcPct val="108333"/>
              </a:lnSpc>
              <a:defRPr/>
            </a:pPr>
            <a:r>
              <a:rPr lang="en-US" b="true" i="false" strike="noStrike" u="none" sz="1300">
                <a:solidFill>
                  <a:srgbClr val="1E40AF"/>
                </a:solidFill>
                <a:latin typeface="Noto Sans SC"/>
                <a:ea typeface="Noto Sans SC"/>
                <a:cs typeface="Noto Sans SC"/>
                <a:sym typeface="Noto Sans SC"/>
              </a:rPr>
              <a:t>Task Execution Flow:</a:t>
            </a:r>
            <a:r>
              <a:rPr lang="en-US" b="false" i="false" strike="noStrike" u="none" sz="1100">
                <a:solidFill>
                  <a:srgbClr val="374151"/>
                </a:solidFill>
                <a:latin typeface="Noto Sans SC"/>
                <a:ea typeface="Noto Sans SC"/>
                <a:cs typeface="Noto Sans SC"/>
                <a:sym typeface="Noto Sans SC"/>
              </a:rPr>
              <a:t>1. Task Reception → 2. Plan Generation (by Planner Agent) → 3. Plan Adjudication (by Orchestrator) → 4. Agent &amp; Tool Routing → 5. Execution with State/Memory interaction → 6. Result Synthesis &amp; Review → 7. Task Completion &amp; Logging.</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The Six Core Components of Harness</a:t>
            </a:r>
            <a:endParaRPr lang="en-US" sz="1100"/>
          </a:p>
        </p:txBody>
      </p:sp>
      <p:sp>
        <p:nvSpPr>
          <p:cNvPr name="AutoShape 4" id="4"/>
          <p:cNvSpPr/>
          <p:nvPr/>
        </p:nvSpPr>
        <p:spPr>
          <a:xfrm rot="0" flipH="false" flipV="false">
            <a:off x="762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01. Context Architecture: Carefully control and manage the information fed to the AI model.</a:t>
            </a:r>
            <a:endParaRPr lang="en-US" sz="1100"/>
          </a:p>
        </p:txBody>
      </p:sp>
      <p:sp>
        <p:nvSpPr>
          <p:cNvPr name="AutoShape 7" id="7"/>
          <p:cNvSpPr/>
          <p:nvPr/>
        </p:nvSpPr>
        <p:spPr>
          <a:xfrm rot="0" flipH="false" flipV="false">
            <a:off x="762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02. Tools &amp; Permissions: Manage external tools and permissions for the AI Agent.</a:t>
            </a:r>
            <a:endParaRPr lang="en-US" sz="1100"/>
          </a:p>
        </p:txBody>
      </p:sp>
      <p:sp>
        <p:nvSpPr>
          <p:cNvPr name="AutoShape 10" id="10"/>
          <p:cNvSpPr/>
          <p:nvPr/>
        </p:nvSpPr>
        <p:spPr>
          <a:xfrm rot="0" flipH="false" flipV="false">
            <a:off x="762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03. Validation &amp; Guardrails: Set up automated checkpoints to ensure behavior meets expectations.</a:t>
            </a:r>
            <a:endParaRPr lang="en-US" sz="1100"/>
          </a:p>
        </p:txBody>
      </p:sp>
      <p:sp>
        <p:nvSpPr>
          <p:cNvPr name="AutoShape 13" id="13"/>
          <p:cNvSpPr/>
          <p:nvPr/>
        </p:nvSpPr>
        <p:spPr>
          <a:xfrm rot="0" flipH="false" flipV="false">
            <a:off x="6223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04. Memory &amp; State: Provide a persistent memory system for the AI model.</a:t>
            </a:r>
            <a:endParaRPr lang="en-US" sz="1100"/>
          </a:p>
        </p:txBody>
      </p:sp>
      <p:sp>
        <p:nvSpPr>
          <p:cNvPr name="AutoShape 16" id="16"/>
          <p:cNvSpPr/>
          <p:nvPr/>
        </p:nvSpPr>
        <p:spPr>
          <a:xfrm rot="0" flipH="false" flipV="false">
            <a:off x="6223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05. Observability &amp; Feedback: Establish a monitoring, logging, and evaluation system.</a:t>
            </a:r>
            <a:endParaRPr lang="en-US" sz="1100"/>
          </a:p>
        </p:txBody>
      </p:sp>
      <p:sp>
        <p:nvSpPr>
          <p:cNvPr name="AutoShape 19" id="19"/>
          <p:cNvSpPr/>
          <p:nvPr/>
        </p:nvSpPr>
        <p:spPr>
          <a:xfrm rot="0" flipH="false" flipV="false">
            <a:off x="6223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06. Human-in-the-loop: Set up human review or takeover nodes as the final line of defense.</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Component 1: Orchestration (Architecture &amp; Orchestration)</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526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200">
                <a:solidFill>
                  <a:srgbClr val="525252"/>
                </a:solidFill>
                <a:latin typeface="Noto Sans SC"/>
                <a:ea typeface="Noto Sans SC"/>
                <a:cs typeface="Noto Sans SC"/>
                <a:sym typeface="Noto Sans SC"/>
              </a:rPr>
              <a:t>Ensure the system executes tasks reliably according to predefined rules, preventing the "freewheeling" nature of Agents from causing chaos.</a:t>
            </a:r>
            <a:endParaRPr lang="en-US" sz="1100"/>
          </a:p>
        </p:txBody>
      </p:sp>
      <p:sp>
        <p:nvSpPr>
          <p:cNvPr name="AutoShape 7" id="7"/>
          <p:cNvSpPr/>
          <p:nvPr/>
        </p:nvSpPr>
        <p:spPr>
          <a:xfrm rot="0" flipH="false" flipV="false">
            <a:off x="762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Core Goal</a:t>
            </a:r>
            <a:endParaRPr lang="en-US" sz="1100"/>
          </a:p>
        </p:txBody>
      </p:sp>
      <p:cxnSp>
        <p:nvCxnSpPr>
          <p:cNvPr name="Connector 9" id="9"/>
          <p:cNvCxnSpPr/>
          <p:nvPr/>
        </p:nvCxnSpPr>
        <p:spPr>
          <a:xfrm rot="-9046" flipH="false" flipV="false">
            <a:off x="952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0" id="10"/>
          <p:cNvSpPr/>
          <p:nvPr/>
        </p:nvSpPr>
        <p:spPr>
          <a:xfrm rot="0" flipH="false" flipV="false">
            <a:off x="6350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Core Practices</a:t>
            </a:r>
            <a:endParaRPr lang="en-US" sz="1100"/>
          </a:p>
        </p:txBody>
      </p:sp>
      <p:cxnSp>
        <p:nvCxnSpPr>
          <p:cNvPr name="Connector 12" id="12"/>
          <p:cNvCxnSpPr/>
          <p:nvPr/>
        </p:nvCxnSpPr>
        <p:spPr>
          <a:xfrm rot="-9046" flipH="false" flipV="false">
            <a:off x="6540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3" id="13"/>
          <p:cNvSpPr/>
          <p:nvPr/>
        </p:nvSpPr>
        <p:spPr>
          <a:xfrm rot="0" flipH="false" flipV="false">
            <a:off x="952500" y="4000500"/>
            <a:ext cx="4826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25252"/>
                </a:solidFill>
                <a:latin typeface="Noto Sans SC"/>
                <a:ea typeface="Noto Sans SC"/>
                <a:cs typeface="Noto Sans SC"/>
                <a:sym typeface="Noto Sans SC"/>
              </a:rPr>
              <a:t>Ensure the system executes tasks reliably according to predefined rules, preventing the "freewheeling" nature of Agents from causing chaos by maintaining strict control over execution flow and decision-making boundaries.</a:t>
            </a:r>
            <a:endParaRPr lang="en-US" sz="1100"/>
          </a:p>
        </p:txBody>
      </p:sp>
      <p:sp>
        <p:nvSpPr>
          <p:cNvPr name="AutoShape 14" id="14"/>
          <p:cNvSpPr/>
          <p:nvPr/>
        </p:nvSpPr>
        <p:spPr>
          <a:xfrm rot="0" flipH="false" flipV="false">
            <a:off x="6540500" y="4000500"/>
            <a:ext cx="4826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33333"/>
                </a:solidFill>
                <a:latin typeface="Noto Sans SC"/>
                <a:ea typeface="Noto Sans SC"/>
                <a:cs typeface="Noto Sans SC"/>
                <a:sym typeface="Noto Sans SC"/>
              </a:rPr>
              <a:t>Exclusive Control of Five Key Decisions:</a:t>
            </a:r>
            <a:r>
              <a:rPr lang="en-US" b="false" i="false" strike="noStrike" u="none" sz="1100">
                <a:solidFill>
                  <a:srgbClr val="1F2329"/>
                </a:solidFill>
                <a:latin typeface="Noto Sans SC"/>
                <a:ea typeface="Noto Sans SC"/>
                <a:cs typeface="Noto Sans SC"/>
                <a:sym typeface="Noto Sans SC"/>
              </a:rPr>
              <a:t/>
            </a:r>
            <a:endParaRPr lang="en-US" sz="1100"/>
          </a:p>
          <a:p>
            <a:pPr algn="l" marL="127000" indent="0">
              <a:lnSpc>
                <a:spcPct val="116666"/>
              </a:lnSpc>
            </a:pPr>
            <a:r>
              <a:rPr lang="en-US" b="false" i="false" strike="noStrike" u="none" sz="1100">
                <a:solidFill>
                  <a:srgbClr val="1F2329"/>
                </a:solidFill>
                <a:latin typeface="Noto Sans SC"/>
                <a:ea typeface="Noto Sans SC"/>
                <a:cs typeface="Noto Sans SC"/>
                <a:sym typeface="Noto Sans SC"/>
              </a:rPr>
              <a:t>1. Task Lifecycle Management: Define a clear state machine for tasks.</a:t>
            </a:r>
          </a:p>
          <a:p>
            <a:pPr algn="l" marL="127000" indent="0">
              <a:lnSpc>
                <a:spcPct val="116666"/>
              </a:lnSpc>
            </a:pPr>
            <a:r>
              <a:rPr lang="en-US" b="false" i="false" strike="noStrike" u="none" sz="1100">
                <a:solidFill>
                  <a:srgbClr val="1F2329"/>
                </a:solidFill>
                <a:latin typeface="Noto Sans SC"/>
                <a:ea typeface="Noto Sans SC"/>
                <a:cs typeface="Noto Sans SC"/>
                <a:sym typeface="Noto Sans SC"/>
              </a:rPr>
              <a:t>2. Execution Plan Adjudication: Review and optimize the Agent's plan.</a:t>
            </a:r>
          </a:p>
          <a:p>
            <a:pPr algn="l" marL="127000" indent="0">
              <a:lnSpc>
                <a:spcPct val="116666"/>
              </a:lnSpc>
            </a:pPr>
            <a:r>
              <a:rPr lang="en-US" b="false" i="false" strike="noStrike" u="none" sz="1100">
                <a:solidFill>
                  <a:srgbClr val="1F2329"/>
                </a:solidFill>
                <a:latin typeface="Noto Sans SC"/>
                <a:ea typeface="Noto Sans SC"/>
                <a:cs typeface="Noto Sans SC"/>
                <a:sym typeface="Noto Sans SC"/>
              </a:rPr>
              <a:t>3. Agent Routing: Assign tasks to the most suitable Agent.</a:t>
            </a:r>
          </a:p>
          <a:p>
            <a:pPr algn="l" marL="127000" indent="0">
              <a:lnSpc>
                <a:spcPct val="116666"/>
              </a:lnSpc>
            </a:pPr>
            <a:r>
              <a:rPr lang="en-US" b="false" i="false" strike="noStrike" u="none" sz="1100">
                <a:solidFill>
                  <a:srgbClr val="1F2329"/>
                </a:solidFill>
                <a:latin typeface="Noto Sans SC"/>
                <a:ea typeface="Noto Sans SC"/>
                <a:cs typeface="Noto Sans SC"/>
                <a:sym typeface="Noto Sans SC"/>
              </a:rPr>
              <a:t>4. Failure Handling: Decide retry, degrade, skip, or terminate strategies.</a:t>
            </a:r>
          </a:p>
          <a:p>
            <a:pPr algn="l" marL="127000" indent="0">
              <a:lnSpc>
                <a:spcPct val="116666"/>
              </a:lnSpc>
            </a:pPr>
            <a:r>
              <a:rPr lang="en-US" b="false" i="false" strike="noStrike" u="none" sz="1100">
                <a:solidFill>
                  <a:srgbClr val="1F2329"/>
                </a:solidFill>
                <a:latin typeface="Noto Sans SC"/>
                <a:ea typeface="Noto Sans SC"/>
                <a:cs typeface="Noto Sans SC"/>
                <a:sym typeface="Noto Sans SC"/>
              </a:rPr>
              <a:t>5. Hard Termination: Set hard limits (max_steps, max_tokens, max_duration).</a:t>
            </a:r>
          </a:p>
          <a:p>
            <a:pPr algn="l" marL="0" indent="0">
              <a:lnSpc>
                <a:spcPct val="116666"/>
              </a:lnSpc>
            </a:pPr>
            <a:r>
              <a:rPr lang="en-US" b="true" i="false" strike="noStrike" u="none" sz="1200">
                <a:solidFill>
                  <a:srgbClr val="333333"/>
                </a:solidFill>
                <a:latin typeface="Noto Sans SC"/>
                <a:ea typeface="Noto Sans SC"/>
                <a:cs typeface="Noto Sans SC"/>
                <a:sym typeface="Noto Sans SC"/>
              </a:rPr>
              <a:t>Enforce Declarative Plans:</a:t>
            </a:r>
            <a:r>
              <a:rPr lang="en-US" b="false" i="false" strike="noStrike" u="none" sz="1100">
                <a:solidFill>
                  <a:srgbClr val="1F2329"/>
                </a:solidFill>
                <a:latin typeface="Noto Sans SC"/>
                <a:ea typeface="Noto Sans SC"/>
                <a:cs typeface="Noto Sans SC"/>
                <a:sym typeface="Noto Sans SC"/>
              </a:rPr>
              <a:t>Require structured plans (e.g., JSON) instead of direct function calls for intervention before execution.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2: Tool Governance</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Treat tools as governed production resources to ensure security and compliance.</a:t>
            </a:r>
            <a:endParaRPr lang="en-US" sz="1100"/>
          </a:p>
        </p:txBody>
      </p:sp>
      <p:sp>
        <p:nvSpPr>
          <p:cNvPr name="AutoShape 7" id="7"/>
          <p:cNvSpPr/>
          <p:nvPr/>
        </p:nvSpPr>
        <p:spPr>
          <a:xfrm rot="0" flipH="false" flipV="false">
            <a:off x="762000" y="3048000"/>
            <a:ext cx="10668000" cy="3810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175000"/>
            <a:ext cx="10287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E60012"/>
                </a:solidFill>
                <a:latin typeface="Noto Sans SC"/>
                <a:ea typeface="Noto Sans SC"/>
                <a:cs typeface="Noto Sans SC"/>
                <a:sym typeface="Noto Sans SC"/>
              </a:rPr>
              <a:t>Core Practices</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33333"/>
                </a:solidFill>
                <a:latin typeface="Noto Sans SC"/>
                <a:ea typeface="Noto Sans SC"/>
                <a:cs typeface="Noto Sans SC"/>
                <a:sym typeface="Noto Sans SC"/>
              </a:rPr>
              <a:t>Unified Entry: Tool Registry</a:t>
            </a:r>
            <a:r>
              <a:rPr lang="en-US" b="false" i="false" strike="noStrike" u="none" sz="1300">
                <a:solidFill>
                  <a:srgbClr val="333333"/>
                </a:solidFill>
                <a:latin typeface="Noto Sans SC"/>
                <a:ea typeface="Noto Sans SC"/>
                <a:cs typeface="Noto Sans SC"/>
                <a:sym typeface="Noto Sans SC"/>
              </a:rPr>
              <a:t>: All tool calls must pass through this gateway. Each tool registers metadata including:</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1. Name &amp; Description     2. Input Parameter JSON Schema     3. Allowed Agent List (RBAC)     4. Timeout &amp; Rate Limits</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5. Risk Level     6. Human-in-the-Loop Requirement     7. Output Structure     8. Audit Logging Policy</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400">
                <a:solidFill>
                  <a:srgbClr val="333333"/>
                </a:solidFill>
                <a:latin typeface="Noto Sans SC"/>
                <a:ea typeface="Noto Sans SC"/>
                <a:cs typeface="Noto Sans SC"/>
                <a:sym typeface="Noto Sans SC"/>
              </a:rPr>
              <a:t>Mindset Shift</a:t>
            </a:r>
            <a:r>
              <a:rPr lang="en-US" b="false" i="false" strike="noStrike" u="none" sz="1300">
                <a:solidFill>
                  <a:srgbClr val="333333"/>
                </a:solidFill>
                <a:latin typeface="Noto Sans SC"/>
                <a:ea typeface="Noto Sans SC"/>
                <a:cs typeface="Noto Sans SC"/>
                <a:sym typeface="Noto Sans SC"/>
              </a:rPr>
              <a:t>: View tools as "authorized access points to production resources" and establish governance from day one.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3: Validation &amp; Guardrails</a:t>
            </a:r>
            <a:endParaRPr lang="en-US" sz="1100"/>
          </a:p>
        </p:txBody>
      </p:sp>
      <p:sp>
        <p:nvSpPr>
          <p:cNvPr name="AutoShape 4" id="4"/>
          <p:cNvSpPr/>
          <p:nvPr/>
        </p:nvSpPr>
        <p:spPr>
          <a:xfrm rot="0" flipH="false" flipV="false">
            <a:off x="762000" y="1651000"/>
            <a:ext cx="10668000" cy="10160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Set up a series of automated checkpoints in the AI Agent's input, execution, and output stages to ensure its behavior complies with expectations and security norms, serving as the core guarantee for the system's operational stability and security.</a:t>
            </a:r>
            <a:endParaRPr lang="en-US" sz="1100"/>
          </a:p>
        </p:txBody>
      </p:sp>
      <p:sp>
        <p:nvSpPr>
          <p:cNvPr name="AutoShape 6" id="6"/>
          <p:cNvSpPr/>
          <p:nvPr/>
        </p:nvSpPr>
        <p:spPr>
          <a:xfrm rot="0" flipH="false" flipV="false">
            <a:off x="762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Purpose &amp; Necessity</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3937000"/>
            <a:ext cx="304800" cy="304800"/>
          </a:xfrm>
          <a:prstGeom prst="rect">
            <a:avLst/>
          </a:prstGeom>
        </p:spPr>
      </p:pic>
      <p:sp>
        <p:nvSpPr>
          <p:cNvPr name="AutoShape 8" id="8"/>
          <p:cNvSpPr/>
          <p:nvPr/>
        </p:nvSpPr>
        <p:spPr>
          <a:xfrm rot="0" flipH="false" flipV="false">
            <a:off x="1206500" y="3911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Prevent 'Garbage In, Garbage Out' and ensure output quality.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Purify user input to prevent attacks like prompt injection. Verify that the generated content meets structural, semantic, and compliance requirements.</a:t>
            </a:r>
          </a:p>
        </p:txBody>
      </p:sp>
      <p:cxnSp>
        <p:nvCxnSpPr>
          <p:cNvPr name="Connector 9" id="9"/>
          <p:cNvCxnSpPr/>
          <p:nvPr/>
        </p:nvCxnSpPr>
        <p:spPr>
          <a:xfrm rot="-8594" flipH="false" flipV="false">
            <a:off x="762008" y="5073650"/>
            <a:ext cx="5080000" cy="12700"/>
          </a:xfrm>
          <a:prstGeom prst="straightConnector1">
            <a:avLst/>
          </a:prstGeom>
          <a:solidFill>
            <a:srgbClr val="DEE0E3">
              <a:alpha val="100000"/>
            </a:srgbClr>
          </a:solidFill>
          <a:ln w="12700" cmpd="sng" cap="flat">
            <a:solidFill>
              <a:srgbClr val="E60012">
                <a:alpha val="15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5334000"/>
            <a:ext cx="304800" cy="304800"/>
          </a:xfrm>
          <a:prstGeom prst="rect">
            <a:avLst/>
          </a:prstGeom>
        </p:spPr>
      </p:pic>
      <p:sp>
        <p:nvSpPr>
          <p:cNvPr name="AutoShape 11" id="11"/>
          <p:cNvSpPr/>
          <p:nvPr/>
        </p:nvSpPr>
        <p:spPr>
          <a:xfrm rot="0" flipH="false" flipV="false">
            <a:off x="1206500" y="5308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Intercept upfront to avoid dangerous side effects.</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Intercept and check before the AI executes operations with side effects, ensuring every action is safe and compliant.</a:t>
            </a:r>
          </a:p>
        </p:txBody>
      </p:sp>
      <p:cxnSp>
        <p:nvCxnSpPr>
          <p:cNvPr name="Connector 12" id="12"/>
          <p:cNvCxnSpPr/>
          <p:nvPr/>
        </p:nvCxnSpPr>
        <p:spPr>
          <a:xfrm rot="5386249" flipH="false" flipV="false">
            <a:off x="4572000" y="4756163"/>
            <a:ext cx="317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6477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Practices Across the Full Link</a:t>
            </a:r>
            <a:endParaRPr lang="en-US" sz="1100"/>
          </a:p>
        </p:txBody>
      </p:sp>
      <p:sp>
        <p:nvSpPr>
          <p:cNvPr name="AutoShape 14" id="14"/>
          <p:cNvSpPr/>
          <p:nvPr/>
        </p:nvSpPr>
        <p:spPr>
          <a:xfrm rot="0" flipH="false" flipV="false">
            <a:off x="6477000" y="38735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38735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39370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Input Guardrails: Build the first line of defense.</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Filter sensitive words, desensitize PII, and detect prompt injection attacks to ensure input security and compliance.</a:t>
            </a:r>
          </a:p>
        </p:txBody>
      </p:sp>
      <p:sp>
        <p:nvSpPr>
          <p:cNvPr name="AutoShape 17" id="17"/>
          <p:cNvSpPr/>
          <p:nvPr/>
        </p:nvSpPr>
        <p:spPr>
          <a:xfrm rot="0" flipH="false" flipV="false">
            <a:off x="6477000" y="52070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52070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67500" y="52705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Execution &amp; Output: Full-process compliance check loop.</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Verify parameters and permissions before execution. Check output format, compliance, and content security, forming a closed-loop validation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4: State &amp; Memory</a:t>
            </a:r>
            <a:endParaRPr lang="en-US" sz="1100"/>
          </a:p>
        </p:txBody>
      </p:sp>
      <p:sp>
        <p:nvSpPr>
          <p:cNvPr name="AutoShape 4" id="4"/>
          <p:cNvSpPr/>
          <p:nvPr/>
        </p:nvSpPr>
        <p:spPr>
          <a:xfrm rot="0" flipH="false" flipV="false">
            <a:off x="762000" y="1778000"/>
            <a:ext cx="10668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Enable Agents to use information efficiently while avoiding context bloat and information pollution.</a:t>
            </a:r>
            <a:endParaRPr lang="en-US" sz="1100"/>
          </a:p>
        </p:txBody>
      </p:sp>
      <p:sp>
        <p:nvSpPr>
          <p:cNvPr name="AutoShape 7" id="7"/>
          <p:cNvSpPr/>
          <p:nvPr/>
        </p:nvSpPr>
        <p:spPr>
          <a:xfrm rot="0" flipH="false" flipV="false">
            <a:off x="7620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492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01 / Separate State and Memory</a:t>
            </a:r>
            <a:endParaRPr lang="en-US" sz="1100"/>
          </a:p>
        </p:txBody>
      </p:sp>
      <p:cxnSp>
        <p:nvCxnSpPr>
          <p:cNvPr name="Connector 9" id="9"/>
          <p:cNvCxnSpPr/>
          <p:nvPr/>
        </p:nvCxnSpPr>
        <p:spPr>
          <a:xfrm rot="-9167" flipH="false" flipV="false">
            <a:off x="1016008" y="3994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191000"/>
            <a:ext cx="304800" cy="304800"/>
          </a:xfrm>
          <a:prstGeom prst="rect">
            <a:avLst/>
          </a:prstGeom>
        </p:spPr>
      </p:pic>
      <p:sp>
        <p:nvSpPr>
          <p:cNvPr name="AutoShape 11" id="11"/>
          <p:cNvSpPr/>
          <p:nvPr/>
        </p:nvSpPr>
        <p:spPr>
          <a:xfrm rot="0" flipH="false" flipV="false">
            <a:off x="1460500" y="4165600"/>
            <a:ext cx="431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State:</a:t>
            </a:r>
            <a:r>
              <a:rPr lang="en-US" b="false" i="false" strike="noStrike" u="none" sz="1200">
                <a:solidFill>
                  <a:srgbClr val="555555"/>
                </a:solidFill>
                <a:latin typeface="Noto Sans SC"/>
                <a:ea typeface="Noto Sans SC"/>
                <a:cs typeface="Noto Sans SC"/>
                <a:sym typeface="Noto Sans SC"/>
              </a:rPr>
              <a:t>Short-term data for the current task, concerned with consistency (Working State, Session State, Execution Log).</a:t>
            </a:r>
            <a:endParaRPr lang="en-US" sz="1100"/>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270500"/>
            <a:ext cx="304800" cy="304800"/>
          </a:xfrm>
          <a:prstGeom prst="rect">
            <a:avLst/>
          </a:prstGeom>
        </p:spPr>
      </p:pic>
      <p:sp>
        <p:nvSpPr>
          <p:cNvPr name="AutoShape 13" id="13"/>
          <p:cNvSpPr/>
          <p:nvPr/>
        </p:nvSpPr>
        <p:spPr>
          <a:xfrm rot="0" flipH="false" flipV="false">
            <a:off x="1460500" y="5245100"/>
            <a:ext cx="431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Memory:</a:t>
            </a:r>
            <a:r>
              <a:rPr lang="en-US" b="false" i="false" strike="noStrike" u="none" sz="1200">
                <a:solidFill>
                  <a:srgbClr val="555555"/>
                </a:solidFill>
                <a:latin typeface="Noto Sans SC"/>
                <a:ea typeface="Noto Sans SC"/>
                <a:cs typeface="Noto Sans SC"/>
                <a:sym typeface="Noto Sans SC"/>
              </a:rPr>
              <a:t>Long-term knowledge for cross-task reuse, concerned with relevance (Episodic Memory, Semantic Memory).</a:t>
            </a:r>
            <a:endParaRPr lang="en-US" sz="1100"/>
          </a:p>
        </p:txBody>
      </p:sp>
      <p:sp>
        <p:nvSpPr>
          <p:cNvPr name="AutoShape 14" id="14"/>
          <p:cNvSpPr/>
          <p:nvPr/>
        </p:nvSpPr>
        <p:spPr>
          <a:xfrm rot="0" flipH="false" flipV="false">
            <a:off x="62865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40500" y="3492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02 / Core Practices</a:t>
            </a:r>
            <a:endParaRPr lang="en-US" sz="1100"/>
          </a:p>
        </p:txBody>
      </p:sp>
      <p:cxnSp>
        <p:nvCxnSpPr>
          <p:cNvPr name="Connector 16" id="16"/>
          <p:cNvCxnSpPr/>
          <p:nvPr/>
        </p:nvCxnSpPr>
        <p:spPr>
          <a:xfrm rot="-9167" flipH="false" flipV="false">
            <a:off x="6540508" y="3994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4191000"/>
            <a:ext cx="304800" cy="304800"/>
          </a:xfrm>
          <a:prstGeom prst="rect">
            <a:avLst/>
          </a:prstGeom>
        </p:spPr>
      </p:pic>
      <p:sp>
        <p:nvSpPr>
          <p:cNvPr name="AutoShape 18" id="18"/>
          <p:cNvSpPr/>
          <p:nvPr/>
        </p:nvSpPr>
        <p:spPr>
          <a:xfrm rot="0" flipH="false" flipV="false">
            <a:off x="6985000" y="4165600"/>
            <a:ext cx="431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Injection Strategy:</a:t>
            </a:r>
            <a:r>
              <a:rPr lang="en-US" b="false" i="false" strike="noStrike" u="none" sz="1200">
                <a:solidFill>
                  <a:srgbClr val="555555"/>
                </a:solidFill>
                <a:latin typeface="Noto Sans SC"/>
                <a:ea typeface="Noto Sans SC"/>
                <a:cs typeface="Noto Sans SC"/>
                <a:sym typeface="Noto Sans SC"/>
              </a:rPr>
              <a:t>Use a hybrid mode of "pre-injecting a small amount of high-confidence memory + providing a `memory_search` tool for active recall".</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5270500"/>
            <a:ext cx="304800" cy="304800"/>
          </a:xfrm>
          <a:prstGeom prst="rect">
            <a:avLst/>
          </a:prstGeom>
        </p:spPr>
      </p:pic>
      <p:sp>
        <p:nvSpPr>
          <p:cNvPr name="AutoShape 20" id="20"/>
          <p:cNvSpPr/>
          <p:nvPr/>
        </p:nvSpPr>
        <p:spPr>
          <a:xfrm rot="0" flipH="false" flipV="false">
            <a:off x="6985000" y="5245100"/>
            <a:ext cx="431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Forgetting Mechanism:</a:t>
            </a:r>
            <a:r>
              <a:rPr lang="en-US" b="false" i="false" strike="noStrike" u="none" sz="1200">
                <a:solidFill>
                  <a:srgbClr val="555555"/>
                </a:solidFill>
                <a:latin typeface="Noto Sans SC"/>
                <a:ea typeface="Noto Sans SC"/>
                <a:cs typeface="Noto Sans SC"/>
                <a:sym typeface="Noto Sans SC"/>
              </a:rPr>
              <a:t>"Memory is a garden, not a warehouse." Prune low-score memories based on access frequency and time to prevent system degradation.</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组件五：可观测性与反馈</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444444"/>
                </a:solidFill>
                <a:latin typeface="Noto Sans SC"/>
                <a:ea typeface="Noto Sans SC"/>
                <a:cs typeface="Noto Sans SC"/>
                <a:sym typeface="Noto Sans SC"/>
              </a:rPr>
              <a:t>建立一套完整的监控、日志和评估体系，以洞察AI Agent的内部工作状态，打破系统的“黑盒”属性。通过全链路数据的收集与分析，为问题排查、性能调优以及Agent的持续迭代优化提供坚实的数据支撑。</a:t>
            </a:r>
            <a:endParaRPr lang="en-US" sz="1100"/>
          </a:p>
        </p:txBody>
      </p:sp>
      <p:sp>
        <p:nvSpPr>
          <p:cNvPr name="AutoShape 7" id="7"/>
          <p:cNvSpPr/>
          <p:nvPr/>
        </p:nvSpPr>
        <p:spPr>
          <a:xfrm rot="0" flipH="false" flipV="false">
            <a:off x="762000" y="31750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406400" cy="406400"/>
          </a:xfrm>
          <a:prstGeom prst="rect">
            <a:avLst/>
          </a:prstGeom>
        </p:spPr>
      </p:pic>
      <p:sp>
        <p:nvSpPr>
          <p:cNvPr name="AutoShape 9" id="9"/>
          <p:cNvSpPr/>
          <p:nvPr/>
        </p:nvSpPr>
        <p:spPr>
          <a:xfrm rot="0" flipH="false" flipV="false">
            <a:off x="1587500" y="3276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精准问题诊断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当AI行为出现异常或决策失误时，通过全链路数据回溯，能够快速定位问题根源，而非盲目猜测。</a:t>
            </a:r>
          </a:p>
        </p:txBody>
      </p:sp>
      <p:sp>
        <p:nvSpPr>
          <p:cNvPr name="AutoShape 10" id="10"/>
          <p:cNvSpPr/>
          <p:nvPr/>
        </p:nvSpPr>
        <p:spPr>
          <a:xfrm rot="0" flipH="false" flipV="false">
            <a:off x="762000" y="43180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508500"/>
            <a:ext cx="406400" cy="406400"/>
          </a:xfrm>
          <a:prstGeom prst="rect">
            <a:avLst/>
          </a:prstGeom>
        </p:spPr>
      </p:pic>
      <p:sp>
        <p:nvSpPr>
          <p:cNvPr name="AutoShape 12" id="12"/>
          <p:cNvSpPr/>
          <p:nvPr/>
        </p:nvSpPr>
        <p:spPr>
          <a:xfrm rot="0" flipH="false" flipV="false">
            <a:off x="1587500" y="4419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成本与性能双重优化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实时监控Token消耗、响应延迟、任务成功率等核心指标，量化系统表现，从而在保证效果的前提下有效控制运营成本。</a:t>
            </a:r>
          </a:p>
        </p:txBody>
      </p:sp>
      <p:sp>
        <p:nvSpPr>
          <p:cNvPr name="AutoShape 13" id="13"/>
          <p:cNvSpPr/>
          <p:nvPr/>
        </p:nvSpPr>
        <p:spPr>
          <a:xfrm rot="0" flipH="false" flipV="false">
            <a:off x="762000" y="53975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588000"/>
            <a:ext cx="406400" cy="406400"/>
          </a:xfrm>
          <a:prstGeom prst="rect">
            <a:avLst/>
          </a:prstGeom>
        </p:spPr>
      </p:pic>
      <p:sp>
        <p:nvSpPr>
          <p:cNvPr name="AutoShape 15" id="15"/>
          <p:cNvSpPr/>
          <p:nvPr/>
        </p:nvSpPr>
        <p:spPr>
          <a:xfrm rot="0" flipH="false" flipV="false">
            <a:off x="1587500" y="54991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驱动系统持续迭代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结合自动化评估（Evals）结果与真实用户反馈，形成闭环，不断修正模型偏差，让Agent能力随时间推移持续进化。</a:t>
            </a:r>
          </a:p>
        </p:txBody>
      </p:sp>
      <p:cxnSp>
        <p:nvCxnSpPr>
          <p:cNvPr name="Connector 16" id="16"/>
          <p:cNvCxnSpPr/>
          <p:nvPr/>
        </p:nvCxnSpPr>
        <p:spPr>
          <a:xfrm rot="5386249" flipH="false" flipV="false">
            <a:off x="4508500" y="4756163"/>
            <a:ext cx="3175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17" id="17"/>
          <p:cNvSpPr/>
          <p:nvPr/>
        </p:nvSpPr>
        <p:spPr>
          <a:xfrm rot="0" flipH="false" flipV="false">
            <a:off x="6223000" y="3175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3302000"/>
            <a:ext cx="355600" cy="355600"/>
          </a:xfrm>
          <a:prstGeom prst="rect">
            <a:avLst/>
          </a:prstGeom>
        </p:spPr>
      </p:pic>
      <p:sp>
        <p:nvSpPr>
          <p:cNvPr name="AutoShape 19" id="19"/>
          <p:cNvSpPr/>
          <p:nvPr/>
        </p:nvSpPr>
        <p:spPr>
          <a:xfrm rot="0" flipH="false" flipV="false">
            <a:off x="6858000" y="3302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链路追踪 (Trace)</a:t>
            </a:r>
            <a:endParaRPr lang="en-US" sz="1100"/>
          </a:p>
        </p:txBody>
      </p:sp>
      <p:cxnSp>
        <p:nvCxnSpPr>
          <p:cNvPr name="Connector 20" id="20"/>
          <p:cNvCxnSpPr/>
          <p:nvPr/>
        </p:nvCxnSpPr>
        <p:spPr>
          <a:xfrm rot="-20462" flipH="false" flipV="false">
            <a:off x="6413519" y="3803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21" id="21"/>
          <p:cNvSpPr/>
          <p:nvPr/>
        </p:nvSpPr>
        <p:spPr>
          <a:xfrm rot="0" flipH="false" flipV="false">
            <a:off x="6413500" y="3937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完整记录Agent的思考过程、决策逻辑及工具调用链路，还原系统运行全貌。</a:t>
            </a:r>
            <a:endParaRPr lang="en-US" sz="1100"/>
          </a:p>
        </p:txBody>
      </p:sp>
      <p:sp>
        <p:nvSpPr>
          <p:cNvPr name="AutoShape 22" id="22"/>
          <p:cNvSpPr/>
          <p:nvPr/>
        </p:nvSpPr>
        <p:spPr>
          <a:xfrm rot="0" flipH="false" flipV="false">
            <a:off x="8915400" y="3175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05900" y="3302000"/>
            <a:ext cx="355600" cy="355600"/>
          </a:xfrm>
          <a:prstGeom prst="rect">
            <a:avLst/>
          </a:prstGeom>
        </p:spPr>
      </p:pic>
      <p:sp>
        <p:nvSpPr>
          <p:cNvPr name="AutoShape 24" id="24"/>
          <p:cNvSpPr/>
          <p:nvPr/>
        </p:nvSpPr>
        <p:spPr>
          <a:xfrm rot="0" flipH="false" flipV="false">
            <a:off x="9550400" y="3302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指标监控 (Metrics)</a:t>
            </a:r>
            <a:endParaRPr lang="en-US" sz="1100"/>
          </a:p>
        </p:txBody>
      </p:sp>
      <p:cxnSp>
        <p:nvCxnSpPr>
          <p:cNvPr name="Connector 25" id="25"/>
          <p:cNvCxnSpPr/>
          <p:nvPr/>
        </p:nvCxnSpPr>
        <p:spPr>
          <a:xfrm rot="-20462" flipH="false" flipV="false">
            <a:off x="9105919" y="3803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26" id="26"/>
          <p:cNvSpPr/>
          <p:nvPr/>
        </p:nvSpPr>
        <p:spPr>
          <a:xfrm rot="0" flipH="false" flipV="false">
            <a:off x="9105900" y="3937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实时采集并可视化Token用量、API频次、错误率等关键数据，掌握系统健康度。</a:t>
            </a:r>
            <a:endParaRPr lang="en-US" sz="1100"/>
          </a:p>
        </p:txBody>
      </p:sp>
      <p:sp>
        <p:nvSpPr>
          <p:cNvPr name="AutoShape 27" id="27"/>
          <p:cNvSpPr/>
          <p:nvPr/>
        </p:nvSpPr>
        <p:spPr>
          <a:xfrm rot="0" flipH="false" flipV="false">
            <a:off x="6223000" y="4826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13500" y="4953000"/>
            <a:ext cx="355600" cy="355600"/>
          </a:xfrm>
          <a:prstGeom prst="rect">
            <a:avLst/>
          </a:prstGeom>
        </p:spPr>
      </p:pic>
      <p:sp>
        <p:nvSpPr>
          <p:cNvPr name="AutoShape 29" id="29"/>
          <p:cNvSpPr/>
          <p:nvPr/>
        </p:nvSpPr>
        <p:spPr>
          <a:xfrm rot="0" flipH="false" flipV="false">
            <a:off x="6858000" y="4953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日志记录 (Logs)</a:t>
            </a:r>
            <a:endParaRPr lang="en-US" sz="1100"/>
          </a:p>
        </p:txBody>
      </p:sp>
      <p:cxnSp>
        <p:nvCxnSpPr>
          <p:cNvPr name="Connector 30" id="30"/>
          <p:cNvCxnSpPr/>
          <p:nvPr/>
        </p:nvCxnSpPr>
        <p:spPr>
          <a:xfrm rot="-20462" flipH="false" flipV="false">
            <a:off x="6413519" y="5454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31" id="31"/>
          <p:cNvSpPr/>
          <p:nvPr/>
        </p:nvSpPr>
        <p:spPr>
          <a:xfrm rot="0" flipH="false" flipV="false">
            <a:off x="6413500" y="5588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结构化存储系统运行日志、异常报错信息及工具执行结果，为审计和复盘提供依据。</a:t>
            </a:r>
            <a:endParaRPr lang="en-US" sz="1100"/>
          </a:p>
        </p:txBody>
      </p:sp>
      <p:sp>
        <p:nvSpPr>
          <p:cNvPr name="AutoShape 32" id="32"/>
          <p:cNvSpPr/>
          <p:nvPr/>
        </p:nvSpPr>
        <p:spPr>
          <a:xfrm rot="0" flipH="false" flipV="false">
            <a:off x="8915400" y="4826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105900" y="4953000"/>
            <a:ext cx="355600" cy="355600"/>
          </a:xfrm>
          <a:prstGeom prst="rect">
            <a:avLst/>
          </a:prstGeom>
        </p:spPr>
      </p:pic>
      <p:sp>
        <p:nvSpPr>
          <p:cNvPr name="AutoShape 34" id="34"/>
          <p:cNvSpPr/>
          <p:nvPr/>
        </p:nvSpPr>
        <p:spPr>
          <a:xfrm rot="0" flipH="false" flipV="false">
            <a:off x="9550400" y="4953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自动化评估 (Evals)</a:t>
            </a:r>
            <a:endParaRPr lang="en-US" sz="1100"/>
          </a:p>
        </p:txBody>
      </p:sp>
      <p:cxnSp>
        <p:nvCxnSpPr>
          <p:cNvPr name="Connector 35" id="35"/>
          <p:cNvCxnSpPr/>
          <p:nvPr/>
        </p:nvCxnSpPr>
        <p:spPr>
          <a:xfrm rot="-20462" flipH="false" flipV="false">
            <a:off x="9105919" y="5454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36" id="36"/>
          <p:cNvSpPr/>
          <p:nvPr/>
        </p:nvSpPr>
        <p:spPr>
          <a:xfrm rot="0" flipH="false" flipV="false">
            <a:off x="9105900" y="5588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编写标准化测试用例，自动校验Agent输出的准确性、安全性与合规性，确保服务质量。</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5: Evaluation System</a:t>
            </a:r>
            <a:endParaRPr lang="en-US" sz="1100"/>
          </a:p>
        </p:txBody>
      </p:sp>
      <p:sp>
        <p:nvSpPr>
          <p:cNvPr name="AutoShape 4" id="4"/>
          <p:cNvSpPr/>
          <p:nvPr/>
        </p:nvSpPr>
        <p:spPr>
          <a:xfrm rot="0" flipH="false" flipV="false">
            <a:off x="762000" y="1524000"/>
            <a:ext cx="10668000" cy="825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825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1016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600">
                <a:solidFill>
                  <a:srgbClr val="333333"/>
                </a:solidFill>
                <a:latin typeface="Noto Sans SC"/>
                <a:ea typeface="Noto Sans SC"/>
                <a:cs typeface="Noto Sans SC"/>
                <a:sym typeface="Noto Sans SC"/>
              </a:rPr>
              <a:t>To comprehensively evaluate the performance of the Agent system, not just the final answer, by examining the entire execution process and business outcomes.</a:t>
            </a:r>
            <a:endParaRPr lang="en-US" sz="1100"/>
          </a:p>
        </p:txBody>
      </p:sp>
      <p:sp>
        <p:nvSpPr>
          <p:cNvPr name="AutoShape 7" id="7"/>
          <p:cNvSpPr/>
          <p:nvPr/>
        </p:nvSpPr>
        <p:spPr>
          <a:xfrm rot="0" flipH="false" flipV="false">
            <a:off x="762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111500"/>
            <a:ext cx="304800" cy="304800"/>
          </a:xfrm>
          <a:prstGeom prst="rect">
            <a:avLst/>
          </a:prstGeom>
        </p:spPr>
      </p:pic>
      <p:sp>
        <p:nvSpPr>
          <p:cNvPr name="AutoShape 9" id="9"/>
          <p:cNvSpPr/>
          <p:nvPr/>
        </p:nvSpPr>
        <p:spPr>
          <a:xfrm rot="0" flipH="false" flipV="false">
            <a:off x="1397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Four-Layer Evaluation Model</a:t>
            </a:r>
            <a:endParaRPr lang="en-US" sz="1100"/>
          </a:p>
        </p:txBody>
      </p:sp>
      <p:cxnSp>
        <p:nvCxnSpPr>
          <p:cNvPr name="Connector 10" id="10"/>
          <p:cNvCxnSpPr/>
          <p:nvPr/>
        </p:nvCxnSpPr>
        <p:spPr>
          <a:xfrm rot="-14323" flipH="false" flipV="false">
            <a:off x="952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1" id="11"/>
          <p:cNvSpPr/>
          <p:nvPr/>
        </p:nvSpPr>
        <p:spPr>
          <a:xfrm rot="0" flipH="false" flipV="false">
            <a:off x="952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E60012"/>
                </a:solidFill>
                <a:latin typeface="Noto Sans SC"/>
                <a:ea typeface="Noto Sans SC"/>
                <a:cs typeface="Noto Sans SC"/>
                <a:sym typeface="Noto Sans SC"/>
              </a:rPr>
              <a:t>1. Component Eval:</a:t>
            </a:r>
            <a:r>
              <a:rPr lang="en-US" b="false" i="false" strike="noStrike" u="none" sz="1300">
                <a:solidFill>
                  <a:srgbClr val="525252"/>
                </a:solidFill>
                <a:latin typeface="Noto Sans SC"/>
                <a:ea typeface="Noto Sans SC"/>
                <a:cs typeface="Noto Sans SC"/>
                <a:sym typeface="Noto Sans SC"/>
              </a:rPr>
              <a:t>Assess individual Agent/tool performance.</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E60012"/>
                </a:solidFill>
                <a:latin typeface="Noto Sans SC"/>
                <a:ea typeface="Noto Sans SC"/>
                <a:cs typeface="Noto Sans SC"/>
                <a:sym typeface="Noto Sans SC"/>
              </a:rPr>
              <a:t>2. Trajectory Eval:</a:t>
            </a:r>
            <a:r>
              <a:rPr lang="en-US" b="false" i="false" strike="noStrike" u="none" sz="1300">
                <a:solidFill>
                  <a:srgbClr val="525252"/>
                </a:solidFill>
                <a:latin typeface="Noto Sans SC"/>
                <a:ea typeface="Noto Sans SC"/>
                <a:cs typeface="Noto Sans SC"/>
                <a:sym typeface="Noto Sans SC"/>
              </a:rPr>
              <a:t>Evaluate step rationality and efficiency (core of Multi-Agent).</a:t>
            </a:r>
            <a:r>
              <a:rPr lang="en-US" b="false" i="false" strike="noStrike" u="none" sz="13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300">
                <a:solidFill>
                  <a:srgbClr val="E60012"/>
                </a:solidFill>
                <a:latin typeface="Noto Sans SC"/>
                <a:ea typeface="Noto Sans SC"/>
                <a:cs typeface="Noto Sans SC"/>
                <a:sym typeface="Noto Sans SC"/>
              </a:rPr>
              <a:t>3. Task &amp; E2E Eval:</a:t>
            </a:r>
            <a:r>
              <a:rPr lang="en-US" b="false" i="false" strike="noStrike" u="none" sz="1300">
                <a:solidFill>
                  <a:srgbClr val="525252"/>
                </a:solidFill>
                <a:latin typeface="Noto Sans SC"/>
                <a:ea typeface="Noto Sans SC"/>
                <a:cs typeface="Noto Sans SC"/>
                <a:sym typeface="Noto Sans SC"/>
              </a:rPr>
              <a:t>Check goal fulfillment, factual accuracy, and final business metrics like rework rate.</a:t>
            </a:r>
          </a:p>
        </p:txBody>
      </p:sp>
      <p:sp>
        <p:nvSpPr>
          <p:cNvPr name="AutoShape 12" id="12"/>
          <p:cNvSpPr/>
          <p:nvPr/>
        </p:nvSpPr>
        <p:spPr>
          <a:xfrm rot="0" flipH="false" flipV="false">
            <a:off x="4445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111500"/>
            <a:ext cx="304800" cy="304800"/>
          </a:xfrm>
          <a:prstGeom prst="rect">
            <a:avLst/>
          </a:prstGeom>
        </p:spPr>
      </p:pic>
      <p:sp>
        <p:nvSpPr>
          <p:cNvPr name="AutoShape 14" id="14"/>
          <p:cNvSpPr/>
          <p:nvPr/>
        </p:nvSpPr>
        <p:spPr>
          <a:xfrm rot="0" flipH="false" flipV="false">
            <a:off x="5080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Hybrid Evaluation Strategy</a:t>
            </a:r>
            <a:endParaRPr lang="en-US" sz="1100"/>
          </a:p>
        </p:txBody>
      </p:sp>
      <p:cxnSp>
        <p:nvCxnSpPr>
          <p:cNvPr name="Connector 15" id="15"/>
          <p:cNvCxnSpPr/>
          <p:nvPr/>
        </p:nvCxnSpPr>
        <p:spPr>
          <a:xfrm rot="-14323" flipH="false" flipV="false">
            <a:off x="4635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6" id="16"/>
          <p:cNvSpPr/>
          <p:nvPr/>
        </p:nvSpPr>
        <p:spPr>
          <a:xfrm rot="0" flipH="false" flipV="false">
            <a:off x="4635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Combine LLM-as-Judge and Deterministic Checks:</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Use LLMs for open-ended, subjective output quality. Prioritize unit tests and schema validation for factual correctness and code runnability to ensure reliability.</a:t>
            </a:r>
          </a:p>
        </p:txBody>
      </p:sp>
      <p:sp>
        <p:nvSpPr>
          <p:cNvPr name="AutoShape 17" id="17"/>
          <p:cNvSpPr/>
          <p:nvPr/>
        </p:nvSpPr>
        <p:spPr>
          <a:xfrm rot="0" flipH="false" flipV="false">
            <a:off x="8128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111500"/>
            <a:ext cx="304800" cy="304800"/>
          </a:xfrm>
          <a:prstGeom prst="rect">
            <a:avLst/>
          </a:prstGeom>
        </p:spPr>
      </p:pic>
      <p:sp>
        <p:nvSpPr>
          <p:cNvPr name="AutoShape 19" id="19"/>
          <p:cNvSpPr/>
          <p:nvPr/>
        </p:nvSpPr>
        <p:spPr>
          <a:xfrm rot="0" flipH="false" flipV="false">
            <a:off x="8763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Automated Evaluation in CI</a:t>
            </a:r>
            <a:endParaRPr lang="en-US" sz="1100"/>
          </a:p>
        </p:txBody>
      </p:sp>
      <p:cxnSp>
        <p:nvCxnSpPr>
          <p:cNvPr name="Connector 20" id="20"/>
          <p:cNvCxnSpPr/>
          <p:nvPr/>
        </p:nvCxnSpPr>
        <p:spPr>
          <a:xfrm rot="-14323" flipH="false" flipV="false">
            <a:off x="8318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21" id="21"/>
          <p:cNvSpPr/>
          <p:nvPr/>
        </p:nvSpPr>
        <p:spPr>
          <a:xfrm rot="0" flipH="false" flipV="false">
            <a:off x="8318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Shift Left for Stability:</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Integrate regression tests into the CI/CD pipeline. Automatically run evaluations on every change (prompt, model, or tool update) to catch regressions early and maintain system robustness.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6: Cost Control</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444444"/>
                </a:solidFill>
                <a:latin typeface="Noto Sans SC"/>
                <a:ea typeface="Noto Sans SC"/>
                <a:cs typeface="Noto Sans SC"/>
                <a:sym typeface="Noto Sans SC"/>
              </a:rPr>
              <a:t>Transform token consumption from passive "post-event statistics" into proactive "real-time scheduling", and implement strict budget management to prevent the Agent system from evolving into an uncontrolled "budget black hole".</a:t>
            </a:r>
            <a:endParaRPr lang="en-US" sz="1100"/>
          </a:p>
        </p:txBody>
      </p:sp>
      <p:sp>
        <p:nvSpPr>
          <p:cNvPr name="AutoShape 7" id="7"/>
          <p:cNvSpPr/>
          <p:nvPr/>
        </p:nvSpPr>
        <p:spPr>
          <a:xfrm rot="0" flipH="false" flipV="false">
            <a:off x="762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355600" cy="355600"/>
          </a:xfrm>
          <a:prstGeom prst="rect">
            <a:avLst/>
          </a:prstGeom>
        </p:spPr>
      </p:pic>
      <p:sp>
        <p:nvSpPr>
          <p:cNvPr name="AutoShape 9" id="9"/>
          <p:cNvSpPr/>
          <p:nvPr/>
        </p:nvSpPr>
        <p:spPr>
          <a:xfrm rot="0" flipH="false" flipV="false">
            <a:off x="1397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01. Model Routing</a:t>
            </a:r>
            <a:endParaRPr lang="en-US" sz="1100"/>
          </a:p>
        </p:txBody>
      </p:sp>
      <p:cxnSp>
        <p:nvCxnSpPr>
          <p:cNvPr name="Connector 10" id="10"/>
          <p:cNvCxnSpPr/>
          <p:nvPr/>
        </p:nvCxnSpPr>
        <p:spPr>
          <a:xfrm rot="-14323" flipH="false" flipV="false">
            <a:off x="952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1" id="11"/>
          <p:cNvSpPr/>
          <p:nvPr/>
        </p:nvSpPr>
        <p:spPr>
          <a:xfrm rot="0" flipH="false" flipV="false">
            <a:off x="952500" y="40005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Intelligently match models to task complexity: deploy lightweight/small models for simple classification/summarization tasks, and reserve powerful large models exclusively for complex reasoning workloads to optimize cost efficiency.</a:t>
            </a:r>
            <a:endParaRPr lang="en-US" sz="1100"/>
          </a:p>
        </p:txBody>
      </p:sp>
      <p:sp>
        <p:nvSpPr>
          <p:cNvPr name="AutoShape 12" id="12"/>
          <p:cNvSpPr/>
          <p:nvPr/>
        </p:nvSpPr>
        <p:spPr>
          <a:xfrm rot="0" flipH="false" flipV="false">
            <a:off x="43815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365500"/>
            <a:ext cx="355600" cy="355600"/>
          </a:xfrm>
          <a:prstGeom prst="rect">
            <a:avLst/>
          </a:prstGeom>
        </p:spPr>
      </p:pic>
      <p:sp>
        <p:nvSpPr>
          <p:cNvPr name="AutoShape 14" id="14"/>
          <p:cNvSpPr/>
          <p:nvPr/>
        </p:nvSpPr>
        <p:spPr>
          <a:xfrm rot="0" flipH="false" flipV="false">
            <a:off x="50165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02. Context Compression</a:t>
            </a:r>
            <a:endParaRPr lang="en-US" sz="1100"/>
          </a:p>
        </p:txBody>
      </p:sp>
      <p:cxnSp>
        <p:nvCxnSpPr>
          <p:cNvPr name="Connector 15" id="15"/>
          <p:cNvCxnSpPr/>
          <p:nvPr/>
        </p:nvCxnSpPr>
        <p:spPr>
          <a:xfrm rot="-14323" flipH="false" flipV="false">
            <a:off x="45720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6" id="16"/>
          <p:cNvSpPr/>
          <p:nvPr/>
        </p:nvSpPr>
        <p:spPr>
          <a:xfrm rot="0" flipH="false" flipV="false">
            <a:off x="4572000" y="40005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Adopt a tiered history management approach: retain full-text for recent interactions while compressing historical dialogues into structured, concise summaries, drastically reducing redundant token transmission and waste.</a:t>
            </a:r>
            <a:endParaRPr lang="en-US" sz="1100"/>
          </a:p>
        </p:txBody>
      </p:sp>
      <p:sp>
        <p:nvSpPr>
          <p:cNvPr name="AutoShape 17" id="17"/>
          <p:cNvSpPr/>
          <p:nvPr/>
        </p:nvSpPr>
        <p:spPr>
          <a:xfrm rot="0" flipH="false" flipV="false">
            <a:off x="8001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365500"/>
            <a:ext cx="355600" cy="355600"/>
          </a:xfrm>
          <a:prstGeom prst="rect">
            <a:avLst/>
          </a:prstGeom>
        </p:spPr>
      </p:pic>
      <p:sp>
        <p:nvSpPr>
          <p:cNvPr name="AutoShape 19" id="19"/>
          <p:cNvSpPr/>
          <p:nvPr/>
        </p:nvSpPr>
        <p:spPr>
          <a:xfrm rot="0" flipH="false" flipV="false">
            <a:off x="8636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03. Budget Tiered Degradation</a:t>
            </a:r>
            <a:endParaRPr lang="en-US" sz="1100"/>
          </a:p>
        </p:txBody>
      </p:sp>
      <p:cxnSp>
        <p:nvCxnSpPr>
          <p:cNvPr name="Connector 20" id="20"/>
          <p:cNvCxnSpPr/>
          <p:nvPr/>
        </p:nvCxnSpPr>
        <p:spPr>
          <a:xfrm rot="-14323" flipH="false" flipV="false">
            <a:off x="8191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1" id="21"/>
          <p:cNvSpPr/>
          <p:nvPr/>
        </p:nvSpPr>
        <p:spPr>
          <a:xfrm rot="0" flipH="false" flipV="false">
            <a:off x="8191500" y="40005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Implement a multi-level safeguard mechanism: Green (normal), Yellow (compress context), Red (downgrade model), and Circuit Breaker (force termination) zones to ensure strict adherence to preset budget thresholds.</a:t>
            </a:r>
            <a:endParaRPr lang="en-US" sz="1100"/>
          </a:p>
        </p:txBody>
      </p:sp>
      <p:sp>
        <p:nvSpPr>
          <p:cNvPr name="AutoShape 22" id="22"/>
          <p:cNvSpPr/>
          <p:nvPr/>
        </p:nvSpPr>
        <p:spPr>
          <a:xfrm rot="0" flipH="false" flipV="false">
            <a:off x="762000" y="5588000"/>
            <a:ext cx="10668000" cy="889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778500"/>
            <a:ext cx="304800" cy="304800"/>
          </a:xfrm>
          <a:prstGeom prst="rect">
            <a:avLst/>
          </a:prstGeom>
        </p:spPr>
      </p:pic>
      <p:sp>
        <p:nvSpPr>
          <p:cNvPr name="AutoShape 24" id="24"/>
          <p:cNvSpPr/>
          <p:nvPr/>
        </p:nvSpPr>
        <p:spPr>
          <a:xfrm rot="0" flipH="false" flipV="false">
            <a:off x="152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Token Consumption per Task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Granular tracking of total tokens allocated and utilized.</a:t>
            </a:r>
          </a:p>
        </p:txBody>
      </p:sp>
      <p:cxnSp>
        <p:nvCxnSpPr>
          <p:cNvPr name="Connector 25" id="25"/>
          <p:cNvCxnSpPr/>
          <p:nvPr/>
        </p:nvCxnSpPr>
        <p:spPr>
          <a:xfrm rot="5331254" flipH="false" flipV="false">
            <a:off x="4254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826000" y="5778500"/>
            <a:ext cx="304800" cy="304800"/>
          </a:xfrm>
          <a:prstGeom prst="rect">
            <a:avLst/>
          </a:prstGeom>
        </p:spPr>
      </p:pic>
      <p:sp>
        <p:nvSpPr>
          <p:cNvPr name="AutoShape 27" id="27"/>
          <p:cNvSpPr/>
          <p:nvPr/>
        </p:nvSpPr>
        <p:spPr>
          <a:xfrm rot="0" flipH="false" flipV="false">
            <a:off x="533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Retry Token Ratio</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Monitor waste from failed attempts and optimize retry logic.</a:t>
            </a:r>
          </a:p>
        </p:txBody>
      </p:sp>
      <p:cxnSp>
        <p:nvCxnSpPr>
          <p:cNvPr name="Connector 28" id="28"/>
          <p:cNvCxnSpPr/>
          <p:nvPr/>
        </p:nvCxnSpPr>
        <p:spPr>
          <a:xfrm rot="5331254" flipH="false" flipV="false">
            <a:off x="7556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9" id="2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128000" y="5778500"/>
            <a:ext cx="304800" cy="304800"/>
          </a:xfrm>
          <a:prstGeom prst="rect">
            <a:avLst/>
          </a:prstGeom>
        </p:spPr>
      </p:pic>
      <p:sp>
        <p:nvSpPr>
          <p:cNvPr name="AutoShape 30" id="30"/>
          <p:cNvSpPr/>
          <p:nvPr/>
        </p:nvSpPr>
        <p:spPr>
          <a:xfrm rot="0" flipH="false" flipV="false">
            <a:off x="8636000" y="5715000"/>
            <a:ext cx="266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Cost per Business Outcome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Align spending directly with tangible business value.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Component 6: Human-in-the-loop &amp; MCP Integration</a:t>
            </a:r>
            <a:endParaRPr lang="en-US" sz="1100"/>
          </a:p>
        </p:txBody>
      </p:sp>
      <p:sp>
        <p:nvSpPr>
          <p:cNvPr name="AutoShape 4" id="4"/>
          <p:cNvSpPr/>
          <p:nvPr/>
        </p:nvSpPr>
        <p:spPr>
          <a:xfrm rot="0" flipH="false" flipV="false">
            <a:off x="889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143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1: Human-in-the-loop</a:t>
            </a:r>
            <a:endParaRPr lang="en-US" sz="1100"/>
          </a:p>
        </p:txBody>
      </p:sp>
      <p:sp>
        <p:nvSpPr>
          <p:cNvPr name="AutoShape 6" id="6"/>
          <p:cNvSpPr/>
          <p:nvPr/>
        </p:nvSpPr>
        <p:spPr>
          <a:xfrm rot="0" flipH="false" flipV="false">
            <a:off x="6223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6477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2: MCP Integration</a:t>
            </a:r>
            <a:endParaRPr lang="en-US" sz="1100"/>
          </a:p>
        </p:txBody>
      </p:sp>
      <p:sp>
        <p:nvSpPr>
          <p:cNvPr name="AutoShape 8" id="8"/>
          <p:cNvSpPr/>
          <p:nvPr/>
        </p:nvSpPr>
        <p:spPr>
          <a:xfrm rot="0" flipH="false" flipV="false">
            <a:off x="1143000" y="2921000"/>
            <a:ext cx="4572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Purpose:</a:t>
            </a:r>
            <a:r>
              <a:rPr lang="en-US" b="false" i="false" strike="noStrike" u="none" sz="1300">
                <a:solidFill>
                  <a:srgbClr val="555555"/>
                </a:solidFill>
                <a:latin typeface="Noto Sans SC"/>
                <a:ea typeface="Noto Sans SC"/>
                <a:cs typeface="Noto Sans SC"/>
                <a:sym typeface="Noto Sans SC"/>
              </a:rPr>
              <a:t>Handle high-risk decisions and act as the final safety net.</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33333"/>
                </a:solidFill>
                <a:latin typeface="Noto Sans SC"/>
                <a:ea typeface="Noto Sans SC"/>
                <a:cs typeface="Noto Sans SC"/>
                <a:sym typeface="Noto Sans SC"/>
              </a:rPr>
              <a:t>Mechanisms:</a:t>
            </a:r>
            <a:r>
              <a:rPr lang="en-US" b="false" i="false" strike="noStrike" u="none" sz="1300">
                <a:solidFill>
                  <a:srgbClr val="555555"/>
                </a:solidFill>
                <a:latin typeface="Noto Sans SC"/>
                <a:ea typeface="Noto Sans SC"/>
                <a:cs typeface="Noto Sans SC"/>
                <a:sym typeface="Noto Sans SC"/>
              </a:rPr>
              <a:t>Gated Execution, One-click Takeover, Feedback Loop.</a:t>
            </a:r>
          </a:p>
        </p:txBody>
      </p:sp>
      <p:sp>
        <p:nvSpPr>
          <p:cNvPr name="AutoShape 9" id="9"/>
          <p:cNvSpPr/>
          <p:nvPr/>
        </p:nvSpPr>
        <p:spPr>
          <a:xfrm rot="0" flipH="false" flipV="false">
            <a:off x="6477000" y="2921000"/>
            <a:ext cx="4572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200">
                <a:solidFill>
                  <a:srgbClr val="555555"/>
                </a:solidFill>
                <a:latin typeface="Noto Sans SC"/>
                <a:ea typeface="Noto Sans SC"/>
                <a:cs typeface="Noto Sans SC"/>
                <a:sym typeface="Noto Sans SC"/>
              </a:rPr>
              <a:t>Rapidly expand capabilities using the Model Context Protocol (MCP) ecosystem while ensuring security.</a:t>
            </a:r>
            <a:r>
              <a:rPr lang="en-US" b="false" i="false" strike="noStrike" u="none" sz="12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3333"/>
                </a:solidFill>
                <a:latin typeface="Noto Sans SC"/>
                <a:ea typeface="Noto Sans SC"/>
                <a:cs typeface="Noto Sans SC"/>
                <a:sym typeface="Noto Sans SC"/>
              </a:rPr>
              <a:t>Security Principles:</a:t>
            </a:r>
            <a:r>
              <a:rPr lang="en-US" b="false" i="false" strike="noStrike" u="none" sz="1200">
                <a:solidFill>
                  <a:srgbClr val="333333"/>
                </a:solidFill>
                <a:latin typeface="Noto Sans SC"/>
                <a:ea typeface="Noto Sans SC"/>
                <a:cs typeface="Noto Sans SC"/>
                <a:sym typeface="Noto Sans SC"/>
              </a:rPr>
              <a:t/>
            </a:r>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1. Never Expose Directly: Call via Harness's Tool Registry only.</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2. Separate Quotas: Independent resource quotas per MCP server.</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3. Whitelist Strategy: Open only business-critical tools.</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4. High-Risk Tools: Require human confirmation.</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5. Comprehensive Tracing: All calls have traceable logs.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540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400">
                <a:solidFill>
                  <a:srgbClr val="333333"/>
                </a:solidFill>
                <a:latin typeface="Noto Sans SC"/>
                <a:ea typeface="Noto Sans SC"/>
                <a:cs typeface="Noto Sans SC"/>
                <a:sym typeface="Noto Sans SC"/>
              </a:rPr>
              <a:t>Harness in Action: Anthropic's Framework</a:t>
            </a:r>
            <a:endParaRPr lang="en-US" sz="1100"/>
          </a:p>
        </p:txBody>
      </p:sp>
      <p:sp>
        <p:nvSpPr>
          <p:cNvPr name="AutoShape 4" id="4"/>
          <p:cNvSpPr/>
          <p:nvPr/>
        </p:nvSpPr>
        <p:spPr>
          <a:xfrm rot="0" flipH="false" flipV="false">
            <a:off x="762000" y="4318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Anthropic's Harness Engineering framework visualizes the systematic breakdown of complex AI tasks. It integrates rigorous planning with continuous quality checks to ensure reliable and high-quality results.</a:t>
            </a:r>
            <a:endParaRPr lang="en-US" sz="1100"/>
          </a:p>
        </p:txBody>
      </p:sp>
      <p:sp>
        <p:nvSpPr>
          <p:cNvPr name="AutoShape 5" id="5"/>
          <p:cNvSpPr/>
          <p:nvPr/>
        </p:nvSpPr>
        <p:spPr>
          <a:xfrm rot="0" flipH="false" flipV="false">
            <a:off x="5842000" y="1778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33333"/>
                </a:solidFill>
                <a:latin typeface="Noto Sans SC"/>
                <a:ea typeface="Noto Sans SC"/>
                <a:cs typeface="Noto Sans SC"/>
                <a:sym typeface="Noto Sans SC"/>
              </a:rPr>
              <a:t>Core Components</a:t>
            </a:r>
            <a:endParaRPr lang="en-US" sz="1100"/>
          </a:p>
        </p:txBody>
      </p:sp>
      <p:sp>
        <p:nvSpPr>
          <p:cNvPr name="AutoShape 6" id="6"/>
          <p:cNvSpPr/>
          <p:nvPr/>
        </p:nvSpPr>
        <p:spPr>
          <a:xfrm rot="0" flipH="false" flipV="false">
            <a:off x="5842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96000" y="2984500"/>
            <a:ext cx="508000" cy="508000"/>
          </a:xfrm>
          <a:prstGeom prst="rect">
            <a:avLst/>
          </a:prstGeom>
        </p:spPr>
      </p:pic>
      <p:sp>
        <p:nvSpPr>
          <p:cNvPr name="AutoShape 8" id="8"/>
          <p:cNvSpPr/>
          <p:nvPr/>
        </p:nvSpPr>
        <p:spPr>
          <a:xfrm rot="0" flipH="false" flipV="false">
            <a:off x="6096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Task Planning &amp; Breakdown</a:t>
            </a:r>
            <a:endParaRPr lang="en-US" sz="1100"/>
          </a:p>
        </p:txBody>
      </p:sp>
      <p:sp>
        <p:nvSpPr>
          <p:cNvPr name="AutoShape 9" id="9"/>
          <p:cNvSpPr/>
          <p:nvPr/>
        </p:nvSpPr>
        <p:spPr>
          <a:xfrm rot="0" flipH="false" flipV="false">
            <a:off x="6096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Decomposing complex objectives into manageable, actionable sub-tasks. This establishes a structured roadmap for the AI model to follow effectively.</a:t>
            </a:r>
            <a:endParaRPr lang="en-US" sz="1100"/>
          </a:p>
        </p:txBody>
      </p:sp>
      <p:sp>
        <p:nvSpPr>
          <p:cNvPr name="AutoShape 10" id="10"/>
          <p:cNvSpPr/>
          <p:nvPr/>
        </p:nvSpPr>
        <p:spPr>
          <a:xfrm rot="0" flipH="false" flipV="false">
            <a:off x="8763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2984500"/>
            <a:ext cx="508000" cy="508000"/>
          </a:xfrm>
          <a:prstGeom prst="rect">
            <a:avLst/>
          </a:prstGeom>
        </p:spPr>
      </p:pic>
      <p:sp>
        <p:nvSpPr>
          <p:cNvPr name="AutoShape 12" id="12"/>
          <p:cNvSpPr/>
          <p:nvPr/>
        </p:nvSpPr>
        <p:spPr>
          <a:xfrm rot="0" flipH="false" flipV="false">
            <a:off x="9017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Rigorous Quality Assessment</a:t>
            </a:r>
            <a:endParaRPr lang="en-US" sz="1100"/>
          </a:p>
        </p:txBody>
      </p:sp>
      <p:sp>
        <p:nvSpPr>
          <p:cNvPr name="AutoShape 13" id="13"/>
          <p:cNvSpPr/>
          <p:nvPr/>
        </p:nvSpPr>
        <p:spPr>
          <a:xfrm rot="0" flipH="false" flipV="false">
            <a:off x="9017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Implementing self-evaluation cycles to evaluate outputs against predefined benchmarks. This ensures high standards are maintained throughout the process.</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Task Planning</a:t>
            </a:r>
            <a:endParaRPr lang="en-US" sz="1100"/>
          </a:p>
        </p:txBody>
      </p:sp>
      <p:sp>
        <p:nvSpPr>
          <p:cNvPr name="AutoShape 3" id="3"/>
          <p:cNvSpPr/>
          <p:nvPr/>
        </p:nvSpPr>
        <p:spPr>
          <a:xfrm rot="0" flipH="false" flipV="false">
            <a:off x="762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Problem: Overwhelming Workload</a:t>
            </a:r>
            <a:endParaRPr lang="en-US" sz="1100"/>
          </a:p>
        </p:txBody>
      </p:sp>
      <p:sp>
        <p:nvSpPr>
          <p:cNvPr name="AutoShape 4" id="4"/>
          <p:cNvSpPr/>
          <p:nvPr/>
        </p:nvSpPr>
        <p:spPr>
          <a:xfrm rot="0" flipH="false" flipV="false">
            <a:off x="762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333333"/>
                </a:solidFill>
                <a:latin typeface="Noto Sans SC"/>
                <a:ea typeface="Noto Sans SC"/>
                <a:cs typeface="Noto Sans SC"/>
                <a:sym typeface="Noto Sans SC"/>
              </a:rPr>
              <a:t>Task:</a:t>
            </a:r>
            <a:r>
              <a:rPr lang="en-US" b="false" i="false" strike="noStrike" u="none" sz="1600">
                <a:solidFill>
                  <a:srgbClr val="333333"/>
                </a:solidFill>
                <a:latin typeface="Noto Sans SC"/>
                <a:ea typeface="Noto Sans SC"/>
                <a:cs typeface="Noto Sans SC"/>
                <a:sym typeface="Noto Sans SC"/>
              </a:rPr>
              <a:t>Clone a complex application like claude.ai.</a:t>
            </a:r>
            <a:endParaRPr lang="en-US" sz="1100"/>
          </a:p>
          <a:p>
            <a:pPr algn="l" marL="0" indent="0">
              <a:lnSpc>
                <a:spcPct val="133333"/>
              </a:lnSpc>
            </a:pPr>
            <a:r>
              <a:rPr lang="en-US" b="true" i="false" strike="noStrike" u="none" sz="1600">
                <a:solidFill>
                  <a:srgbClr val="333333"/>
                </a:solidFill>
                <a:latin typeface="Noto Sans SC"/>
                <a:ea typeface="Noto Sans SC"/>
                <a:cs typeface="Noto Sans SC"/>
                <a:sym typeface="Noto Sans SC"/>
              </a:rPr>
              <a:t>Challenge:</a:t>
            </a:r>
            <a:r>
              <a:rPr lang="en-US" b="false" i="false" strike="noStrike" u="none" sz="1600">
                <a:solidFill>
                  <a:srgbClr val="333333"/>
                </a:solidFill>
                <a:latin typeface="Noto Sans SC"/>
                <a:ea typeface="Noto Sans SC"/>
                <a:cs typeface="Noto Sans SC"/>
                <a:sym typeface="Noto Sans SC"/>
              </a:rPr>
              <a:t>A single Agent might rush to complete the task, leading to compromised quality and incomplete execution.</a:t>
            </a:r>
          </a:p>
        </p:txBody>
      </p:sp>
      <p:sp>
        <p:nvSpPr>
          <p:cNvPr name="AutoShape 5" id="5"/>
          <p:cNvSpPr/>
          <p:nvPr/>
        </p:nvSpPr>
        <p:spPr>
          <a:xfrm rot="0" flipH="false" flipV="false">
            <a:off x="6350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Solution: The Initializer</a:t>
            </a:r>
            <a:endParaRPr lang="en-US" sz="1100"/>
          </a:p>
        </p:txBody>
      </p:sp>
      <p:sp>
        <p:nvSpPr>
          <p:cNvPr name="AutoShape 6" id="6"/>
          <p:cNvSpPr/>
          <p:nvPr/>
        </p:nvSpPr>
        <p:spPr>
          <a:xfrm rot="0" flipH="false" flipV="false">
            <a:off x="6350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33333"/>
                </a:solidFill>
                <a:latin typeface="Noto Sans SC"/>
                <a:ea typeface="Noto Sans SC"/>
                <a:cs typeface="Noto Sans SC"/>
                <a:sym typeface="Noto Sans SC"/>
              </a:rPr>
              <a:t>01. Deconstruct Request:</a:t>
            </a:r>
            <a:r>
              <a:rPr lang="en-US" b="false" i="false" strike="noStrike" u="none" sz="1400">
                <a:solidFill>
                  <a:srgbClr val="333333"/>
                </a:solidFill>
                <a:latin typeface="Noto Sans SC"/>
                <a:ea typeface="Noto Sans SC"/>
                <a:cs typeface="Noto Sans SC"/>
                <a:sym typeface="Noto Sans SC"/>
              </a:rPr>
              <a:t>Break the monolithic request down into smaller, manageable, and actionable sub-tasks.</a:t>
            </a:r>
            <a:endParaRPr lang="en-US" sz="1100"/>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02. Write Initial Script:</a:t>
            </a:r>
            <a:r>
              <a:rPr lang="en-US" b="false" i="false" strike="noStrike" u="none" sz="1400">
                <a:solidFill>
                  <a:srgbClr val="333333"/>
                </a:solidFill>
                <a:latin typeface="Noto Sans SC"/>
                <a:ea typeface="Noto Sans SC"/>
                <a:cs typeface="Noto Sans SC"/>
                <a:sym typeface="Noto Sans SC"/>
              </a:rPr>
              <a:t>Establish a clear starting point or a foundational plan that outlines the execution flow, providing a clear path to follow.</a:t>
            </a:r>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03. Track with Progress Files:</a:t>
            </a:r>
            <a:r>
              <a:rPr lang="en-US" b="false" i="false" strike="noStrike" u="none" sz="1400">
                <a:solidFill>
                  <a:srgbClr val="333333"/>
                </a:solidFill>
                <a:latin typeface="Noto Sans SC"/>
                <a:ea typeface="Noto Sans SC"/>
                <a:cs typeface="Noto Sans SC"/>
                <a:sym typeface="Noto Sans SC"/>
              </a:rPr>
              <a:t>Implement progress-tracking files to monitor each sub-task's completion status, ensuring no critical steps are skipped.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329"/>
                </a:solidFill>
                <a:latin typeface="Noto Sans SC"/>
                <a:ea typeface="Noto Sans SC"/>
                <a:cs typeface="Noto Sans SC"/>
                <a:sym typeface="Noto Sans SC"/>
              </a:rPr>
              <a:t>Harness in Action: Task Planning Evolution</a:t>
            </a:r>
            <a:endParaRPr lang="en-US" sz="1100"/>
          </a:p>
        </p:txBody>
      </p:sp>
      <p:sp>
        <p:nvSpPr>
          <p:cNvPr name="AutoShape 4" id="4"/>
          <p:cNvSpPr/>
          <p:nvPr/>
        </p:nvSpPr>
        <p:spPr>
          <a:xfrm rot="0" flipH="false" flipV="false">
            <a:off x="762000" y="2794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Concept Evolution: Initializer → Planner</a:t>
            </a:r>
            <a:endParaRPr lang="en-US" sz="1100"/>
          </a:p>
        </p:txBody>
      </p:sp>
      <p:sp>
        <p:nvSpPr>
          <p:cNvPr name="AutoShape 5" id="5"/>
          <p:cNvSpPr/>
          <p:nvPr/>
        </p:nvSpPr>
        <p:spPr>
          <a:xfrm rot="0" flipH="false" flipV="false">
            <a:off x="762000" y="3556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3C3C3C"/>
                </a:solidFill>
                <a:latin typeface="Noto Sans SC"/>
                <a:ea typeface="Noto Sans SC"/>
                <a:cs typeface="Noto Sans SC"/>
                <a:sym typeface="Noto Sans SC"/>
              </a:rPr>
              <a:t>This workflow illustrates the paradigm shift from a monolithic 'Initializer' to a specialized 'Planner' Agent. This reflects a crucial architectural refinement: assigning a dedicated Agent to handle the critical task of deconstructing user requests into actionable steps, ensuring clarity and decomposition.</a:t>
            </a:r>
            <a:endParaRPr lang="en-US" sz="1100"/>
          </a:p>
        </p:txBody>
      </p:sp>
      <p:sp>
        <p:nvSpPr>
          <p:cNvPr name="AutoShape 6" id="6"/>
          <p:cNvSpPr/>
          <p:nvPr/>
        </p:nvSpPr>
        <p:spPr>
          <a:xfrm rot="0" flipH="false" flipV="false">
            <a:off x="6350000" y="2794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Key Advantages</a:t>
            </a:r>
            <a:endParaRPr lang="en-US" sz="1100"/>
          </a:p>
        </p:txBody>
      </p:sp>
      <p:sp>
        <p:nvSpPr>
          <p:cNvPr name="AutoShape 7" id="7"/>
          <p:cNvSpPr/>
          <p:nvPr/>
        </p:nvSpPr>
        <p:spPr>
          <a:xfrm rot="0" flipH="false" flipV="false">
            <a:off x="6350000" y="3556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329"/>
                </a:solidFill>
                <a:latin typeface="Noto Sans SC"/>
                <a:ea typeface="Noto Sans SC"/>
                <a:cs typeface="Noto Sans SC"/>
                <a:sym typeface="Noto Sans SC"/>
              </a:rPr>
              <a:t>Deconstruct Requests:</a:t>
            </a:r>
            <a:r>
              <a:rPr lang="en-US" b="false" i="false" strike="noStrike" u="none" sz="1400">
                <a:solidFill>
                  <a:srgbClr val="3C3C3C"/>
                </a:solidFill>
                <a:latin typeface="Noto Sans SC"/>
                <a:ea typeface="Noto Sans SC"/>
                <a:cs typeface="Noto Sans SC"/>
                <a:sym typeface="Noto Sans SC"/>
              </a:rPr>
              <a:t>The Planner's sole role is to break down high-level user requests into a clear, manageable list of discrete features, laying the foundation for systematic development.</a:t>
            </a:r>
            <a:r>
              <a:rPr lang="en-US" b="false" i="false" strike="noStrike" u="none" sz="1400">
                <a:solidFill>
                  <a:srgbClr val="3C3C3C"/>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1F2329"/>
                </a:solidFill>
                <a:latin typeface="Noto Sans SC"/>
                <a:ea typeface="Noto Sans SC"/>
                <a:cs typeface="Noto Sans SC"/>
                <a:sym typeface="Noto Sans SC"/>
              </a:rPr>
              <a:t>Modular Efficiency:</a:t>
            </a:r>
            <a:r>
              <a:rPr lang="en-US" b="false" i="false" strike="noStrike" u="none" sz="1400">
                <a:solidFill>
                  <a:srgbClr val="3C3C3C"/>
                </a:solidFill>
                <a:latin typeface="Noto Sans SC"/>
                <a:ea typeface="Noto Sans SC"/>
                <a:cs typeface="Noto Sans SC"/>
                <a:sym typeface="Noto Sans SC"/>
              </a:rPr>
              <a:t>By separating planning from execution, the workflow becomes more modular. The main execution Agent can focus on its task, while the Planner ensures the plan is solid.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000">
                <a:solidFill>
                  <a:srgbClr val="333333"/>
                </a:solidFill>
                <a:latin typeface="Noto Sans SC"/>
                <a:ea typeface="Noto Sans SC"/>
                <a:cs typeface="Noto Sans SC"/>
                <a:sym typeface="Noto Sans SC"/>
              </a:rPr>
              <a:t>Harness in Action: Quality Assessment</a:t>
            </a:r>
            <a:endParaRPr lang="en-US" sz="1100"/>
          </a:p>
        </p:txBody>
      </p:sp>
      <p:sp>
        <p:nvSpPr>
          <p:cNvPr name="AutoShape 4" id="4"/>
          <p:cNvSpPr/>
          <p:nvPr/>
        </p:nvSpPr>
        <p:spPr>
          <a:xfrm rot="0" flipH="false" flipV="false">
            <a:off x="762000" y="2032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The Problem with Self-Evaluation</a:t>
            </a:r>
            <a:endParaRPr lang="en-US" sz="1100"/>
          </a:p>
        </p:txBody>
      </p:sp>
      <p:sp>
        <p:nvSpPr>
          <p:cNvPr name="AutoShape 5" id="5"/>
          <p:cNvSpPr/>
          <p:nvPr/>
        </p:nvSpPr>
        <p:spPr>
          <a:xfrm rot="0" flipH="false" flipV="false">
            <a:off x="762000" y="2921000"/>
            <a:ext cx="5080000" cy="1651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175000"/>
            <a:ext cx="406400" cy="406400"/>
          </a:xfrm>
          <a:prstGeom prst="rect">
            <a:avLst/>
          </a:prstGeom>
        </p:spPr>
      </p:pic>
      <p:sp>
        <p:nvSpPr>
          <p:cNvPr name="AutoShape 7" id="7"/>
          <p:cNvSpPr/>
          <p:nvPr/>
        </p:nvSpPr>
        <p:spPr>
          <a:xfrm rot="0" flipH="false" flipV="false">
            <a:off x="1587500" y="3111500"/>
            <a:ext cx="406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33333"/>
                </a:solidFill>
                <a:latin typeface="Noto Sans SC"/>
                <a:ea typeface="Noto Sans SC"/>
                <a:cs typeface="Noto Sans SC"/>
                <a:sym typeface="Noto Sans SC"/>
              </a:rPr>
              <a:t>Human Evaluation</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555555"/>
                </a:solidFill>
                <a:latin typeface="Noto Sans SC"/>
                <a:ea typeface="Noto Sans SC"/>
                <a:cs typeface="Noto Sans SC"/>
                <a:sym typeface="Noto Sans SC"/>
              </a:rPr>
              <a:t>Slow, resource-intensive, and not scalable for automated workflows.</a:t>
            </a:r>
            <a:endParaRPr lang="en-US" sz="1100"/>
          </a:p>
        </p:txBody>
      </p:sp>
      <p:sp>
        <p:nvSpPr>
          <p:cNvPr name="AutoShape 8" id="8"/>
          <p:cNvSpPr/>
          <p:nvPr/>
        </p:nvSpPr>
        <p:spPr>
          <a:xfrm rot="0" flipH="false" flipV="false">
            <a:off x="762000" y="4826000"/>
            <a:ext cx="5080000" cy="1651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080000"/>
            <a:ext cx="406400" cy="406400"/>
          </a:xfrm>
          <a:prstGeom prst="rect">
            <a:avLst/>
          </a:prstGeom>
        </p:spPr>
      </p:pic>
      <p:sp>
        <p:nvSpPr>
          <p:cNvPr name="AutoShape 10" id="10"/>
          <p:cNvSpPr/>
          <p:nvPr/>
        </p:nvSpPr>
        <p:spPr>
          <a:xfrm rot="0" flipH="false" flipV="false">
            <a:off x="1587500" y="5016500"/>
            <a:ext cx="406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33333"/>
                </a:solidFill>
                <a:latin typeface="Noto Sans SC"/>
                <a:ea typeface="Noto Sans SC"/>
                <a:cs typeface="Noto Sans SC"/>
                <a:sym typeface="Noto Sans SC"/>
              </a:rPr>
              <a:t>Agent Self-Evaluation</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555555"/>
                </a:solidFill>
                <a:latin typeface="Noto Sans SC"/>
                <a:ea typeface="Noto Sans SC"/>
                <a:cs typeface="Noto Sans SC"/>
                <a:sym typeface="Noto Sans SC"/>
              </a:rPr>
              <a:t>Often biased and unreliable. An agent cannot be trusted to accurately grade its own work.</a:t>
            </a:r>
            <a:endParaRPr lang="en-US" sz="1100"/>
          </a:p>
        </p:txBody>
      </p:sp>
      <p:sp>
        <p:nvSpPr>
          <p:cNvPr name="AutoShape 11" id="11"/>
          <p:cNvSpPr/>
          <p:nvPr/>
        </p:nvSpPr>
        <p:spPr>
          <a:xfrm rot="0" flipH="false" flipV="false">
            <a:off x="6350000" y="2032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C5198"/>
                </a:solidFill>
                <a:latin typeface="Noto Sans SC"/>
                <a:ea typeface="Noto Sans SC"/>
                <a:cs typeface="Noto Sans SC"/>
                <a:sym typeface="Noto Sans SC"/>
              </a:rPr>
              <a:t>The Harness Solution: Independent Evaluator</a:t>
            </a:r>
            <a:endParaRPr lang="en-US" sz="1100"/>
          </a:p>
        </p:txBody>
      </p:sp>
      <p:sp>
        <p:nvSpPr>
          <p:cNvPr name="AutoShape 12" id="12"/>
          <p:cNvSpPr/>
          <p:nvPr/>
        </p:nvSpPr>
        <p:spPr>
          <a:xfrm rot="0" flipH="false" flipV="false">
            <a:off x="6350000" y="2921000"/>
            <a:ext cx="5080000" cy="3810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254000" rIns="254000" tIns="254000" bIns="25400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A dedicated Agent acts as an automated QA engineer. It evaluates code quality by flagging issues, enabling the Generator Agent to fix the deficiencies automatically. This creates a crucial feedback loop for quality control.</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The Multi-Agent Harness</a:t>
            </a:r>
            <a:endParaRPr lang="en-US" sz="1100"/>
          </a:p>
        </p:txBody>
      </p:sp>
      <p:sp>
        <p:nvSpPr>
          <p:cNvPr name="AutoShape 3" id="3"/>
          <p:cNvSpPr/>
          <p:nvPr/>
        </p:nvSpPr>
        <p:spPr>
          <a:xfrm rot="0" flipH="false" flipV="false">
            <a:off x="762000" y="19050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B7280"/>
                </a:solidFill>
                <a:latin typeface="Noto Sans SC"/>
                <a:ea typeface="Noto Sans SC"/>
                <a:cs typeface="Noto Sans SC"/>
                <a:sym typeface="Noto Sans SC"/>
              </a:rPr>
              <a:t>A System of Specialists</a:t>
            </a:r>
            <a:endParaRPr lang="en-US" sz="1100"/>
          </a:p>
        </p:txBody>
      </p:sp>
      <p:sp>
        <p:nvSpPr>
          <p:cNvPr name="AutoShape 4" id="4"/>
          <p:cNvSpPr/>
          <p:nvPr/>
        </p:nvSpPr>
        <p:spPr>
          <a:xfrm rot="0" flipH="false" flipV="false">
            <a:off x="762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01. Planner: The Architect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Takes high-level objectives and breaks them down into manageable, actionable steps, ensuring logical flow and clarity in the execution process.</a:t>
            </a:r>
          </a:p>
        </p:txBody>
      </p:sp>
      <p:sp>
        <p:nvSpPr>
          <p:cNvPr name="AutoShape 5" id="5"/>
          <p:cNvSpPr/>
          <p:nvPr/>
        </p:nvSpPr>
        <p:spPr>
          <a:xfrm rot="0" flipH="false" flipV="false">
            <a:off x="4445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02. Generator: The Creator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Executes the decomposed tasks by generating precise code, content, or solutions, following the Planner's detailed instructions.</a:t>
            </a:r>
          </a:p>
        </p:txBody>
      </p:sp>
      <p:sp>
        <p:nvSpPr>
          <p:cNvPr name="AutoShape 6" id="6"/>
          <p:cNvSpPr/>
          <p:nvPr/>
        </p:nvSpPr>
        <p:spPr>
          <a:xfrm rot="0" flipH="false" flipV="false">
            <a:off x="8128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03. Evaluator: The Quality Gatekeeper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Scrutinizes the Generator's outputs against predefined standards and provides a feedback loop to refine outputs, ensuring the final product meets all quality benchmarks.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333333"/>
                </a:solidFill>
                <a:latin typeface="Noto Sans SC"/>
                <a:ea typeface="Noto Sans SC"/>
                <a:cs typeface="Noto Sans SC"/>
                <a:sym typeface="Noto Sans SC"/>
              </a:rPr>
              <a:t>Harness in Action: The Full Workflow</a:t>
            </a:r>
            <a:endParaRPr lang="en-US" sz="1100"/>
          </a:p>
        </p:txBody>
      </p:sp>
      <p:sp>
        <p:nvSpPr>
          <p:cNvPr name="AutoShape 3" id="3"/>
          <p:cNvSpPr/>
          <p:nvPr/>
        </p:nvSpPr>
        <p:spPr>
          <a:xfrm rot="0" flipH="false" flipV="false">
            <a:off x="762000" y="215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66666"/>
                </a:solidFill>
                <a:latin typeface="Noto Sans SC"/>
                <a:ea typeface="Noto Sans SC"/>
                <a:cs typeface="Noto Sans SC"/>
                <a:sym typeface="Noto Sans SC"/>
              </a:rPr>
              <a:t>A Robust, Automated, and Self-Correcting Engineering Pipeline</a:t>
            </a:r>
            <a:endParaRPr lang="en-US" sz="1100"/>
          </a:p>
        </p:txBody>
      </p:sp>
      <p:sp>
        <p:nvSpPr>
          <p:cNvPr name="AutoShape 4" id="4"/>
          <p:cNvSpPr/>
          <p:nvPr/>
        </p:nvSpPr>
        <p:spPr>
          <a:xfrm rot="0" flipH="false" flipV="false">
            <a:off x="1270000" y="3302000"/>
            <a:ext cx="965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1: Deconstruct</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The Planner breaks down high-level user requests into a clear, manageable list of discrete features, laying the foundation for systematic development.</a:t>
            </a:r>
          </a:p>
        </p:txBody>
      </p:sp>
      <p:sp>
        <p:nvSpPr>
          <p:cNvPr name="AutoShape 5" id="5"/>
          <p:cNvSpPr/>
          <p:nvPr/>
        </p:nvSpPr>
        <p:spPr>
          <a:xfrm rot="0" flipH="false" flipV="false">
            <a:off x="1270000" y="4635500"/>
            <a:ext cx="965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2: Generate &amp; Evaluate Loop</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For each feature, the Generator proposes criteria and writes code, while the Evaluator rigorously reviews and requests modifications. This iterative cycle repeats until the code meets all quality benchmarks.</a:t>
            </a:r>
          </a:p>
        </p:txBody>
      </p:sp>
      <p:sp>
        <p:nvSpPr>
          <p:cNvPr name="AutoShape 6" id="6"/>
          <p:cNvSpPr/>
          <p:nvPr/>
        </p:nvSpPr>
        <p:spPr>
          <a:xfrm rot="0" flipH="false" flipV="false">
            <a:off x="1270000" y="5778500"/>
            <a:ext cx="965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3: Finalize &amp; Scale</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Validated features are submitted. The entire process repeats for all features, creating a robust, fully automated, and self-correcting engineering pipeline.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333333"/>
                </a:solidFill>
                <a:latin typeface="Noto Sans SC"/>
                <a:ea typeface="Noto Sans SC"/>
                <a:cs typeface="Noto Sans SC"/>
                <a:sym typeface="Noto Sans SC"/>
              </a:rPr>
              <a:t>Production-Grade AI Agent System Architecture</a:t>
            </a:r>
            <a:endParaRPr lang="en-US" sz="1100"/>
          </a:p>
        </p:txBody>
      </p:sp>
      <p:pic>
        <p:nvPicPr>
          <p:cNvPr name="Picture 4" id="4"/>
          <p:cNvPicPr>
            <a:picLocks noChangeAspect="true"/>
          </p:cNvPicPr>
          <p:nvPr/>
        </p:nvPicPr>
        <p:blipFill>
          <a:blip r:embed="rId3"/>
          <a:srcRect l="0" r="0" t="154" b="154"/>
          <a:stretch>
            <a:fillRect/>
          </a:stretch>
        </p:blipFill>
        <p:spPr>
          <a:xfrm rot="0" flipH="false" flipV="false">
            <a:off x="762000" y="1778000"/>
            <a:ext cx="5207000" cy="3556000"/>
          </a:xfrm>
          <a:prstGeom prst="rect">
            <a:avLst/>
          </a:prstGeom>
          <a:noFill/>
          <a:ln w="12700" cmpd="sng" cap="flat">
            <a:solidFill>
              <a:srgbClr val="E60012">
                <a:alpha val="20000"/>
              </a:srgbClr>
            </a:solidFill>
            <a:prstDash val="solid"/>
            <a:round/>
          </a:ln>
        </p:spPr>
      </p:pic>
      <p:sp>
        <p:nvSpPr>
          <p:cNvPr name="AutoShape 5" id="5"/>
          <p:cNvSpPr/>
          <p:nvPr/>
        </p:nvSpPr>
        <p:spPr>
          <a:xfrm rot="0" flipH="false" flipV="false">
            <a:off x="762000" y="5461000"/>
            <a:ext cx="520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55555"/>
                </a:solidFill>
                <a:latin typeface="Noto Sans SC"/>
                <a:ea typeface="Noto Sans SC"/>
                <a:cs typeface="Noto Sans SC"/>
                <a:sym typeface="Noto Sans SC"/>
              </a:rPr>
              <a:t>The architecture diagram intuitively shows the complete technical chain from external request access to internal security governance, modularizing and layering complex AI Agent capabilities to ensure the system's scalability and security.</a:t>
            </a:r>
            <a:endParaRPr lang="en-US" sz="1100"/>
          </a:p>
        </p:txBody>
      </p:sp>
      <p:cxnSp>
        <p:nvCxnSpPr>
          <p:cNvPr name="Connector 6" id="6"/>
          <p:cNvCxnSpPr/>
          <p:nvPr/>
        </p:nvCxnSpPr>
        <p:spPr>
          <a:xfrm rot="5390177" flipH="false" flipV="false">
            <a:off x="4127500" y="4121159"/>
            <a:ext cx="444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7" id="7"/>
          <p:cNvSpPr/>
          <p:nvPr/>
        </p:nvSpPr>
        <p:spPr>
          <a:xfrm rot="0" flipH="false" flipV="false">
            <a:off x="6604000" y="1778000"/>
            <a:ext cx="50800" cy="698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794500" y="17145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Access Layer: Unified Interaction Entry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As the system's interface with the outside world, it provides standardized API gateways, authentication, and multi-protocol adaptation capabilities to efficiently manage user and service requests, ensuring access stability and compatibility.</a:t>
            </a:r>
          </a:p>
        </p:txBody>
      </p:sp>
      <p:cxnSp>
        <p:nvCxnSpPr>
          <p:cNvPr name="Connector 9" id="9"/>
          <p:cNvCxnSpPr/>
          <p:nvPr/>
        </p:nvCxnSpPr>
        <p:spPr>
          <a:xfrm rot="-8594" flipH="false" flipV="false">
            <a:off x="6604008" y="28130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0" id="10"/>
          <p:cNvSpPr/>
          <p:nvPr/>
        </p:nvSpPr>
        <p:spPr>
          <a:xfrm rot="0" flipH="false" flipV="false">
            <a:off x="6604000" y="2984500"/>
            <a:ext cx="50800" cy="6985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6794500" y="29210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Agent Core Layer: Intelligent Logic Hub</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Undertakes the core intelligent capabilities of the Agent, including intention understanding, planning, memory, and tool calling, serving as the core unit for autonomous task execution and reflecting the Agent's intelligent behavior.</a:t>
            </a:r>
          </a:p>
        </p:txBody>
      </p:sp>
      <p:cxnSp>
        <p:nvCxnSpPr>
          <p:cNvPr name="Connector 12" id="12"/>
          <p:cNvCxnSpPr/>
          <p:nvPr/>
        </p:nvCxnSpPr>
        <p:spPr>
          <a:xfrm rot="-8594" flipH="false" flipV="false">
            <a:off x="6604008" y="40195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3" id="13"/>
          <p:cNvSpPr/>
          <p:nvPr/>
        </p:nvSpPr>
        <p:spPr>
          <a:xfrm rot="0" flipH="false" flipV="false">
            <a:off x="6604000" y="4191000"/>
            <a:ext cx="50800" cy="6985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6794500" y="41275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Collaboration Layer: Multi-Agent Collaborative Scheduling</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Responsible for collaboration between multiple Agents, communication coordination, and conflict resolution. Through negotiation mechanisms, it integrates decentralized Agent capabilities to achieve complex task division and collaboration, improving overall system efficiency.</a:t>
            </a:r>
          </a:p>
        </p:txBody>
      </p:sp>
      <p:cxnSp>
        <p:nvCxnSpPr>
          <p:cNvPr name="Connector 15" id="15"/>
          <p:cNvCxnSpPr/>
          <p:nvPr/>
        </p:nvCxnSpPr>
        <p:spPr>
          <a:xfrm rot="-8594" flipH="false" flipV="false">
            <a:off x="6604008" y="52006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6" id="16"/>
          <p:cNvSpPr/>
          <p:nvPr/>
        </p:nvSpPr>
        <p:spPr>
          <a:xfrm rot="0" flipH="false" flipV="false">
            <a:off x="6604000" y="5308600"/>
            <a:ext cx="2349500" cy="1270000"/>
          </a:xfrm>
          <a:prstGeom prst="roundRect">
            <a:avLst>
              <a:gd name="adj" fmla="val 0"/>
            </a:avLst>
          </a:prstGeom>
          <a:solidFill>
            <a:srgbClr val="E60012">
              <a:alpha val="5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5435600"/>
            <a:ext cx="254000" cy="254000"/>
          </a:xfrm>
          <a:prstGeom prst="rect">
            <a:avLst/>
          </a:prstGeom>
        </p:spPr>
      </p:pic>
      <p:sp>
        <p:nvSpPr>
          <p:cNvPr name="AutoShape 18" id="18"/>
          <p:cNvSpPr/>
          <p:nvPr/>
        </p:nvSpPr>
        <p:spPr>
          <a:xfrm rot="0" flipH="false" flipV="false">
            <a:off x="7048500" y="5334000"/>
            <a:ext cx="177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Tools &amp; Data Layer</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Provides the Agent with callable external tools and multi-source heterogeneous data, achieving infinite expansion of capabilities and efficient data fusion.</a:t>
            </a:r>
          </a:p>
        </p:txBody>
      </p:sp>
      <p:sp>
        <p:nvSpPr>
          <p:cNvPr name="AutoShape 19" id="19"/>
          <p:cNvSpPr/>
          <p:nvPr/>
        </p:nvSpPr>
        <p:spPr>
          <a:xfrm rot="0" flipH="false" flipV="false">
            <a:off x="9144000" y="5308600"/>
            <a:ext cx="2349500" cy="1270000"/>
          </a:xfrm>
          <a:prstGeom prst="roundRect">
            <a:avLst>
              <a:gd name="adj" fmla="val 0"/>
            </a:avLst>
          </a:prstGeom>
          <a:solidFill>
            <a:srgbClr val="E60012">
              <a:alpha val="5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71000" y="5435600"/>
            <a:ext cx="254000" cy="254000"/>
          </a:xfrm>
          <a:prstGeom prst="rect">
            <a:avLst/>
          </a:prstGeom>
        </p:spPr>
      </p:pic>
      <p:sp>
        <p:nvSpPr>
          <p:cNvPr name="AutoShape 21" id="21"/>
          <p:cNvSpPr/>
          <p:nvPr/>
        </p:nvSpPr>
        <p:spPr>
          <a:xfrm rot="0" flipH="false" flipV="false">
            <a:off x="9588500" y="5334000"/>
            <a:ext cx="177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Security Governance Layer</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Run through the entire system, covering authority control, audit trails, and comprehensive security management to ensure the system's operation is safe and controllable.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333333"/>
                </a:solidFill>
                <a:latin typeface="Noto Sans SC"/>
                <a:ea typeface="Noto Sans SC"/>
                <a:cs typeface="Noto Sans SC"/>
                <a:sym typeface="Noto Sans SC"/>
              </a:rPr>
              <a:t>Thank You</a:t>
            </a:r>
            <a:endParaRPr lang="en-US" sz="1100"/>
          </a:p>
        </p:txBody>
      </p:sp>
      <p:sp>
        <p:nvSpPr>
          <p:cNvPr name="AutoShape 4" id="4"/>
          <p:cNvSpPr/>
          <p:nvPr/>
        </p:nvSpPr>
        <p:spPr>
          <a:xfrm rot="0" flipH="false" flipV="false">
            <a:off x="5715000" y="4191000"/>
            <a:ext cx="762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4572000"/>
            <a:ext cx="10160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555555"/>
                </a:solidFill>
                <a:latin typeface="Noto Sans SC"/>
                <a:ea typeface="Noto Sans SC"/>
                <a:cs typeface="Noto Sans SC"/>
                <a:sym typeface="Noto Sans SC"/>
              </a:rPr>
              <a:t>Harness Engineering transforms AI from an intelligent 'brain' into a reliable 'employee', opening a new chapter in engineering paradigms. Thank you for your attention. Let's explore the infinite possibilities of AI engineering together.</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{"Label":"1","ContentProducer":"001191110102MACQD9K64010000","ProduceID":"7648454468603383022","ReservedCode1":"","ContentPropagator":"","PropagateID":"","ReservedCode2":""}</vt:lpwstr>
  </property>
</Properties>
</file>