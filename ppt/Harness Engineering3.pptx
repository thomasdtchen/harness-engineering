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slides/slide25.xml" Type="http://schemas.openxmlformats.org/officeDocument/2006/relationships/slide"/><Relationship Id="rId34" Target="slides/slide26.xml" Type="http://schemas.openxmlformats.org/officeDocument/2006/relationships/slide"/><Relationship Id="rId35" Target="slides/slide27.xml" Type="http://schemas.openxmlformats.org/officeDocument/2006/relationships/slide"/><Relationship Id="rId36" Target="notesSlides/notesSlide1.xml" Type="http://schemas.openxmlformats.org/officeDocument/2006/relationships/notesSlide"/><Relationship Id="rId37" Target="notesSlides/notesSlide2.xml" Type="http://schemas.openxmlformats.org/officeDocument/2006/relationships/notesSlide"/><Relationship Id="rId38" Target="notesSlides/notesSlide3.xml" Type="http://schemas.openxmlformats.org/officeDocument/2006/relationships/notesSlide"/><Relationship Id="rId39" Target="notesSlides/notesSlide4.xml" Type="http://schemas.openxmlformats.org/officeDocument/2006/relationships/notesSlide"/><Relationship Id="rId4" Target="slideMasters/slideMaster1.xml" Type="http://schemas.openxmlformats.org/officeDocument/2006/relationships/slideMaster"/><Relationship Id="rId40" Target="notesSlides/notesSlide5.xml" Type="http://schemas.openxmlformats.org/officeDocument/2006/relationships/notesSlide"/><Relationship Id="rId41" Target="notesSlides/notesSlide6.xml" Type="http://schemas.openxmlformats.org/officeDocument/2006/relationships/notesSlide"/><Relationship Id="rId42" Target="notesSlides/notesSlide7.xml" Type="http://schemas.openxmlformats.org/officeDocument/2006/relationships/notesSlide"/><Relationship Id="rId43" Target="notesSlides/notesSlide8.xml" Type="http://schemas.openxmlformats.org/officeDocument/2006/relationships/notesSlide"/><Relationship Id="rId44" Target="notesSlides/notesSlide9.xml" Type="http://schemas.openxmlformats.org/officeDocument/2006/relationships/notesSlide"/><Relationship Id="rId45" Target="notesSlides/notesSlide10.xml" Type="http://schemas.openxmlformats.org/officeDocument/2006/relationships/notesSlide"/><Relationship Id="rId46" Target="notesSlides/notesSlide11.xml" Type="http://schemas.openxmlformats.org/officeDocument/2006/relationships/notesSlide"/><Relationship Id="rId47" Target="notesSlides/notesSlide12.xml" Type="http://schemas.openxmlformats.org/officeDocument/2006/relationships/notesSlide"/><Relationship Id="rId48" Target="notesSlides/notesSlide13.xml" Type="http://schemas.openxmlformats.org/officeDocument/2006/relationships/notesSlide"/><Relationship Id="rId49" Target="notesSlides/notesSlide14.xml" Type="http://schemas.openxmlformats.org/officeDocument/2006/relationships/notesSlide"/><Relationship Id="rId50" Target="notesSlides/notesSlide15.xml" Type="http://schemas.openxmlformats.org/officeDocument/2006/relationships/notesSlide"/><Relationship Id="rId51" Target="notesSlides/notesSlide16.xml" Type="http://schemas.openxmlformats.org/officeDocument/2006/relationships/notesSlide"/><Relationship Id="rId52" Target="notesSlides/notesSlide17.xml" Type="http://schemas.openxmlformats.org/officeDocument/2006/relationships/notesSlide"/><Relationship Id="rId53" Target="notesSlides/notesSlide18.xml" Type="http://schemas.openxmlformats.org/officeDocument/2006/relationships/notesSlide"/><Relationship Id="rId54" Target="notesSlides/notesSlide19.xml" Type="http://schemas.openxmlformats.org/officeDocument/2006/relationships/notesSlide"/><Relationship Id="rId55" Target="notesSlides/notesSlide20.xml" Type="http://schemas.openxmlformats.org/officeDocument/2006/relationships/notesSlide"/><Relationship Id="rId56" Target="notesSlides/notesSlide21.xml" Type="http://schemas.openxmlformats.org/officeDocument/2006/relationships/notesSlide"/><Relationship Id="rId57" Target="notesSlides/notesSlide22.xml" Type="http://schemas.openxmlformats.org/officeDocument/2006/relationships/notesSlide"/><Relationship Id="rId58" Target="notesSlides/notesSlide23.xml" Type="http://schemas.openxmlformats.org/officeDocument/2006/relationships/notesSlide"/><Relationship Id="rId59" Target="notesSlides/notesSlide24.xml" Type="http://schemas.openxmlformats.org/officeDocument/2006/relationships/notesSlide"/><Relationship Id="rId6" Target="notesMasters/notesMaster1.xml" Type="http://schemas.openxmlformats.org/officeDocument/2006/relationships/notesMaster"/><Relationship Id="rId60" Target="notesSlides/notesSlide25.xml" Type="http://schemas.openxmlformats.org/officeDocument/2006/relationships/notesSlide"/><Relationship Id="rId61" Target="notesSlides/notesSlide26.xml" Type="http://schemas.openxmlformats.org/officeDocument/2006/relationships/notesSlide"/><Relationship Id="rId62" Target="notesSlides/notesSlide27.xml" Type="http://schemas.openxmlformats.org/officeDocument/2006/relationships/notesSlide"/><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大家好，今天我将为大家介绍AI工程领域的最新范式——Harness Engineering。随着AI从简单的对话助手演变为能够自主执行复杂任务的智能体，我们如何确保其在生产环境中的可靠性、安全性和可维护性？本次分享将深入探讨AI工程的演进历程，并详细解析Harness的核心架构，为构建下一代AI应用提供全面的工程实践指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本次分享将分为三个部分。首先，我们将回顾AI工程从Prompt到Context，再到Harness的演进历程。接着，我们将深入剖析Harness Engineering的核心架构和六大组件。最后，进行总结并展望未来趋势。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让我们进入第一部分，探讨AI工程是如何从最初的指令优化，一步步演变为构建完整运行环境的。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我们首先来看AI工程的第一个阶段：Prompt Engineering。这个阶段的核心是“如何说”，即通过优化指令来引导AI。我们运用各种技巧，如思维链、角色扮演等，希望模型能给出完美答案。这就像老师给学生出题，力求题目清晰。但这种方式的局限性也很明显，它依赖模型的“软性”理解，在复杂任务中不可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This slide introduces Context Engineering (2025), the craft of informing AI. We cover its core definition, an analogy to providing a student with maps/books, key practices like Information Asset Management, RAG, and Context Window Optimization. We also highlight a critical limitation: it solves knowledge breadth but not behavioral reliability. An example in customer support shows how injecting precise context (e.g., A08 vacuum specs) enables accurate, step-by-step responses.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Harness Engineering represents a pivotal shift in AI development. Unlike Prompt Engineering, which tweaks individual agent outputs, or basic orchestrators that manage simple workflows, Harness acts as a full Operating System for Agents. It’s built to address the hard problems of production: cost control, reliability, and observability. Think of it as the difference between having a smart employee and having a well-run company—Harness is the management system that makes AI Agents scalable and dependable.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张表格清晰地对比了三个阶段的差异。从核心问题、管理范围到约束方式，我们可以看到一个清晰的演进路径：从关注“让AI更聪明地回答”，到“让AI知道得更多”，最终到“让AI更可靠地工作”。这三个阶段并非相互替代，而是层层递进、相互包含的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现在，我们进入第二部分，深入探讨Harness Engineering的核心架构和六大组件。这部分是理解如何构建可靠AI Agent的关键。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一个典型的Harness架构可以分为三层。信息层负责提供信息，解决“AI知道什么”；执行层负责控制行为，解决“AI能做什么”；反馈层负责监控评估，解决“AI做得怎么样”。这三层共同构成了一个完整的控制与执行环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在这三层架构之下，包含了六大核心组件。它们分别是上下文架构、工具与权限、验证与护栏、记忆与状态、可观测性与反馈，以及人工介入。接下来，我们将逐一解析这些组件的作用和必要性。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首先是上下文架构。它的核心是“按需供给”，而不是把所有信息一股脑塞给模型。通过信息分层、滚动摘要等技术，我们确保模型在正确的时间获得正确的信息，这不仅能提升效率，还能有效降低成本。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The second component is Tools &amp; Permissions. AIs need to call external tools to complete tasks, but this also introduces security risks. Therefore, we must strictly manage what tools the AI can call and what permissions it has. The principle of least privilege and sandbox isolation are key practices here, ensuring the AI's capabilities are safely constrained within controllable limits.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第三，验证与护栏。这是Harness的“免疫系统”。我们在输入、执行、输出的各个环节设置检查点，就像高速公路上的护栏。它能防止恶意输入，确保输出质量，并拦截危险行为，是保证AI行为可靠的关键。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四，记忆与状态。大模型本身是“健忘”的，上下文窗口有限。因此，我们需要为它构建一个外部记忆系统。通过向量数据库等技术，我们可以实现长期记忆和情节记忆，让AI能够执行长时任务，并在系统崩溃后恢复状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Component 5 focuses on Observability &amp; Feedback. To build trust in AI systems, we need to break the "black box" by implementing robust monitoring, logging, tracing, and metrics tracking. Additionally, a feedback loop ensures the system can continuously learn and improve from real-world interactions and evaluations.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The fifth key component is the Evaluation System. It's not enough to just look at the final answer. We need to evaluate the entire process. This system uses a four-layer model to assess everything from individual components to the final business outcome. A key practice is to automate this evaluation and integrate it into the CI/CD pipeline, ensuring that every change we make doesn't break the system.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Last but not least, Cost Control. Without it, an AI Agent system can quickly become a budget black hole. This component turns token spending into a real-time, managed process. We use strategies like model routing—using cheaper, smaller models for simple tasks—and context compression to save costs. We also set up budget alerts and degradation strategies to ensure we stay within our limits.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最后，也是最重要的一环，人工介入。AI不是万能的，在高风险决策和超出其能力范围的问题上，人类的智慧和判断是不可替代的。通过设置门控执行、一键接管等机制，我们将人类置于最终的决策环中，这既是安全防线，也是AI持续学习的宝贵来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To make Harness Engineering more concrete, let's look at a real-world example from Anthropic. They break down the problem into two main parts: Task Planning and Quality Assessment. This shows a systematic approach to managing complex AI tasks.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Let's dive into Task Planning. Imagine the task is to clone a complex application like claude.ai. A naive Agent might try to do everything at once and fail. The Harness solution, called an 'Initializer', first breaks down the huge request into smaller tasks, writes a plan, and sets up a way to track progress. This is a classic example of breaking down a complex problem.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This idea evolves. The initial task of breaking down the request becomes so important that it's assigned to a specialized Agent called a 'Planner'. This 'Planner' agent's only job is to understand the user's request and create a detailed to-do list. This is a key Harness principle: separating concerns to create a more robust and manageable system.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So, putting it all together, the Harness now consists of three specialized agents: a Planner, a Generator, and an Evaluator. Each one is an expert in its own domain. This is the essence of Harness Engineering in action: building a reliable system by combining multiple specialized AI agents that work together towards a common goal.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This final diagram shows the complete workflow. The Planner breaks down the task. Then, for each small part, the Generator and Evaluator enter a loop: propose, review, generate, evaluate, and fix if needed. This continues until the piece is perfect, then they move on to the next one. This is a powerful example of how Harness Engineering creates a reliable, automated, and self-improving system.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To successfully deploy a Harness in production, it's wise to follow a three-phase roadmap. Start with an MVP to validate your core idea. Then, move to the Hardening phase to make the system robust and secure. Finally, scale it out to more scenarios, focusing on automation and cost optimization. This phased approach ensures a smooth and controlled rollout.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In conclusion, remember that the real competitive advantage in the future of AI Agents lies in the Harness. It's the foundation that turns a demo into a reliable production system. Before you start building, ask yourselves these ten critical questions. Answering them clearly will set you on the path to success and help you cross the chasm from a simple demo to a truly valuable AI application.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这张图展示了一个典型的生产级AI Agent系统架构。我们可以看到，Harness的六大组件被有机地整合到了接入层、核心层、协作层、工具数据层和安全治理层中。这直观地说明了Harness Engineering如何将一个AI模型，打造成一个功能强大、结构完整、安全可靠的生产级系统。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In summary, Harness Engineering represents the maturity of AI engineering, transforming AI from a smart "brain" into a reliable "employee". I hope today's sharing helps everyone better understand and apply this new paradigm. That's all for my presentation, thank you all!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svg" Type="http://schemas.openxmlformats.org/officeDocument/2006/relationships/image"/><Relationship Id="rId11" Target="../notesSlides/notesSlide4.xml" Type="http://schemas.openxmlformats.org/officeDocument/2006/relationships/notesSlide"/><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8.svg" Type="http://schemas.openxmlformats.org/officeDocument/2006/relationships/image"/><Relationship Id="rId11" Target="../notesSlides/notesSlide5.xml" Type="http://schemas.openxmlformats.org/officeDocument/2006/relationships/notesSlide"/><Relationship Id="rId2" Target="../media/image2.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 Id="rId9"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 Id="rId7" Target="../media/image23.png" Type="http://schemas.openxmlformats.org/officeDocument/2006/relationships/image"/><Relationship Id="rId8" Target="../media/image24.svg" Type="http://schemas.openxmlformats.org/officeDocument/2006/relationships/image"/><Relationship Id="rId9"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6.svg" Type="http://schemas.openxmlformats.org/officeDocument/2006/relationships/image"/><Relationship Id="rId11" Target="../notesSlides/notesSlide15.xml" Type="http://schemas.openxmlformats.org/officeDocument/2006/relationships/notesSlide"/><Relationship Id="rId2" Target="../media/image2.jpe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33.png" Type="http://schemas.openxmlformats.org/officeDocument/2006/relationships/image"/><Relationship Id="rId8" Target="../media/image34.svg" Type="http://schemas.openxmlformats.org/officeDocument/2006/relationships/image"/><Relationship Id="rId9" Target="../media/image3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7.png" Type="http://schemas.openxmlformats.org/officeDocument/2006/relationships/image"/><Relationship Id="rId4" Target="../media/image38.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 Id="rId7" Target="../media/image39.png" Type="http://schemas.openxmlformats.org/officeDocument/2006/relationships/image"/><Relationship Id="rId8" Target="../media/image40.svg" Type="http://schemas.openxmlformats.org/officeDocument/2006/relationships/image"/><Relationship Id="rId9"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8.svg" Type="http://schemas.openxmlformats.org/officeDocument/2006/relationships/image"/><Relationship Id="rId11" Target="../media/image45.png" Type="http://schemas.openxmlformats.org/officeDocument/2006/relationships/image"/><Relationship Id="rId12" Target="../media/image46.svg" Type="http://schemas.openxmlformats.org/officeDocument/2006/relationships/image"/><Relationship Id="rId13" Target="../media/image47.png" Type="http://schemas.openxmlformats.org/officeDocument/2006/relationships/image"/><Relationship Id="rId14" Target="../media/image48.svg" Type="http://schemas.openxmlformats.org/officeDocument/2006/relationships/image"/><Relationship Id="rId15" Target="../notesSlides/notesSlide17.xml" Type="http://schemas.openxmlformats.org/officeDocument/2006/relationships/notesSlide"/><Relationship Id="rId2" Target="../media/image2.jpeg" Type="http://schemas.openxmlformats.org/officeDocument/2006/relationships/image"/><Relationship Id="rId3" Target="../media/image41.png" Type="http://schemas.openxmlformats.org/officeDocument/2006/relationships/image"/><Relationship Id="rId4" Target="../media/image42.svg" Type="http://schemas.openxmlformats.org/officeDocument/2006/relationships/image"/><Relationship Id="rId5" Target="../media/image43.png" Type="http://schemas.openxmlformats.org/officeDocument/2006/relationships/image"/><Relationship Id="rId6" Target="../media/image44.svg" Type="http://schemas.openxmlformats.org/officeDocument/2006/relationships/image"/><Relationship Id="rId7" Target="../media/image27.png" Type="http://schemas.openxmlformats.org/officeDocument/2006/relationships/image"/><Relationship Id="rId8" Target="../media/image28.svg" Type="http://schemas.openxmlformats.org/officeDocument/2006/relationships/image"/><Relationship Id="rId9" Target="../media/image3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49.png" Type="http://schemas.openxmlformats.org/officeDocument/2006/relationships/image"/><Relationship Id="rId4" Target="../media/image50.svg" Type="http://schemas.openxmlformats.org/officeDocument/2006/relationships/image"/><Relationship Id="rId5" Target="../media/image51.png" Type="http://schemas.openxmlformats.org/officeDocument/2006/relationships/image"/><Relationship Id="rId6" Target="../media/image52.svg" Type="http://schemas.openxmlformats.org/officeDocument/2006/relationships/image"/><Relationship Id="rId7"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53.png" Type="http://schemas.openxmlformats.org/officeDocument/2006/relationships/image"/><Relationship Id="rId4" Target="../media/image54.sv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37.png" Type="http://schemas.openxmlformats.org/officeDocument/2006/relationships/image"/><Relationship Id="rId8" Target="../media/image38.svg" Type="http://schemas.openxmlformats.org/officeDocument/2006/relationships/image"/><Relationship Id="rId9" Target="../notesSlides/notesSlide24.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notesSlides/notesSlide25.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55.png" Type="http://schemas.openxmlformats.org/officeDocument/2006/relationships/image"/><Relationship Id="rId4" Target="../media/image56.png" Type="http://schemas.openxmlformats.org/officeDocument/2006/relationships/image"/><Relationship Id="rId5" Target="../media/image57.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notesSlides/notesSlide26.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8.jpeg" Type="http://schemas.openxmlformats.org/officeDocument/2006/relationships/image"/><Relationship Id="rId3" Target="../notesSlides/notesSlide27.xml" Type="http://schemas.openxmlformats.org/officeDocument/2006/relationships/notesSlide"/><Relationship Id="rId4" Target="../media/image5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0" y="2794000"/>
            <a:ext cx="12192000" cy="889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FFFFFF"/>
                </a:solidFill>
                <a:latin typeface="Noto Sans SC"/>
                <a:ea typeface="Noto Sans SC"/>
                <a:cs typeface="Noto Sans SC"/>
                <a:sym typeface="Noto Sans SC"/>
              </a:rPr>
              <a:t>Harness Engineering</a:t>
            </a:r>
            <a:endParaRPr lang="en-US" sz="1100"/>
          </a:p>
        </p:txBody>
      </p:sp>
      <p:sp>
        <p:nvSpPr>
          <p:cNvPr name="AutoShape 4" id="4"/>
          <p:cNvSpPr/>
          <p:nvPr/>
        </p:nvSpPr>
        <p:spPr>
          <a:xfrm rot="0" flipH="false" flipV="false">
            <a:off x="5461000" y="4191000"/>
            <a:ext cx="12700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0" y="45720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2000">
                <a:solidFill>
                  <a:srgbClr val="FFFFFF">
                    <a:alpha val="90196"/>
                  </a:srgbClr>
                </a:solidFill>
                <a:latin typeface="Noto Sans SC"/>
                <a:ea typeface="Noto Sans SC"/>
                <a:cs typeface="Noto Sans SC"/>
                <a:sym typeface="Noto Sans SC"/>
              </a:rPr>
              <a:t>The New Engineering Paradigm for Building Reliable AI Agents</a:t>
            </a:r>
            <a:endParaRPr lang="en-US" sz="1100"/>
          </a:p>
        </p:txBody>
      </p:sp>
      <p:sp>
        <p:nvSpPr>
          <p:cNvPr name="AutoShape 6" id="6"/>
          <p:cNvSpPr/>
          <p:nvPr/>
        </p:nvSpPr>
        <p:spPr>
          <a:xfrm rot="0" flipH="false" flipV="false">
            <a:off x="0" y="5842000"/>
            <a:ext cx="1219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FFFFFF">
                    <a:alpha val="70196"/>
                  </a:srgbClr>
                </a:solidFill>
                <a:latin typeface="Noto Sans SC"/>
                <a:ea typeface="Noto Sans SC"/>
                <a:cs typeface="Noto Sans SC"/>
                <a:sym typeface="Noto Sans SC"/>
              </a:rPr>
              <a:t>Presenter: AI Assistant | June 2026</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CONTENTS</a:t>
            </a:r>
            <a:endParaRPr lang="en-US" sz="1100"/>
          </a:p>
        </p:txBody>
      </p:sp>
      <p:sp>
        <p:nvSpPr>
          <p:cNvPr name="AutoShape 4" id="4"/>
          <p:cNvSpPr/>
          <p:nvPr/>
        </p:nvSpPr>
        <p:spPr>
          <a:xfrm rot="0" flipH="false" flipV="false">
            <a:off x="762000" y="2159000"/>
            <a:ext cx="3378200" cy="33020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159000"/>
            <a:ext cx="33782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65200" y="24130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E60012"/>
                </a:solidFill>
                <a:latin typeface="Noto Sans SC"/>
                <a:ea typeface="Noto Sans SC"/>
                <a:cs typeface="Noto Sans SC"/>
                <a:sym typeface="Noto Sans SC"/>
              </a:rPr>
              <a:t>01</a:t>
            </a:r>
            <a:endParaRPr lang="en-US" sz="1100"/>
          </a:p>
        </p:txBody>
      </p:sp>
      <p:cxnSp>
        <p:nvCxnSpPr>
          <p:cNvPr name="Connector 7" id="7"/>
          <p:cNvCxnSpPr/>
          <p:nvPr/>
        </p:nvCxnSpPr>
        <p:spPr>
          <a:xfrm rot="-14691" flipH="false" flipV="false">
            <a:off x="965214" y="3422650"/>
            <a:ext cx="2971800" cy="12700"/>
          </a:xfrm>
          <a:prstGeom prst="straightConnector1">
            <a:avLst/>
          </a:prstGeom>
          <a:solidFill>
            <a:srgbClr val="DEE0E3">
              <a:alpha val="100000"/>
            </a:srgbClr>
          </a:solidFill>
          <a:ln w="12700" cmpd="sng" cap="flat">
            <a:solidFill>
              <a:srgbClr val="333333">
                <a:alpha val="15000"/>
              </a:srgbClr>
            </a:solidFill>
            <a:prstDash val="solid"/>
            <a:round/>
            <a:headEnd type="none" w="med" len="med"/>
            <a:tailEnd type="none" w="med" len="med"/>
          </a:ln>
        </p:spPr>
      </p:cxnSp>
      <p:sp>
        <p:nvSpPr>
          <p:cNvPr name="AutoShape 8" id="8"/>
          <p:cNvSpPr/>
          <p:nvPr/>
        </p:nvSpPr>
        <p:spPr>
          <a:xfrm rot="0" flipH="false" flipV="false">
            <a:off x="965200" y="36195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The Evolution of AI Engineering: From Instruction to Environment</a:t>
            </a:r>
            <a:endParaRPr lang="en-US" sz="1100"/>
          </a:p>
        </p:txBody>
      </p:sp>
      <p:sp>
        <p:nvSpPr>
          <p:cNvPr name="AutoShape 9" id="9"/>
          <p:cNvSpPr/>
          <p:nvPr/>
        </p:nvSpPr>
        <p:spPr>
          <a:xfrm rot="0" flipH="false" flipV="false">
            <a:off x="965200" y="4572000"/>
            <a:ext cx="29718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Reviewing the evolution from Prompt Engineering instruction optimization, to Context Engineering context construction, and finally to the systematic engineering paradigm of Harness Engineering.</a:t>
            </a:r>
            <a:endParaRPr lang="en-US" sz="1100"/>
          </a:p>
        </p:txBody>
      </p:sp>
      <p:sp>
        <p:nvSpPr>
          <p:cNvPr name="AutoShape 10" id="10"/>
          <p:cNvSpPr/>
          <p:nvPr/>
        </p:nvSpPr>
        <p:spPr>
          <a:xfrm rot="0" flipH="false" flipV="false">
            <a:off x="4406900" y="2159000"/>
            <a:ext cx="3378200" cy="33020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406900" y="2159000"/>
            <a:ext cx="33782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610100" y="24130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E60012"/>
                </a:solidFill>
                <a:latin typeface="Noto Sans SC"/>
                <a:ea typeface="Noto Sans SC"/>
                <a:cs typeface="Noto Sans SC"/>
                <a:sym typeface="Noto Sans SC"/>
              </a:rPr>
              <a:t>02</a:t>
            </a:r>
            <a:endParaRPr lang="en-US" sz="1100"/>
          </a:p>
        </p:txBody>
      </p:sp>
      <p:cxnSp>
        <p:nvCxnSpPr>
          <p:cNvPr name="Connector 13" id="13"/>
          <p:cNvCxnSpPr/>
          <p:nvPr/>
        </p:nvCxnSpPr>
        <p:spPr>
          <a:xfrm rot="-14691" flipH="false" flipV="false">
            <a:off x="4610114" y="3422650"/>
            <a:ext cx="2971800" cy="12700"/>
          </a:xfrm>
          <a:prstGeom prst="straightConnector1">
            <a:avLst/>
          </a:prstGeom>
          <a:solidFill>
            <a:srgbClr val="DEE0E3">
              <a:alpha val="100000"/>
            </a:srgbClr>
          </a:solidFill>
          <a:ln w="12700" cmpd="sng" cap="flat">
            <a:solidFill>
              <a:srgbClr val="333333">
                <a:alpha val="15000"/>
              </a:srgbClr>
            </a:solidFill>
            <a:prstDash val="solid"/>
            <a:round/>
            <a:headEnd type="none" w="med" len="med"/>
            <a:tailEnd type="none" w="med" len="med"/>
          </a:ln>
        </p:spPr>
      </p:cxnSp>
      <p:sp>
        <p:nvSpPr>
          <p:cNvPr name="AutoShape 14" id="14"/>
          <p:cNvSpPr/>
          <p:nvPr/>
        </p:nvSpPr>
        <p:spPr>
          <a:xfrm rot="0" flipH="false" flipV="false">
            <a:off x="4610100" y="36195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Harness Engineering: Core Architecture</a:t>
            </a:r>
            <a:endParaRPr lang="en-US" sz="1100"/>
          </a:p>
        </p:txBody>
      </p:sp>
      <p:sp>
        <p:nvSpPr>
          <p:cNvPr name="AutoShape 15" id="15"/>
          <p:cNvSpPr/>
          <p:nvPr/>
        </p:nvSpPr>
        <p:spPr>
          <a:xfrm rot="0" flipH="false" flipV="false">
            <a:off x="4610100" y="4572000"/>
            <a:ext cx="29718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An in-depth analysis of the Overview of the Three-Layer Model ("Model Layer-Framework Layer-Application Layer"), and a Detailed Explanation of the Six Core Components such as Prompt and Context.</a:t>
            </a:r>
            <a:endParaRPr lang="en-US" sz="1100"/>
          </a:p>
        </p:txBody>
      </p:sp>
      <p:sp>
        <p:nvSpPr>
          <p:cNvPr name="AutoShape 16" id="16"/>
          <p:cNvSpPr/>
          <p:nvPr/>
        </p:nvSpPr>
        <p:spPr>
          <a:xfrm rot="0" flipH="false" flipV="false">
            <a:off x="8051800" y="2159000"/>
            <a:ext cx="3378200" cy="33020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051800" y="2159000"/>
            <a:ext cx="33782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255000" y="24130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E60012"/>
                </a:solidFill>
                <a:latin typeface="Noto Sans SC"/>
                <a:ea typeface="Noto Sans SC"/>
                <a:cs typeface="Noto Sans SC"/>
                <a:sym typeface="Noto Sans SC"/>
              </a:rPr>
              <a:t>03</a:t>
            </a:r>
            <a:endParaRPr lang="en-US" sz="1100"/>
          </a:p>
        </p:txBody>
      </p:sp>
      <p:cxnSp>
        <p:nvCxnSpPr>
          <p:cNvPr name="Connector 19" id="19"/>
          <p:cNvCxnSpPr/>
          <p:nvPr/>
        </p:nvCxnSpPr>
        <p:spPr>
          <a:xfrm rot="-14691" flipH="false" flipV="false">
            <a:off x="8255014" y="3422650"/>
            <a:ext cx="2971800" cy="12700"/>
          </a:xfrm>
          <a:prstGeom prst="straightConnector1">
            <a:avLst/>
          </a:prstGeom>
          <a:solidFill>
            <a:srgbClr val="DEE0E3">
              <a:alpha val="100000"/>
            </a:srgbClr>
          </a:solidFill>
          <a:ln w="12700" cmpd="sng" cap="flat">
            <a:solidFill>
              <a:srgbClr val="333333">
                <a:alpha val="15000"/>
              </a:srgbClr>
            </a:solidFill>
            <a:prstDash val="solid"/>
            <a:round/>
            <a:headEnd type="none" w="med" len="med"/>
            <a:tailEnd type="none" w="med" len="med"/>
          </a:ln>
        </p:spPr>
      </p:cxnSp>
      <p:sp>
        <p:nvSpPr>
          <p:cNvPr name="AutoShape 20" id="20"/>
          <p:cNvSpPr/>
          <p:nvPr/>
        </p:nvSpPr>
        <p:spPr>
          <a:xfrm rot="0" flipH="false" flipV="false">
            <a:off x="8255000" y="36195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Summary and Outlook</a:t>
            </a:r>
            <a:endParaRPr lang="en-US" sz="1100"/>
          </a:p>
        </p:txBody>
      </p:sp>
      <p:sp>
        <p:nvSpPr>
          <p:cNvPr name="AutoShape 21" id="21"/>
          <p:cNvSpPr/>
          <p:nvPr/>
        </p:nvSpPr>
        <p:spPr>
          <a:xfrm rot="0" flipH="false" flipV="false">
            <a:off x="8255000" y="4572000"/>
            <a:ext cx="29718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Reviewing the Review of Core Ideas of Harness Engineering, exploring Future Trends in AI engineering, and the implementation challenges and opportunities in practical business scenarios.</a:t>
            </a:r>
            <a:endParaRPr lang="en-US" sz="1100"/>
          </a:p>
        </p:txBody>
      </p:sp>
      <p:sp>
        <p:nvSpPr>
          <p:cNvPr name="AutoShape 22" id="22"/>
          <p:cNvSpPr/>
          <p:nvPr/>
        </p:nvSpPr>
        <p:spPr>
          <a:xfrm rot="0" flipH="false" flipV="false">
            <a:off x="762000" y="5969000"/>
            <a:ext cx="10668000" cy="5080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889000" y="6045200"/>
            <a:ext cx="1041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333333"/>
                </a:solidFill>
                <a:latin typeface="Noto Sans SC"/>
                <a:ea typeface="Noto Sans SC"/>
                <a:cs typeface="Noto Sans SC"/>
                <a:sym typeface="Noto Sans SC"/>
              </a:rPr>
              <a:t>Reconstructing the development process of AI applications with a systematic mindset, moving intelligent technology from experimentation to reliable and manageable engineering practice.</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778000"/>
            <a:ext cx="12192000" cy="279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0000">
                <a:solidFill>
                  <a:srgbClr val="E60012">
                    <a:alpha val="20000"/>
                  </a:srgbClr>
                </a:solidFill>
                <a:latin typeface="Poppins"/>
                <a:ea typeface="Poppins"/>
                <a:cs typeface="Poppins"/>
                <a:sym typeface="Poppins"/>
              </a:rPr>
              <a:t>01</a:t>
            </a:r>
            <a:endParaRPr lang="en-US" sz="1100"/>
          </a:p>
        </p:txBody>
      </p:sp>
      <p:sp>
        <p:nvSpPr>
          <p:cNvPr name="AutoShape 3" id="3"/>
          <p:cNvSpPr/>
          <p:nvPr/>
        </p:nvSpPr>
        <p:spPr>
          <a:xfrm rot="0" flipH="false" flipV="false">
            <a:off x="0" y="50165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800">
                <a:solidFill>
                  <a:srgbClr val="333333"/>
                </a:solidFill>
                <a:latin typeface="Poppins"/>
                <a:ea typeface="Poppins"/>
                <a:cs typeface="Poppins"/>
                <a:sym typeface="Poppins"/>
              </a:rPr>
              <a:t>The Evolution of AI Engineering</a:t>
            </a:r>
            <a:endParaRPr lang="en-US" sz="1100"/>
          </a:p>
        </p:txBody>
      </p:sp>
      <p:sp>
        <p:nvSpPr>
          <p:cNvPr name="AutoShape 4" id="4"/>
          <p:cNvSpPr/>
          <p:nvPr/>
        </p:nvSpPr>
        <p:spPr>
          <a:xfrm rot="0" flipH="false" flipV="false">
            <a:off x="5778500" y="5969000"/>
            <a:ext cx="6350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6223000"/>
            <a:ext cx="10160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666666"/>
                </a:solidFill>
                <a:latin typeface="Poppins"/>
                <a:ea typeface="Poppins"/>
                <a:cs typeface="Poppins"/>
                <a:sym typeface="Poppins"/>
              </a:rPr>
              <a:t>The technological leap from optimizing individual instructions to building a full-stack intelligent environment.</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333333"/>
                </a:solidFill>
                <a:latin typeface="Noto Sans SC"/>
                <a:ea typeface="Noto Sans SC"/>
                <a:cs typeface="Noto Sans SC"/>
                <a:sym typeface="Noto Sans SC"/>
              </a:rPr>
              <a:t>Prompt Engineering (2022-2024): The Art of Conversing with AI</a:t>
            </a:r>
            <a:endParaRPr lang="en-US" sz="1100"/>
          </a:p>
        </p:txBody>
      </p:sp>
      <p:sp>
        <p:nvSpPr>
          <p:cNvPr name="AutoShape 4" id="4"/>
          <p:cNvSpPr/>
          <p:nvPr/>
        </p:nvSpPr>
        <p:spPr>
          <a:xfrm rot="0" flipH="false" flipV="false">
            <a:off x="762000" y="1905000"/>
            <a:ext cx="5207000" cy="1905000"/>
          </a:xfrm>
          <a:prstGeom prst="roundRect">
            <a:avLst>
              <a:gd name="adj" fmla="val 0"/>
            </a:avLst>
          </a:prstGeom>
          <a:solidFill>
            <a:srgbClr val="FFFFFF">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905000"/>
            <a:ext cx="76200" cy="19050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095500"/>
            <a:ext cx="304800" cy="304800"/>
          </a:xfrm>
          <a:prstGeom prst="rect">
            <a:avLst/>
          </a:prstGeom>
        </p:spPr>
      </p:pic>
      <p:sp>
        <p:nvSpPr>
          <p:cNvPr name="AutoShape 7" id="7"/>
          <p:cNvSpPr/>
          <p:nvPr/>
        </p:nvSpPr>
        <p:spPr>
          <a:xfrm rot="0" flipH="false" flipV="false">
            <a:off x="1460500" y="20574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Core Definition: The 'Instruction Manual' for Guiding AI</a:t>
            </a:r>
            <a:endParaRPr lang="en-US" sz="1100"/>
          </a:p>
        </p:txBody>
      </p:sp>
      <p:cxnSp>
        <p:nvCxnSpPr>
          <p:cNvPr name="Connector 8" id="8"/>
          <p:cNvCxnSpPr/>
          <p:nvPr/>
        </p:nvCxnSpPr>
        <p:spPr>
          <a:xfrm rot="-9291" flipH="false" flipV="false">
            <a:off x="1016009" y="2597150"/>
            <a:ext cx="46990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9" id="9"/>
          <p:cNvSpPr/>
          <p:nvPr/>
        </p:nvSpPr>
        <p:spPr>
          <a:xfrm rot="0" flipH="false" flipV="false">
            <a:off x="1016000" y="2794000"/>
            <a:ext cx="469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As the first stage of AI engineering, its core is to guide the model to generate high-quality outputs through well-designed instructions (Prompts), ensuring the model's reasoning and output align with expectations.</a:t>
            </a:r>
            <a:endParaRPr lang="en-US" sz="1100"/>
          </a:p>
        </p:txBody>
      </p:sp>
      <p:sp>
        <p:nvSpPr>
          <p:cNvPr name="AutoShape 10" id="10"/>
          <p:cNvSpPr/>
          <p:nvPr/>
        </p:nvSpPr>
        <p:spPr>
          <a:xfrm rot="0" flipH="false" flipV="false">
            <a:off x="6223000" y="1905000"/>
            <a:ext cx="5207000" cy="1905000"/>
          </a:xfrm>
          <a:prstGeom prst="roundRect">
            <a:avLst>
              <a:gd name="adj" fmla="val 0"/>
            </a:avLst>
          </a:prstGeom>
          <a:solidFill>
            <a:srgbClr val="FFFFFF">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223000" y="1905000"/>
            <a:ext cx="76200" cy="19050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2095500"/>
            <a:ext cx="304800" cy="304800"/>
          </a:xfrm>
          <a:prstGeom prst="rect">
            <a:avLst/>
          </a:prstGeom>
        </p:spPr>
      </p:pic>
      <p:sp>
        <p:nvSpPr>
          <p:cNvPr name="AutoShape 13" id="13"/>
          <p:cNvSpPr/>
          <p:nvPr/>
        </p:nvSpPr>
        <p:spPr>
          <a:xfrm rot="0" flipH="false" flipV="false">
            <a:off x="6921500" y="20574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Core Strategy: Optimizing Expression and Applying Techniques</a:t>
            </a:r>
            <a:endParaRPr lang="en-US" sz="1100"/>
          </a:p>
        </p:txBody>
      </p:sp>
      <p:cxnSp>
        <p:nvCxnSpPr>
          <p:cNvPr name="Connector 14" id="14"/>
          <p:cNvCxnSpPr/>
          <p:nvPr/>
        </p:nvCxnSpPr>
        <p:spPr>
          <a:xfrm rot="-9291" flipH="false" flipV="false">
            <a:off x="6477009" y="2597150"/>
            <a:ext cx="46990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15" id="15"/>
          <p:cNvSpPr/>
          <p:nvPr/>
        </p:nvSpPr>
        <p:spPr>
          <a:xfrm rot="0" flipH="false" flipV="false">
            <a:off x="6477000" y="2794000"/>
            <a:ext cx="469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Focus on precise intent expression, using techniques like Chain-of-Thought and Few-shot examples to enhance the model's performance and output quality.</a:t>
            </a:r>
            <a:endParaRPr lang="en-US" sz="1100"/>
          </a:p>
        </p:txBody>
      </p:sp>
      <p:sp>
        <p:nvSpPr>
          <p:cNvPr name="AutoShape 16" id="16"/>
          <p:cNvSpPr/>
          <p:nvPr/>
        </p:nvSpPr>
        <p:spPr>
          <a:xfrm rot="0" flipH="false" flipV="false">
            <a:off x="762000" y="4191000"/>
            <a:ext cx="5207000" cy="1905000"/>
          </a:xfrm>
          <a:prstGeom prst="roundRect">
            <a:avLst>
              <a:gd name="adj" fmla="val 0"/>
            </a:avLst>
          </a:prstGeom>
          <a:solidFill>
            <a:srgbClr val="FFFFFF">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762000" y="4191000"/>
            <a:ext cx="76200" cy="19050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381500"/>
            <a:ext cx="304800" cy="304800"/>
          </a:xfrm>
          <a:prstGeom prst="rect">
            <a:avLst/>
          </a:prstGeom>
        </p:spPr>
      </p:pic>
      <p:sp>
        <p:nvSpPr>
          <p:cNvPr name="AutoShape 19" id="19"/>
          <p:cNvSpPr/>
          <p:nvPr/>
        </p:nvSpPr>
        <p:spPr>
          <a:xfrm rot="0" flipH="false" flipV="false">
            <a:off x="1460500" y="43434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Analogy: Giving Exam Questions to a Student</a:t>
            </a:r>
            <a:endParaRPr lang="en-US" sz="1100"/>
          </a:p>
        </p:txBody>
      </p:sp>
      <p:cxnSp>
        <p:nvCxnSpPr>
          <p:cNvPr name="Connector 20" id="20"/>
          <p:cNvCxnSpPr/>
          <p:nvPr/>
        </p:nvCxnSpPr>
        <p:spPr>
          <a:xfrm rot="-9291" flipH="false" flipV="false">
            <a:off x="1016009" y="4883150"/>
            <a:ext cx="46990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21" id="21"/>
          <p:cNvSpPr/>
          <p:nvPr/>
        </p:nvSpPr>
        <p:spPr>
          <a:xfrm rot="0" flipH="false" flipV="false">
            <a:off x="1016000" y="5080000"/>
            <a:ext cx="469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Similar to a teacher designing exam questions, the goal of a Prompt engineer is to create the clearest questions to stimulate the model's potential.</a:t>
            </a:r>
            <a:endParaRPr lang="en-US" sz="1100"/>
          </a:p>
        </p:txBody>
      </p:sp>
      <p:sp>
        <p:nvSpPr>
          <p:cNvPr name="AutoShape 22" id="22"/>
          <p:cNvSpPr/>
          <p:nvPr/>
        </p:nvSpPr>
        <p:spPr>
          <a:xfrm rot="0" flipH="false" flipV="false">
            <a:off x="6223000" y="4191000"/>
            <a:ext cx="5207000" cy="1905000"/>
          </a:xfrm>
          <a:prstGeom prst="roundRect">
            <a:avLst>
              <a:gd name="adj" fmla="val 0"/>
            </a:avLst>
          </a:prstGeom>
          <a:solidFill>
            <a:srgbClr val="FFFFFF">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6223000" y="4191000"/>
            <a:ext cx="76200" cy="19050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77000" y="4381500"/>
            <a:ext cx="304800" cy="304800"/>
          </a:xfrm>
          <a:prstGeom prst="rect">
            <a:avLst/>
          </a:prstGeom>
        </p:spPr>
      </p:pic>
      <p:sp>
        <p:nvSpPr>
          <p:cNvPr name="AutoShape 25" id="25"/>
          <p:cNvSpPr/>
          <p:nvPr/>
        </p:nvSpPr>
        <p:spPr>
          <a:xfrm rot="0" flipH="false" flipV="false">
            <a:off x="6921500" y="43434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Inherent Limitation: The Fragility of Soft Constraints</a:t>
            </a:r>
            <a:endParaRPr lang="en-US" sz="1100"/>
          </a:p>
        </p:txBody>
      </p:sp>
      <p:cxnSp>
        <p:nvCxnSpPr>
          <p:cNvPr name="Connector 26" id="26"/>
          <p:cNvCxnSpPr/>
          <p:nvPr/>
        </p:nvCxnSpPr>
        <p:spPr>
          <a:xfrm rot="-9291" flipH="false" flipV="false">
            <a:off x="6477009" y="4883150"/>
            <a:ext cx="46990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27" id="27"/>
          <p:cNvSpPr/>
          <p:nvPr/>
        </p:nvSpPr>
        <p:spPr>
          <a:xfrm rot="0" flipH="false" flipV="false">
            <a:off x="6477000" y="5080000"/>
            <a:ext cx="469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Effectiveness is highly dependent on the model's understanding. The model may 'forget' or 'ignore' instructions, making it fragile for complex tasks.</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5000"/>
            </a:srgbClr>
          </a:solidFill>
          <a:ln cmpd="sng" cap="flat">
            <a:solidFill>
              <a:srgbClr val="E6CFCF">
                <a:alpha val="45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333333"/>
                </a:solidFill>
                <a:latin typeface="Noto Sans SC"/>
                <a:ea typeface="Noto Sans SC"/>
                <a:cs typeface="Noto Sans SC"/>
                <a:sym typeface="Noto Sans SC"/>
              </a:rPr>
              <a:t>Context Engineering (2025): The Craft of Informing AI</a:t>
            </a:r>
            <a:endParaRPr lang="en-US" sz="1100"/>
          </a:p>
        </p:txBody>
      </p:sp>
      <p:sp>
        <p:nvSpPr>
          <p:cNvPr name="AutoShape 4" id="4"/>
          <p:cNvSpPr/>
          <p:nvPr/>
        </p:nvSpPr>
        <p:spPr>
          <a:xfrm rot="0" flipH="false" flipV="false">
            <a:off x="762000" y="1524000"/>
            <a:ext cx="5080000" cy="1841500"/>
          </a:xfrm>
          <a:prstGeom prst="roundRect">
            <a:avLst>
              <a:gd name="adj" fmla="val 0"/>
            </a:avLst>
          </a:prstGeom>
          <a:solidFill>
            <a:srgbClr val="FFFFFF">
              <a:alpha val="90000"/>
            </a:srgbClr>
          </a:solidFill>
          <a:ln cmpd="sng" cap="flat">
            <a:solidFill>
              <a:srgbClr val="E6CFCF">
                <a:alpha val="90000"/>
              </a:srgbClr>
            </a:solidFill>
            <a:prstDash val="solid"/>
            <a:round/>
          </a:ln>
        </p:spPr>
        <p:txBody>
          <a:bodyPr anchor="ctr" rtlCol="false" vert="horz" lIns="63500" rIns="63500" tIns="63500" bIns="63500"/>
          <a:lstStyle/>
          <a:p>
            <a:pPr algn="ctr">
              <a:defRPr/>
            </a:pPr>
            <a:endParaRPr/>
          </a:p>
        </p:txBody>
      </p:sp>
      <p:sp>
        <p:nvSpPr>
          <p:cNvPr name="AutoShape 5" id="5"/>
          <p:cNvSpPr/>
          <p:nvPr/>
        </p:nvSpPr>
        <p:spPr>
          <a:xfrm rot="0" flipH="false" flipV="false">
            <a:off x="762000" y="1524000"/>
            <a:ext cx="76200" cy="1841500"/>
          </a:xfrm>
          <a:prstGeom prst="roundRect">
            <a:avLst>
              <a:gd name="adj" fmla="val 0"/>
            </a:avLst>
          </a:prstGeom>
          <a:solidFill>
            <a:srgbClr val="E60012">
              <a:alpha val="10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6" id="6"/>
          <p:cNvSpPr/>
          <p:nvPr/>
        </p:nvSpPr>
        <p:spPr>
          <a:xfrm rot="0" flipH="false" flipV="false">
            <a:off x="1016000" y="1651000"/>
            <a:ext cx="457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E60012"/>
                </a:solidFill>
                <a:latin typeface="Noto Sans SC"/>
                <a:ea typeface="Noto Sans SC"/>
                <a:cs typeface="Noto Sans SC"/>
                <a:sym typeface="Noto Sans SC"/>
              </a:rPr>
              <a:t>01 / Core Definition: Answering 'What the Model Needs to Know'</a:t>
            </a:r>
            <a:endParaRPr lang="en-US" sz="1100"/>
          </a:p>
        </p:txBody>
      </p:sp>
      <p:cxnSp>
        <p:nvCxnSpPr>
          <p:cNvPr name="Connector 7" id="7"/>
          <p:cNvCxnSpPr/>
          <p:nvPr/>
        </p:nvCxnSpPr>
        <p:spPr>
          <a:xfrm rot="-9549" flipH="false" flipV="false">
            <a:off x="1016009" y="2216150"/>
            <a:ext cx="4572000" cy="12700"/>
          </a:xfrm>
          <a:prstGeom prst="straightConnector1">
            <a:avLst/>
          </a:prstGeom>
          <a:solidFill>
            <a:srgbClr val="DEE0E3">
              <a:alpha val="100000"/>
            </a:srgbClr>
          </a:solidFill>
          <a:ln w="12700" cmpd="sng" cap="flat">
            <a:solidFill>
              <a:srgbClr val="333333">
                <a:alpha val="20000"/>
              </a:srgbClr>
            </a:solidFill>
            <a:prstDash val="solid"/>
            <a:round/>
            <a:headEnd type="none" w="med" len="med"/>
            <a:tailEnd type="none" w="med" len="med"/>
          </a:ln>
        </p:spPr>
      </p:cxnSp>
      <p:sp>
        <p:nvSpPr>
          <p:cNvPr name="AutoShape 8" id="8"/>
          <p:cNvSpPr/>
          <p:nvPr/>
        </p:nvSpPr>
        <p:spPr>
          <a:xfrm rot="0" flipH="false" flipV="false">
            <a:off x="1016000" y="2349500"/>
            <a:ext cx="4572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33333"/>
                </a:solidFill>
                <a:latin typeface="Noto Sans SC"/>
                <a:ea typeface="Noto Sans SC"/>
                <a:cs typeface="Noto Sans SC"/>
                <a:sym typeface="Noto Sans SC"/>
              </a:rPr>
              <a:t>The second stage of AI engineering, pioneered by experts like Andrej Karpathy, focuses on constructing and managing the contextual information the model needs during inference.</a:t>
            </a:r>
            <a:endParaRPr lang="en-US" sz="1100"/>
          </a:p>
        </p:txBody>
      </p:sp>
      <p:sp>
        <p:nvSpPr>
          <p:cNvPr name="AutoShape 9" id="9"/>
          <p:cNvSpPr/>
          <p:nvPr/>
        </p:nvSpPr>
        <p:spPr>
          <a:xfrm rot="0" flipH="false" flipV="false">
            <a:off x="762000" y="3619500"/>
            <a:ext cx="5080000" cy="1714500"/>
          </a:xfrm>
          <a:prstGeom prst="roundRect">
            <a:avLst>
              <a:gd name="adj" fmla="val 0"/>
            </a:avLst>
          </a:prstGeom>
          <a:solidFill>
            <a:srgbClr val="FFFFFF">
              <a:alpha val="90000"/>
            </a:srgbClr>
          </a:solidFill>
          <a:ln cmpd="sng" cap="flat">
            <a:solidFill>
              <a:srgbClr val="E6CFCF">
                <a:alpha val="90000"/>
              </a:srgbClr>
            </a:solidFill>
            <a:prstDash val="solid"/>
            <a:round/>
          </a:ln>
        </p:spPr>
        <p:txBody>
          <a:bodyPr anchor="ctr" rtlCol="false" vert="horz" lIns="63500" rIns="63500" tIns="63500" bIns="63500"/>
          <a:lstStyle/>
          <a:p>
            <a:pPr algn="ctr">
              <a:defRPr/>
            </a:pPr>
            <a:endParaRPr/>
          </a:p>
        </p:txBody>
      </p:sp>
      <p:sp>
        <p:nvSpPr>
          <p:cNvPr name="AutoShape 10" id="10"/>
          <p:cNvSpPr/>
          <p:nvPr/>
        </p:nvSpPr>
        <p:spPr>
          <a:xfrm rot="0" flipH="false" flipV="false">
            <a:off x="762000" y="3619500"/>
            <a:ext cx="76200" cy="1714500"/>
          </a:xfrm>
          <a:prstGeom prst="roundRect">
            <a:avLst>
              <a:gd name="adj" fmla="val 0"/>
            </a:avLst>
          </a:prstGeom>
          <a:solidFill>
            <a:srgbClr val="E60012">
              <a:alpha val="70000"/>
            </a:srgbClr>
          </a:solidFill>
          <a:ln w="25400" cmpd="sng" cap="flat">
            <a:noFill/>
            <a:prstDash val="solid"/>
            <a:round/>
          </a:ln>
        </p:spPr>
        <p:txBody>
          <a:bodyPr anchor="ctr" rtlCol="false" vert="horz" lIns="63500" rIns="63500" tIns="63500" bIns="63500"/>
          <a:lstStyle/>
          <a:p>
            <a:pPr algn="ctr">
              <a:defRPr/>
            </a:pPr>
            <a:endParaRPr/>
          </a:p>
        </p:txBody>
      </p:sp>
      <p:pic>
        <p:nvPicPr>
          <p:cNvPr name="Picture 11" id="11"/>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3746500"/>
            <a:ext cx="254000" cy="254000"/>
          </a:xfrm>
          <a:prstGeom prst="rect">
            <a:avLst/>
          </a:prstGeom>
        </p:spPr>
      </p:pic>
      <p:sp>
        <p:nvSpPr>
          <p:cNvPr name="AutoShape 12" id="12"/>
          <p:cNvSpPr/>
          <p:nvPr/>
        </p:nvSpPr>
        <p:spPr>
          <a:xfrm rot="0" flipH="false" flipV="false">
            <a:off x="1397000" y="3746500"/>
            <a:ext cx="431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Analogy: Providing a 'Map and Reference Books' to a Student</a:t>
            </a:r>
            <a:endParaRPr lang="en-US" sz="1100"/>
          </a:p>
        </p:txBody>
      </p:sp>
      <p:cxnSp>
        <p:nvCxnSpPr>
          <p:cNvPr name="Connector 13" id="13"/>
          <p:cNvCxnSpPr/>
          <p:nvPr/>
        </p:nvCxnSpPr>
        <p:spPr>
          <a:xfrm rot="-9549" flipH="false" flipV="false">
            <a:off x="1016009" y="4311650"/>
            <a:ext cx="4572000" cy="12700"/>
          </a:xfrm>
          <a:prstGeom prst="straightConnector1">
            <a:avLst/>
          </a:prstGeom>
          <a:solidFill>
            <a:srgbClr val="DEE0E3">
              <a:alpha val="100000"/>
            </a:srgbClr>
          </a:solidFill>
          <a:ln w="12700" cmpd="sng" cap="flat">
            <a:solidFill>
              <a:srgbClr val="333333">
                <a:alpha val="20000"/>
              </a:srgbClr>
            </a:solidFill>
            <a:prstDash val="solid"/>
            <a:round/>
            <a:headEnd type="none" w="med" len="med"/>
            <a:tailEnd type="none" w="med" len="med"/>
          </a:ln>
        </p:spPr>
      </p:cxnSp>
      <p:sp>
        <p:nvSpPr>
          <p:cNvPr name="AutoShape 14" id="14"/>
          <p:cNvSpPr/>
          <p:nvPr/>
        </p:nvSpPr>
        <p:spPr>
          <a:xfrm rot="0" flipH="false" flipV="false">
            <a:off x="1016000" y="4445000"/>
            <a:ext cx="4572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Context engineers ensure the model has all necessary information to solve problems, just like providing a student with a map and reference materials.</a:t>
            </a:r>
            <a:endParaRPr lang="en-US" sz="1100"/>
          </a:p>
        </p:txBody>
      </p:sp>
      <p:cxnSp>
        <p:nvCxnSpPr>
          <p:cNvPr name="Connector 15" id="15"/>
          <p:cNvCxnSpPr/>
          <p:nvPr/>
        </p:nvCxnSpPr>
        <p:spPr>
          <a:xfrm rot="5388728" flipH="false" flipV="false">
            <a:off x="4159250" y="3454410"/>
            <a:ext cx="3873500" cy="12700"/>
          </a:xfrm>
          <a:prstGeom prst="straightConnector1">
            <a:avLst/>
          </a:prstGeom>
          <a:solidFill>
            <a:srgbClr val="DEE0E3">
              <a:alpha val="100000"/>
            </a:srgbClr>
          </a:solidFill>
          <a:ln w="12700" cmpd="sng" cap="flat">
            <a:solidFill>
              <a:srgbClr val="333333">
                <a:alpha val="20000"/>
              </a:srgbClr>
            </a:solidFill>
            <a:prstDash val="dash"/>
            <a:round/>
            <a:headEnd type="none" w="med" len="med"/>
            <a:tailEnd type="none" w="med" len="med"/>
          </a:ln>
        </p:spPr>
      </p:cxnSp>
      <p:sp>
        <p:nvSpPr>
          <p:cNvPr name="AutoShape 16" id="16"/>
          <p:cNvSpPr/>
          <p:nvPr/>
        </p:nvSpPr>
        <p:spPr>
          <a:xfrm rot="0" flipH="false" flipV="false">
            <a:off x="6350000" y="1524000"/>
            <a:ext cx="2667000" cy="1841500"/>
          </a:xfrm>
          <a:prstGeom prst="roundRect">
            <a:avLst>
              <a:gd name="adj" fmla="val 0"/>
            </a:avLst>
          </a:prstGeom>
          <a:solidFill>
            <a:srgbClr val="FFFFFF">
              <a:alpha val="90000"/>
            </a:srgbClr>
          </a:solidFill>
          <a:ln cmpd="sng" cap="flat">
            <a:solidFill>
              <a:srgbClr val="E6CFCF">
                <a:alpha val="90000"/>
              </a:srgbClr>
            </a:solidFill>
            <a:prstDash val="solid"/>
            <a:round/>
          </a:ln>
        </p:spPr>
        <p:txBody>
          <a:bodyPr anchor="ctr" rtlCol="false" vert="horz" lIns="63500" rIns="63500" tIns="63500" bIns="63500"/>
          <a:lstStyle/>
          <a:p>
            <a:pPr algn="ctr">
              <a:defRPr/>
            </a:pPr>
            <a:endParaRPr/>
          </a:p>
        </p:txBody>
      </p:sp>
      <p:pic>
        <p:nvPicPr>
          <p:cNvPr name="Picture 17" id="17"/>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40500" y="1676400"/>
            <a:ext cx="279400" cy="279400"/>
          </a:xfrm>
          <a:prstGeom prst="rect">
            <a:avLst/>
          </a:prstGeom>
        </p:spPr>
      </p:pic>
      <p:sp>
        <p:nvSpPr>
          <p:cNvPr name="AutoShape 18" id="18"/>
          <p:cNvSpPr/>
          <p:nvPr/>
        </p:nvSpPr>
        <p:spPr>
          <a:xfrm rot="0" flipH="false" flipV="false">
            <a:off x="6921500" y="1651000"/>
            <a:ext cx="2032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Information Asset Management</a:t>
            </a:r>
            <a:endParaRPr lang="en-US" sz="1100"/>
          </a:p>
        </p:txBody>
      </p:sp>
      <p:cxnSp>
        <p:nvCxnSpPr>
          <p:cNvPr name="Connector 19" id="19"/>
          <p:cNvCxnSpPr/>
          <p:nvPr/>
        </p:nvCxnSpPr>
        <p:spPr>
          <a:xfrm rot="-19098" flipH="false" flipV="false">
            <a:off x="6540518" y="2216150"/>
            <a:ext cx="2286000" cy="12700"/>
          </a:xfrm>
          <a:prstGeom prst="straightConnector1">
            <a:avLst/>
          </a:prstGeom>
          <a:solidFill>
            <a:srgbClr val="DEE0E3">
              <a:alpha val="100000"/>
            </a:srgbClr>
          </a:solidFill>
          <a:ln w="12700" cmpd="sng" cap="flat">
            <a:solidFill>
              <a:srgbClr val="333333">
                <a:alpha val="20000"/>
              </a:srgbClr>
            </a:solidFill>
            <a:prstDash val="solid"/>
            <a:round/>
            <a:headEnd type="none" w="med" len="med"/>
            <a:tailEnd type="none" w="med" len="med"/>
          </a:ln>
        </p:spPr>
      </p:cxnSp>
      <p:sp>
        <p:nvSpPr>
          <p:cNvPr name="AutoShape 20" id="20"/>
          <p:cNvSpPr/>
          <p:nvPr/>
        </p:nvSpPr>
        <p:spPr>
          <a:xfrm rot="0" flipH="false" flipV="false">
            <a:off x="6540500" y="2349500"/>
            <a:ext cx="228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Managing all content within the context window, including documents, conversation history, and tool definitions.</a:t>
            </a:r>
            <a:endParaRPr lang="en-US" sz="1100"/>
          </a:p>
        </p:txBody>
      </p:sp>
      <p:sp>
        <p:nvSpPr>
          <p:cNvPr name="AutoShape 21" id="21"/>
          <p:cNvSpPr/>
          <p:nvPr/>
        </p:nvSpPr>
        <p:spPr>
          <a:xfrm rot="0" flipH="false" flipV="false">
            <a:off x="9144000" y="1524000"/>
            <a:ext cx="2667000" cy="1841500"/>
          </a:xfrm>
          <a:prstGeom prst="roundRect">
            <a:avLst>
              <a:gd name="adj" fmla="val 0"/>
            </a:avLst>
          </a:prstGeom>
          <a:solidFill>
            <a:srgbClr val="FFFFFF">
              <a:alpha val="90000"/>
            </a:srgbClr>
          </a:solidFill>
          <a:ln cmpd="sng" cap="flat">
            <a:solidFill>
              <a:srgbClr val="E6CFCF">
                <a:alpha val="90000"/>
              </a:srgbClr>
            </a:solidFill>
            <a:prstDash val="solid"/>
            <a:round/>
          </a:ln>
        </p:spPr>
        <p:txBody>
          <a:bodyPr anchor="ctr" rtlCol="false" vert="horz" lIns="63500" rIns="63500" tIns="63500" bIns="63500"/>
          <a:lstStyle/>
          <a:p>
            <a:pPr algn="ctr">
              <a:defRPr/>
            </a:pPr>
            <a:endParaRPr/>
          </a:p>
        </p:txBody>
      </p:sp>
      <p:pic>
        <p:nvPicPr>
          <p:cNvPr name="Picture 22" id="2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334500" y="1676400"/>
            <a:ext cx="279400" cy="279400"/>
          </a:xfrm>
          <a:prstGeom prst="rect">
            <a:avLst/>
          </a:prstGeom>
        </p:spPr>
      </p:pic>
      <p:sp>
        <p:nvSpPr>
          <p:cNvPr name="AutoShape 23" id="23"/>
          <p:cNvSpPr/>
          <p:nvPr/>
        </p:nvSpPr>
        <p:spPr>
          <a:xfrm rot="0" flipH="false" flipV="false">
            <a:off x="9715500" y="1651000"/>
            <a:ext cx="2032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333333"/>
                </a:solidFill>
                <a:latin typeface="Noto Sans SC"/>
                <a:ea typeface="Noto Sans SC"/>
                <a:cs typeface="Noto Sans SC"/>
                <a:sym typeface="Noto Sans SC"/>
              </a:rPr>
              <a:t>Retrieval-Augmented Generation (RAG)</a:t>
            </a:r>
            <a:endParaRPr lang="en-US" sz="1100"/>
          </a:p>
        </p:txBody>
      </p:sp>
      <p:cxnSp>
        <p:nvCxnSpPr>
          <p:cNvPr name="Connector 24" id="24"/>
          <p:cNvCxnSpPr/>
          <p:nvPr/>
        </p:nvCxnSpPr>
        <p:spPr>
          <a:xfrm rot="-19098" flipH="false" flipV="false">
            <a:off x="9334518" y="2216150"/>
            <a:ext cx="2286000" cy="12700"/>
          </a:xfrm>
          <a:prstGeom prst="straightConnector1">
            <a:avLst/>
          </a:prstGeom>
          <a:solidFill>
            <a:srgbClr val="DEE0E3">
              <a:alpha val="100000"/>
            </a:srgbClr>
          </a:solidFill>
          <a:ln w="12700" cmpd="sng" cap="flat">
            <a:solidFill>
              <a:srgbClr val="333333">
                <a:alpha val="20000"/>
              </a:srgbClr>
            </a:solidFill>
            <a:prstDash val="solid"/>
            <a:round/>
            <a:headEnd type="none" w="med" len="med"/>
            <a:tailEnd type="none" w="med" len="med"/>
          </a:ln>
        </p:spPr>
      </p:cxnSp>
      <p:sp>
        <p:nvSpPr>
          <p:cNvPr name="AutoShape 25" id="25"/>
          <p:cNvSpPr/>
          <p:nvPr/>
        </p:nvSpPr>
        <p:spPr>
          <a:xfrm rot="0" flipH="false" flipV="false">
            <a:off x="9334500" y="2349500"/>
            <a:ext cx="228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Retrieving relevant information from external knowledge bases to reduce hallucinations and provide up-to-date knowledge.</a:t>
            </a:r>
            <a:endParaRPr lang="en-US" sz="1100"/>
          </a:p>
        </p:txBody>
      </p:sp>
      <p:sp>
        <p:nvSpPr>
          <p:cNvPr name="AutoShape 26" id="26"/>
          <p:cNvSpPr/>
          <p:nvPr/>
        </p:nvSpPr>
        <p:spPr>
          <a:xfrm rot="0" flipH="false" flipV="false">
            <a:off x="6350000" y="3619500"/>
            <a:ext cx="5461000" cy="1714500"/>
          </a:xfrm>
          <a:prstGeom prst="roundRect">
            <a:avLst>
              <a:gd name="adj" fmla="val 0"/>
            </a:avLst>
          </a:prstGeom>
          <a:solidFill>
            <a:srgbClr val="FFFFFF">
              <a:alpha val="90000"/>
            </a:srgbClr>
          </a:solidFill>
          <a:ln cmpd="sng" cap="flat">
            <a:solidFill>
              <a:srgbClr val="E6CFCF">
                <a:alpha val="90000"/>
              </a:srgbClr>
            </a:solidFill>
            <a:prstDash val="solid"/>
            <a:round/>
          </a:ln>
        </p:spPr>
        <p:txBody>
          <a:bodyPr anchor="ctr" rtlCol="false" vert="horz" lIns="63500" rIns="63500" tIns="63500" bIns="63500"/>
          <a:lstStyle/>
          <a:p>
            <a:pPr algn="ctr">
              <a:defRPr/>
            </a:pPr>
            <a:endParaRPr/>
          </a:p>
        </p:txBody>
      </p:sp>
      <p:pic>
        <p:nvPicPr>
          <p:cNvPr name="Picture 27" id="27"/>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540500" y="3771900"/>
            <a:ext cx="279400" cy="279400"/>
          </a:xfrm>
          <a:prstGeom prst="rect">
            <a:avLst/>
          </a:prstGeom>
        </p:spPr>
      </p:pic>
      <p:sp>
        <p:nvSpPr>
          <p:cNvPr name="AutoShape 28" id="28"/>
          <p:cNvSpPr/>
          <p:nvPr/>
        </p:nvSpPr>
        <p:spPr>
          <a:xfrm rot="0" flipH="false" flipV="false">
            <a:off x="6921500" y="3746500"/>
            <a:ext cx="4826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Context Window Optimization: Combating 'Lost in the Middle'</a:t>
            </a:r>
            <a:endParaRPr lang="en-US" sz="1100"/>
          </a:p>
        </p:txBody>
      </p:sp>
      <p:cxnSp>
        <p:nvCxnSpPr>
          <p:cNvPr name="Connector 29" id="29"/>
          <p:cNvCxnSpPr/>
          <p:nvPr/>
        </p:nvCxnSpPr>
        <p:spPr>
          <a:xfrm rot="-8594" flipH="false" flipV="false">
            <a:off x="6540508" y="4311650"/>
            <a:ext cx="5080000" cy="12700"/>
          </a:xfrm>
          <a:prstGeom prst="straightConnector1">
            <a:avLst/>
          </a:prstGeom>
          <a:solidFill>
            <a:srgbClr val="DEE0E3">
              <a:alpha val="100000"/>
            </a:srgbClr>
          </a:solidFill>
          <a:ln w="12700" cmpd="sng" cap="flat">
            <a:solidFill>
              <a:srgbClr val="333333">
                <a:alpha val="20000"/>
              </a:srgbClr>
            </a:solidFill>
            <a:prstDash val="solid"/>
            <a:round/>
            <a:headEnd type="none" w="med" len="med"/>
            <a:tailEnd type="none" w="med" len="med"/>
          </a:ln>
        </p:spPr>
      </p:cxnSp>
      <p:sp>
        <p:nvSpPr>
          <p:cNvPr name="AutoShape 30" id="30"/>
          <p:cNvSpPr/>
          <p:nvPr/>
        </p:nvSpPr>
        <p:spPr>
          <a:xfrm rot="0" flipH="false" flipV="false">
            <a:off x="6540500" y="4445000"/>
            <a:ext cx="508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Addressing issues like 'Lost in the Middle' to ensure key information is effectively utilized by the model.</a:t>
            </a:r>
            <a:endParaRPr lang="en-US" sz="1100"/>
          </a:p>
        </p:txBody>
      </p:sp>
      <p:sp>
        <p:nvSpPr>
          <p:cNvPr name="AutoShape 31" id="31"/>
          <p:cNvSpPr/>
          <p:nvPr/>
        </p:nvSpPr>
        <p:spPr>
          <a:xfrm rot="0" flipH="false" flipV="false">
            <a:off x="762000" y="5461000"/>
            <a:ext cx="10668000" cy="1143000"/>
          </a:xfrm>
          <a:prstGeom prst="roundRect">
            <a:avLst>
              <a:gd name="adj" fmla="val 0"/>
            </a:avLst>
          </a:prstGeom>
          <a:solidFill>
            <a:srgbClr val="F7F8FA">
              <a:alpha val="100000"/>
            </a:srgbClr>
          </a:solidFill>
          <a:ln w="12700" cmpd="sng" cap="flat">
            <a:solidFill>
              <a:srgbClr val="E5E7EB">
                <a:alpha val="100000"/>
              </a:srgbClr>
            </a:solidFill>
            <a:prstDash val="solid"/>
            <a:round/>
          </a:ln>
        </p:spPr>
        <p:txBody>
          <a:bodyPr anchor="ctr" rtlCol="false" vert="horz" lIns="63500" rIns="63500" tIns="63500" bIns="63500"/>
          <a:lstStyle/>
          <a:p>
            <a:pPr algn="ctr">
              <a:defRPr/>
            </a:pPr>
            <a:endParaRPr/>
          </a:p>
        </p:txBody>
      </p:sp>
      <p:sp>
        <p:nvSpPr>
          <p:cNvPr name="AutoShape 32" id="32"/>
          <p:cNvSpPr/>
          <p:nvPr/>
        </p:nvSpPr>
        <p:spPr>
          <a:xfrm rot="0" flipH="false" flipV="false">
            <a:off x="952500" y="5524500"/>
            <a:ext cx="10287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E60012"/>
                </a:solidFill>
                <a:latin typeface="Noto Sans SC"/>
                <a:ea typeface="Noto Sans SC"/>
                <a:cs typeface="Noto Sans SC"/>
                <a:sym typeface="Noto Sans SC"/>
              </a:rPr>
              <a:t>EXAMPLE: Customer Support | Key Limitation:</a:t>
            </a:r>
            <a:r>
              <a:rPr lang="en-US" b="false" i="false" strike="noStrike" u="none" sz="1100">
                <a:solidFill>
                  <a:srgbClr val="3C3C3C"/>
                </a:solidFill>
                <a:latin typeface="Noto Sans SC"/>
                <a:ea typeface="Noto Sans SC"/>
                <a:cs typeface="Noto Sans SC"/>
                <a:sym typeface="Noto Sans SC"/>
              </a:rPr>
              <a:t>While Context Engineering solves knowledge 'breadth', it fails to guarantee behavioral reliability. Even with correct info, the model may not use it properly. In customer support, this means precise troubleshooting guides (injected as context) are needed to ensure accurate, step-by-step responses (e.g., "Clean battery contacts first") instead of generic advice.</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200">
                <a:solidFill>
                  <a:srgbClr val="333333"/>
                </a:solidFill>
                <a:latin typeface="Noto Sans SC"/>
                <a:ea typeface="Noto Sans SC"/>
                <a:cs typeface="Noto Sans SC"/>
                <a:sym typeface="Noto Sans SC"/>
              </a:rPr>
              <a:t>Harness Engineering: The 'Operating System' for Agents</a:t>
            </a:r>
            <a:endParaRPr lang="en-US" sz="1100"/>
          </a:p>
        </p:txBody>
      </p:sp>
      <p:sp>
        <p:nvSpPr>
          <p:cNvPr name="AutoShape 4" id="4"/>
          <p:cNvSpPr/>
          <p:nvPr/>
        </p:nvSpPr>
        <p:spPr>
          <a:xfrm rot="0" flipH="false" flipV="false">
            <a:off x="762000" y="1651000"/>
            <a:ext cx="10668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500">
                <a:solidFill>
                  <a:srgbClr val="333333"/>
                </a:solidFill>
                <a:latin typeface="Noto Sans SC"/>
                <a:ea typeface="Noto Sans SC"/>
                <a:cs typeface="Noto Sans SC"/>
                <a:sym typeface="Noto Sans SC"/>
              </a:rPr>
              <a:t>Core Definition</a:t>
            </a:r>
            <a:r>
              <a:rPr lang="en-US" b="false" i="false" strike="noStrike" u="none" sz="1300">
                <a:solidFill>
                  <a:srgbClr val="333333"/>
                </a:solidFill>
                <a:latin typeface="Noto Sans SC"/>
                <a:ea typeface="Noto Sans SC"/>
                <a:cs typeface="Noto Sans SC"/>
                <a:sym typeface="Noto Sans SC"/>
              </a:rPr>
              <a:t/>
            </a:r>
            <a:br>
              <a:rPr lang="en-US" b="false" i="false" strike="noStrike" u="none" sz="1300">
                <a:solidFill>
                  <a:srgbClr val="333333"/>
                </a:solidFill>
                <a:latin typeface="Noto Sans SC"/>
                <a:ea typeface="Noto Sans SC"/>
                <a:cs typeface="Noto Sans SC"/>
                <a:sym typeface="Noto Sans SC"/>
              </a:rPr>
            </a:br>
            <a:r>
              <a:rPr lang="en-US" b="false" i="false" strike="noStrike" u="none" sz="1200">
                <a:solidFill>
                  <a:srgbClr val="525252"/>
                </a:solidFill>
                <a:latin typeface="Noto Sans SC"/>
                <a:ea typeface="Noto Sans SC"/>
                <a:cs typeface="Noto Sans SC"/>
                <a:sym typeface="Noto Sans SC"/>
              </a:rPr>
              <a:t>Harness is defined as the 'Operating System' for Agents. It is a standardized framework and infrastructure designed for building, deploying, and managing large-scale, production-grade Multi-Agent systems. It addresses the core challenges of cost, reliability, observability, and architecture that plague AI Agent deployments.</a:t>
            </a:r>
            <a:endParaRPr lang="en-US" sz="1100"/>
          </a:p>
        </p:txBody>
      </p:sp>
      <p:cxnSp>
        <p:nvCxnSpPr>
          <p:cNvPr name="Connector 5" id="5"/>
          <p:cNvCxnSpPr/>
          <p:nvPr/>
        </p:nvCxnSpPr>
        <p:spPr>
          <a:xfrm rot="-4092" flipH="false" flipV="false">
            <a:off x="762004" y="3295650"/>
            <a:ext cx="10668000" cy="12700"/>
          </a:xfrm>
          <a:prstGeom prst="straightConnector1">
            <a:avLst/>
          </a:prstGeom>
          <a:solidFill>
            <a:srgbClr val="DEE0E3">
              <a:alpha val="100000"/>
            </a:srgbClr>
          </a:solidFill>
          <a:ln w="12700" cmpd="sng" cap="flat">
            <a:solidFill>
              <a:srgbClr val="E60012">
                <a:alpha val="20000"/>
              </a:srgbClr>
            </a:solidFill>
            <a:prstDash val="solid"/>
            <a:round/>
            <a:headEnd type="none" w="med" len="med"/>
            <a:tailEnd type="none" w="med" len="med"/>
          </a:ln>
        </p:spPr>
      </p:cxnSp>
      <p:sp>
        <p:nvSpPr>
          <p:cNvPr name="AutoShape 6" id="6"/>
          <p:cNvSpPr/>
          <p:nvPr/>
        </p:nvSpPr>
        <p:spPr>
          <a:xfrm rot="0" flipH="false" flipV="false">
            <a:off x="762000" y="3556000"/>
            <a:ext cx="3302000" cy="2032000"/>
          </a:xfrm>
          <a:prstGeom prst="roundRect">
            <a:avLst>
              <a:gd name="adj" fmla="val 0"/>
            </a:avLst>
          </a:prstGeom>
          <a:solidFill>
            <a:srgbClr val="FFFFFF">
              <a:alpha val="85000"/>
            </a:srgbClr>
          </a:solidFill>
          <a:ln w="12700" cmpd="sng" cap="flat">
            <a:solidFill>
              <a:srgbClr val="E60012">
                <a:alpha val="15000"/>
              </a:srgbClr>
            </a:solidFill>
            <a:prstDash val="solid"/>
            <a:round/>
          </a:ln>
        </p:spPr>
        <p:txBody>
          <a:bodyPr anchor="ctr" rtlCol="false" anchorCtr="false" vert="horz" wrap="square" lIns="0" rIns="0" tIns="0" bIns="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3746500"/>
            <a:ext cx="304800" cy="304800"/>
          </a:xfrm>
          <a:prstGeom prst="rect">
            <a:avLst/>
          </a:prstGeom>
        </p:spPr>
      </p:pic>
      <p:sp>
        <p:nvSpPr>
          <p:cNvPr name="AutoShape 8" id="8"/>
          <p:cNvSpPr/>
          <p:nvPr/>
        </p:nvSpPr>
        <p:spPr>
          <a:xfrm rot="0" flipH="false" flipV="false">
            <a:off x="1333500" y="37211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vs. Prompt Engineering</a:t>
            </a:r>
            <a:endParaRPr lang="en-US" sz="1100"/>
          </a:p>
        </p:txBody>
      </p:sp>
      <p:cxnSp>
        <p:nvCxnSpPr>
          <p:cNvPr name="Connector 9" id="9"/>
          <p:cNvCxnSpPr/>
          <p:nvPr/>
        </p:nvCxnSpPr>
        <p:spPr>
          <a:xfrm rot="-14946" flipH="false" flipV="false">
            <a:off x="952514" y="4248150"/>
            <a:ext cx="29210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10" id="10"/>
          <p:cNvSpPr/>
          <p:nvPr/>
        </p:nvSpPr>
        <p:spPr>
          <a:xfrm rot="0" flipH="false" flipV="false">
            <a:off x="952500" y="4381500"/>
            <a:ext cx="2921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Focuses on optimizing individual agent instructions, while Harness manages complex interactions, state, and resources across multiple agents.</a:t>
            </a:r>
            <a:endParaRPr lang="en-US" sz="1100"/>
          </a:p>
        </p:txBody>
      </p:sp>
      <p:sp>
        <p:nvSpPr>
          <p:cNvPr name="AutoShape 11" id="11"/>
          <p:cNvSpPr/>
          <p:nvPr/>
        </p:nvSpPr>
        <p:spPr>
          <a:xfrm rot="0" flipH="false" flipV="false">
            <a:off x="4445000" y="3556000"/>
            <a:ext cx="3302000" cy="2032000"/>
          </a:xfrm>
          <a:prstGeom prst="roundRect">
            <a:avLst>
              <a:gd name="adj" fmla="val 0"/>
            </a:avLst>
          </a:prstGeom>
          <a:solidFill>
            <a:srgbClr val="FFFFFF">
              <a:alpha val="85000"/>
            </a:srgbClr>
          </a:solidFill>
          <a:ln w="12700" cmpd="sng" cap="flat">
            <a:solidFill>
              <a:srgbClr val="E60012">
                <a:alpha val="15000"/>
              </a:srgbClr>
            </a:solidFill>
            <a:prstDash val="solid"/>
            <a:round/>
          </a:ln>
        </p:spPr>
        <p:txBody>
          <a:bodyPr anchor="ctr" rtlCol="false" anchorCtr="false" vert="horz" wrap="square" lIns="0" rIns="0" tIns="0" bIns="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35500" y="3746500"/>
            <a:ext cx="304800" cy="304800"/>
          </a:xfrm>
          <a:prstGeom prst="rect">
            <a:avLst/>
          </a:prstGeom>
        </p:spPr>
      </p:pic>
      <p:sp>
        <p:nvSpPr>
          <p:cNvPr name="AutoShape 13" id="13"/>
          <p:cNvSpPr/>
          <p:nvPr/>
        </p:nvSpPr>
        <p:spPr>
          <a:xfrm rot="0" flipH="false" flipV="false">
            <a:off x="5016500" y="37211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vs. Orchestrator</a:t>
            </a:r>
            <a:endParaRPr lang="en-US" sz="1100"/>
          </a:p>
        </p:txBody>
      </p:sp>
      <p:cxnSp>
        <p:nvCxnSpPr>
          <p:cNvPr name="Connector 14" id="14"/>
          <p:cNvCxnSpPr/>
          <p:nvPr/>
        </p:nvCxnSpPr>
        <p:spPr>
          <a:xfrm rot="-14946" flipH="false" flipV="false">
            <a:off x="4635514" y="4248150"/>
            <a:ext cx="29210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15" id="15"/>
          <p:cNvSpPr/>
          <p:nvPr/>
        </p:nvSpPr>
        <p:spPr>
          <a:xfrm rot="0" flipH="false" flipV="false">
            <a:off x="4635500" y="4381500"/>
            <a:ext cx="2921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Traditional orchestrators focus on workflow; Harness provides full lifecycle management including tool governance, state maintenance, and cost control.</a:t>
            </a:r>
            <a:endParaRPr lang="en-US" sz="1100"/>
          </a:p>
        </p:txBody>
      </p:sp>
      <p:sp>
        <p:nvSpPr>
          <p:cNvPr name="AutoShape 16" id="16"/>
          <p:cNvSpPr/>
          <p:nvPr/>
        </p:nvSpPr>
        <p:spPr>
          <a:xfrm rot="0" flipH="false" flipV="false">
            <a:off x="8128000" y="3556000"/>
            <a:ext cx="3302000" cy="2032000"/>
          </a:xfrm>
          <a:prstGeom prst="roundRect">
            <a:avLst>
              <a:gd name="adj" fmla="val 0"/>
            </a:avLst>
          </a:prstGeom>
          <a:solidFill>
            <a:srgbClr val="FFFFFF">
              <a:alpha val="85000"/>
            </a:srgbClr>
          </a:solidFill>
          <a:ln w="12700" cmpd="sng" cap="flat">
            <a:solidFill>
              <a:srgbClr val="E60012">
                <a:alpha val="15000"/>
              </a:srgbClr>
            </a:solidFill>
            <a:prstDash val="solid"/>
            <a:round/>
          </a:ln>
        </p:spPr>
        <p:txBody>
          <a:bodyPr anchor="ctr" rtlCol="false" anchorCtr="false" vert="horz" wrap="square" lIns="0" rIns="0" tIns="0" bIns="0"/>
          <a:lstStyle/>
          <a:p>
            <a:pPr algn="ctr">
              <a:defRPr/>
            </a:pPr>
            <a:endParaRPr/>
          </a:p>
        </p:txBody>
      </p:sp>
      <p:pic>
        <p:nvPicPr>
          <p:cNvPr name="Picture 17" id="17"/>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18500" y="3746500"/>
            <a:ext cx="304800" cy="304800"/>
          </a:xfrm>
          <a:prstGeom prst="rect">
            <a:avLst/>
          </a:prstGeom>
        </p:spPr>
      </p:pic>
      <p:sp>
        <p:nvSpPr>
          <p:cNvPr name="AutoShape 18" id="18"/>
          <p:cNvSpPr/>
          <p:nvPr/>
        </p:nvSpPr>
        <p:spPr>
          <a:xfrm rot="0" flipH="false" flipV="false">
            <a:off x="8699500" y="37211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vs. Agent Framework</a:t>
            </a:r>
            <a:endParaRPr lang="en-US" sz="1100"/>
          </a:p>
        </p:txBody>
      </p:sp>
      <p:cxnSp>
        <p:nvCxnSpPr>
          <p:cNvPr name="Connector 19" id="19"/>
          <p:cNvCxnSpPr/>
          <p:nvPr/>
        </p:nvCxnSpPr>
        <p:spPr>
          <a:xfrm rot="-14946" flipH="false" flipV="false">
            <a:off x="8318514" y="4248150"/>
            <a:ext cx="29210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20" id="20"/>
          <p:cNvSpPr/>
          <p:nvPr/>
        </p:nvSpPr>
        <p:spPr>
          <a:xfrm rot="0" flipH="false" flipV="false">
            <a:off x="8318500" y="4381500"/>
            <a:ext cx="2921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Frameworks provide component libraries; Harness is a complete, production-oriented OS built on top, emphasizing standardization and reliability.</a:t>
            </a:r>
            <a:endParaRPr lang="en-US" sz="1100"/>
          </a:p>
        </p:txBody>
      </p:sp>
      <p:sp>
        <p:nvSpPr>
          <p:cNvPr name="AutoShape 21" id="21"/>
          <p:cNvSpPr/>
          <p:nvPr/>
        </p:nvSpPr>
        <p:spPr>
          <a:xfrm rot="0" flipH="false" flipV="false">
            <a:off x="762000" y="5778500"/>
            <a:ext cx="10668000" cy="762000"/>
          </a:xfrm>
          <a:prstGeom prst="roundRect">
            <a:avLst>
              <a:gd name="adj" fmla="val 0"/>
            </a:avLst>
          </a:prstGeom>
          <a:solidFill>
            <a:srgbClr val="E60012">
              <a:alpha val="8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22" id="22"/>
          <p:cNvSpPr/>
          <p:nvPr/>
        </p:nvSpPr>
        <p:spPr>
          <a:xfrm rot="0" flipH="false" flipV="false">
            <a:off x="889000" y="5842000"/>
            <a:ext cx="10414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300">
                <a:solidFill>
                  <a:srgbClr val="E60012"/>
                </a:solidFill>
                <a:latin typeface="Noto Sans SC"/>
                <a:ea typeface="Noto Sans SC"/>
                <a:cs typeface="Noto Sans SC"/>
                <a:sym typeface="Noto Sans SC"/>
              </a:rPr>
              <a:t>Core Value Proposition</a:t>
            </a:r>
            <a:r>
              <a:rPr lang="en-US" b="false" i="false" strike="noStrike" u="none" sz="1100">
                <a:solidFill>
                  <a:srgbClr val="333333"/>
                </a:solidFill>
                <a:latin typeface="Noto Sans SC"/>
                <a:ea typeface="Noto Sans SC"/>
                <a:cs typeface="Noto Sans SC"/>
                <a:sym typeface="Noto Sans SC"/>
              </a:rPr>
              <a:t>: Harness bridges the gap from experimental Agent prototypes to stable, production-ready systems by standardizing infrastructure and enforcing governance.</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600">
                <a:solidFill>
                  <a:srgbClr val="333333"/>
                </a:solidFill>
                <a:latin typeface="Noto Sans SC"/>
                <a:ea typeface="Noto Sans SC"/>
                <a:cs typeface="Noto Sans SC"/>
                <a:sym typeface="Noto Sans SC"/>
              </a:rPr>
              <a:t>Three Generations of Evolution: From Instruction to Environment</a:t>
            </a:r>
            <a:endParaRPr lang="en-US" sz="1100"/>
          </a:p>
        </p:txBody>
      </p:sp>
      <p:cxnSp>
        <p:nvCxnSpPr>
          <p:cNvPr name="Connector 4" id="4"/>
          <p:cNvCxnSpPr/>
          <p:nvPr/>
        </p:nvCxnSpPr>
        <p:spPr>
          <a:xfrm rot="-4092" flipH="false" flipV="false">
            <a:off x="762004" y="1517650"/>
            <a:ext cx="106680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5" id="5"/>
          <p:cNvSpPr/>
          <p:nvPr/>
        </p:nvSpPr>
        <p:spPr>
          <a:xfrm rot="0" flipH="false" flipV="false">
            <a:off x="762000" y="1905000"/>
            <a:ext cx="3505200" cy="4572000"/>
          </a:xfrm>
          <a:prstGeom prst="roundRect">
            <a:avLst>
              <a:gd name="adj" fmla="val 0"/>
            </a:avLst>
          </a:prstGeom>
          <a:solidFill>
            <a:srgbClr val="FFFFFF">
              <a:alpha val="75000"/>
            </a:srgbClr>
          </a:solidFill>
          <a:ln w="12700" cmpd="sng" cap="flat">
            <a:solidFill>
              <a:srgbClr val="E60012">
                <a:alpha val="15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905000"/>
            <a:ext cx="3505200" cy="762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889000" y="2159000"/>
            <a:ext cx="32512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E60012"/>
                </a:solidFill>
                <a:latin typeface="Noto Sans SC"/>
                <a:ea typeface="Noto Sans SC"/>
                <a:cs typeface="Noto Sans SC"/>
                <a:sym typeface="Noto Sans SC"/>
              </a:rPr>
              <a:t>01 Prompt Engineering</a:t>
            </a:r>
            <a:endParaRPr lang="en-US" sz="1100"/>
          </a:p>
        </p:txBody>
      </p:sp>
      <p:cxnSp>
        <p:nvCxnSpPr>
          <p:cNvPr name="Connector 8" id="8"/>
          <p:cNvCxnSpPr/>
          <p:nvPr/>
        </p:nvCxnSpPr>
        <p:spPr>
          <a:xfrm rot="-13428" flipH="false" flipV="false">
            <a:off x="889012" y="2787650"/>
            <a:ext cx="3251200" cy="12700"/>
          </a:xfrm>
          <a:prstGeom prst="straightConnector1">
            <a:avLst/>
          </a:prstGeom>
          <a:solidFill>
            <a:srgbClr val="DEE0E3">
              <a:alpha val="100000"/>
            </a:srgbClr>
          </a:solidFill>
          <a:ln w="12700" cmpd="sng" cap="flat">
            <a:solidFill>
              <a:srgbClr val="333333">
                <a:alpha val="10000"/>
              </a:srgbClr>
            </a:solidFill>
            <a:prstDash val="dash"/>
            <a:round/>
            <a:headEnd type="none" w="med" len="med"/>
            <a:tailEnd type="none" w="med" len="med"/>
          </a:ln>
        </p:spPr>
      </p:cxnSp>
      <p:sp>
        <p:nvSpPr>
          <p:cNvPr name="AutoShape 9" id="9"/>
          <p:cNvSpPr/>
          <p:nvPr/>
        </p:nvSpPr>
        <p:spPr>
          <a:xfrm rot="0" flipH="false" flipV="false">
            <a:off x="889000" y="2984500"/>
            <a:ext cx="32512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333333"/>
                </a:solidFill>
                <a:latin typeface="Noto Sans SC"/>
                <a:ea typeface="Noto Sans SC"/>
                <a:cs typeface="Noto Sans SC"/>
                <a:sym typeface="Noto Sans SC"/>
              </a:rPr>
              <a:t>Core Question &amp; Management:</a:t>
            </a:r>
            <a:r>
              <a:rPr lang="en-US" b="false" i="false" strike="noStrike" u="none" sz="1300">
                <a:solidFill>
                  <a:srgbClr val="555555"/>
                </a:solidFill>
                <a:latin typeface="Noto Sans SC"/>
                <a:ea typeface="Noto Sans SC"/>
                <a:cs typeface="Noto Sans SC"/>
                <a:sym typeface="Noto Sans SC"/>
              </a:rPr>
              <a:t>How to express instructions clearly? Optimize single-turn interaction quality.</a:t>
            </a:r>
            <a:endParaRPr lang="en-US" sz="1100"/>
          </a:p>
        </p:txBody>
      </p:sp>
      <p:cxnSp>
        <p:nvCxnSpPr>
          <p:cNvPr name="Connector 10" id="10"/>
          <p:cNvCxnSpPr/>
          <p:nvPr/>
        </p:nvCxnSpPr>
        <p:spPr>
          <a:xfrm rot="-13428" flipH="false" flipV="false">
            <a:off x="889012" y="4184650"/>
            <a:ext cx="3251225" cy="12700"/>
          </a:xfrm>
          <a:prstGeom prst="straightConnector1">
            <a:avLst/>
          </a:prstGeom>
          <a:solidFill>
            <a:srgbClr val="DEE0E3">
              <a:alpha val="100000"/>
            </a:srgbClr>
          </a:solidFill>
          <a:ln w="12700" cmpd="sng" cap="flat">
            <a:solidFill>
              <a:srgbClr val="333333">
                <a:alpha val="10000"/>
              </a:srgbClr>
            </a:solidFill>
            <a:prstDash val="dash"/>
            <a:round/>
            <a:headEnd type="none" w="med" len="med"/>
            <a:tailEnd type="none" w="med" len="med"/>
          </a:ln>
        </p:spPr>
      </p:cxnSp>
      <p:sp>
        <p:nvSpPr>
          <p:cNvPr name="AutoShape 11" id="11"/>
          <p:cNvSpPr/>
          <p:nvPr/>
        </p:nvSpPr>
        <p:spPr>
          <a:xfrm rot="0" flipH="false" flipV="false">
            <a:off x="889000" y="4318000"/>
            <a:ext cx="32512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333333"/>
                </a:solidFill>
                <a:latin typeface="Noto Sans SC"/>
                <a:ea typeface="Noto Sans SC"/>
                <a:cs typeface="Noto Sans SC"/>
                <a:sym typeface="Noto Sans SC"/>
              </a:rPr>
              <a:t>Constraints/Risks:</a:t>
            </a:r>
            <a:r>
              <a:rPr lang="en-US" b="false" i="false" strike="noStrike" u="none" sz="1200">
                <a:solidFill>
                  <a:srgbClr val="555555"/>
                </a:solidFill>
                <a:latin typeface="Noto Sans SC"/>
                <a:ea typeface="Noto Sans SC"/>
                <a:cs typeface="Noto Sans SC"/>
                <a:sym typeface="Noto Sans SC"/>
              </a:rPr>
              <a:t>Soft constraints via language. Risks include hallucinations. Engineers act as prompt writers.</a:t>
            </a:r>
            <a:endParaRPr lang="en-US" sz="1100"/>
          </a:p>
        </p:txBody>
      </p:sp>
      <p:sp>
        <p:nvSpPr>
          <p:cNvPr name="AutoShape 12" id="12"/>
          <p:cNvSpPr/>
          <p:nvPr/>
        </p:nvSpPr>
        <p:spPr>
          <a:xfrm rot="0" flipH="false" flipV="false">
            <a:off x="889000" y="5651500"/>
            <a:ext cx="3251200" cy="508000"/>
          </a:xfrm>
          <a:prstGeom prst="roundRect">
            <a:avLst>
              <a:gd name="adj" fmla="val 0"/>
            </a:avLst>
          </a:prstGeom>
          <a:solidFill>
            <a:srgbClr val="E60012">
              <a:alpha val="8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13" id="13"/>
          <p:cNvSpPr/>
          <p:nvPr/>
        </p:nvSpPr>
        <p:spPr>
          <a:xfrm rot="0" flipH="false" flipV="false">
            <a:off x="952500" y="5715000"/>
            <a:ext cx="31242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true" strike="noStrike" u="none" sz="1300">
                <a:solidFill>
                  <a:srgbClr val="E60012"/>
                </a:solidFill>
                <a:latin typeface="Noto Sans SC"/>
                <a:ea typeface="Noto Sans SC"/>
                <a:cs typeface="Noto Sans SC"/>
                <a:sym typeface="Noto Sans SC"/>
              </a:rPr>
              <a:t>"Make AI answer more intelligently."</a:t>
            </a:r>
            <a:endParaRPr lang="en-US" sz="1100"/>
          </a:p>
        </p:txBody>
      </p:sp>
      <p:sp>
        <p:nvSpPr>
          <p:cNvPr name="AutoShape 14" id="14"/>
          <p:cNvSpPr/>
          <p:nvPr/>
        </p:nvSpPr>
        <p:spPr>
          <a:xfrm rot="0" flipH="false" flipV="false">
            <a:off x="4470400" y="1905000"/>
            <a:ext cx="3505200" cy="4572000"/>
          </a:xfrm>
          <a:prstGeom prst="roundRect">
            <a:avLst>
              <a:gd name="adj" fmla="val 0"/>
            </a:avLst>
          </a:prstGeom>
          <a:solidFill>
            <a:srgbClr val="FFFFFF">
              <a:alpha val="75000"/>
            </a:srgbClr>
          </a:solidFill>
          <a:ln w="12700" cmpd="sng" cap="flat">
            <a:solidFill>
              <a:srgbClr val="E60012">
                <a:alpha val="15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4470400" y="1905000"/>
            <a:ext cx="3505200" cy="76200"/>
          </a:xfrm>
          <a:prstGeom prst="roundRect">
            <a:avLst>
              <a:gd name="adj" fmla="val 0"/>
            </a:avLst>
          </a:prstGeom>
          <a:solidFill>
            <a:srgbClr val="E60012">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4597400" y="2159000"/>
            <a:ext cx="32512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E60012"/>
                </a:solidFill>
                <a:latin typeface="Noto Sans SC"/>
                <a:ea typeface="Noto Sans SC"/>
                <a:cs typeface="Noto Sans SC"/>
                <a:sym typeface="Noto Sans SC"/>
              </a:rPr>
              <a:t>02 Context Engineering</a:t>
            </a:r>
            <a:endParaRPr lang="en-US" sz="1100"/>
          </a:p>
        </p:txBody>
      </p:sp>
      <p:cxnSp>
        <p:nvCxnSpPr>
          <p:cNvPr name="Connector 17" id="17"/>
          <p:cNvCxnSpPr/>
          <p:nvPr/>
        </p:nvCxnSpPr>
        <p:spPr>
          <a:xfrm rot="-13428" flipH="false" flipV="false">
            <a:off x="4597412" y="2787650"/>
            <a:ext cx="3251200" cy="12700"/>
          </a:xfrm>
          <a:prstGeom prst="straightConnector1">
            <a:avLst/>
          </a:prstGeom>
          <a:solidFill>
            <a:srgbClr val="DEE0E3">
              <a:alpha val="100000"/>
            </a:srgbClr>
          </a:solidFill>
          <a:ln w="12700" cmpd="sng" cap="flat">
            <a:solidFill>
              <a:srgbClr val="333333">
                <a:alpha val="10000"/>
              </a:srgbClr>
            </a:solidFill>
            <a:prstDash val="dash"/>
            <a:round/>
            <a:headEnd type="none" w="med" len="med"/>
            <a:tailEnd type="none" w="med" len="med"/>
          </a:ln>
        </p:spPr>
      </p:cxnSp>
      <p:sp>
        <p:nvSpPr>
          <p:cNvPr name="AutoShape 18" id="18"/>
          <p:cNvSpPr/>
          <p:nvPr/>
        </p:nvSpPr>
        <p:spPr>
          <a:xfrm rot="0" flipH="false" flipV="false">
            <a:off x="4597400" y="2984500"/>
            <a:ext cx="32512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333333"/>
                </a:solidFill>
                <a:latin typeface="Noto Sans SC"/>
                <a:ea typeface="Noto Sans SC"/>
                <a:cs typeface="Noto Sans SC"/>
                <a:sym typeface="Noto Sans SC"/>
              </a:rPr>
              <a:t>Core Question &amp; Management:</a:t>
            </a:r>
            <a:r>
              <a:rPr lang="en-US" b="false" i="false" strike="noStrike" u="none" sz="1300">
                <a:solidFill>
                  <a:srgbClr val="555555"/>
                </a:solidFill>
                <a:latin typeface="Noto Sans SC"/>
                <a:ea typeface="Noto Sans SC"/>
                <a:cs typeface="Noto Sans SC"/>
                <a:sym typeface="Noto Sans SC"/>
              </a:rPr>
              <a:t>How to provide sufficient information? Optimize context window management.</a:t>
            </a:r>
            <a:endParaRPr lang="en-US" sz="1100"/>
          </a:p>
        </p:txBody>
      </p:sp>
      <p:cxnSp>
        <p:nvCxnSpPr>
          <p:cNvPr name="Connector 19" id="19"/>
          <p:cNvCxnSpPr/>
          <p:nvPr/>
        </p:nvCxnSpPr>
        <p:spPr>
          <a:xfrm rot="-13428" flipH="false" flipV="false">
            <a:off x="4597412" y="4184650"/>
            <a:ext cx="3251225" cy="12700"/>
          </a:xfrm>
          <a:prstGeom prst="straightConnector1">
            <a:avLst/>
          </a:prstGeom>
          <a:solidFill>
            <a:srgbClr val="DEE0E3">
              <a:alpha val="100000"/>
            </a:srgbClr>
          </a:solidFill>
          <a:ln w="12700" cmpd="sng" cap="flat">
            <a:solidFill>
              <a:srgbClr val="333333">
                <a:alpha val="10000"/>
              </a:srgbClr>
            </a:solidFill>
            <a:prstDash val="dash"/>
            <a:round/>
            <a:headEnd type="none" w="med" len="med"/>
            <a:tailEnd type="none" w="med" len="med"/>
          </a:ln>
        </p:spPr>
      </p:cxnSp>
      <p:sp>
        <p:nvSpPr>
          <p:cNvPr name="AutoShape 20" id="20"/>
          <p:cNvSpPr/>
          <p:nvPr/>
        </p:nvSpPr>
        <p:spPr>
          <a:xfrm rot="0" flipH="false" flipV="false">
            <a:off x="4597400" y="4318000"/>
            <a:ext cx="32512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333333"/>
                </a:solidFill>
                <a:latin typeface="Noto Sans SC"/>
                <a:ea typeface="Noto Sans SC"/>
                <a:cs typeface="Noto Sans SC"/>
                <a:sym typeface="Noto Sans SC"/>
              </a:rPr>
              <a:t>Constraints/Risks:</a:t>
            </a:r>
            <a:r>
              <a:rPr lang="en-US" b="false" i="false" strike="noStrike" u="none" sz="1200">
                <a:solidFill>
                  <a:srgbClr val="555555"/>
                </a:solidFill>
                <a:latin typeface="Noto Sans SC"/>
                <a:ea typeface="Noto Sans SC"/>
                <a:cs typeface="Noto Sans SC"/>
                <a:sym typeface="Noto Sans SC"/>
              </a:rPr>
              <a:t>Soft constraints via information guidance. Risks include incomplete information, context pollution. Engineers act as information pipeline designers.</a:t>
            </a:r>
            <a:endParaRPr lang="en-US" sz="1100"/>
          </a:p>
        </p:txBody>
      </p:sp>
      <p:sp>
        <p:nvSpPr>
          <p:cNvPr name="AutoShape 21" id="21"/>
          <p:cNvSpPr/>
          <p:nvPr/>
        </p:nvSpPr>
        <p:spPr>
          <a:xfrm rot="0" flipH="false" flipV="false">
            <a:off x="4597400" y="5651500"/>
            <a:ext cx="3251200" cy="508000"/>
          </a:xfrm>
          <a:prstGeom prst="roundRect">
            <a:avLst>
              <a:gd name="adj" fmla="val 0"/>
            </a:avLst>
          </a:prstGeom>
          <a:solidFill>
            <a:srgbClr val="E60012">
              <a:alpha val="8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22" id="22"/>
          <p:cNvSpPr/>
          <p:nvPr/>
        </p:nvSpPr>
        <p:spPr>
          <a:xfrm rot="0" flipH="false" flipV="false">
            <a:off x="4660900" y="5715000"/>
            <a:ext cx="31242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true" strike="noStrike" u="none" sz="1300">
                <a:solidFill>
                  <a:srgbClr val="E60012"/>
                </a:solidFill>
                <a:latin typeface="Noto Sans SC"/>
                <a:ea typeface="Noto Sans SC"/>
                <a:cs typeface="Noto Sans SC"/>
                <a:sym typeface="Noto Sans SC"/>
              </a:rPr>
              <a:t>"Make AI know more."</a:t>
            </a:r>
            <a:endParaRPr lang="en-US" sz="1100"/>
          </a:p>
        </p:txBody>
      </p:sp>
      <p:sp>
        <p:nvSpPr>
          <p:cNvPr name="AutoShape 23" id="23"/>
          <p:cNvSpPr/>
          <p:nvPr/>
        </p:nvSpPr>
        <p:spPr>
          <a:xfrm rot="0" flipH="false" flipV="false">
            <a:off x="8051800" y="1905000"/>
            <a:ext cx="3505200" cy="4572000"/>
          </a:xfrm>
          <a:prstGeom prst="roundRect">
            <a:avLst>
              <a:gd name="adj" fmla="val 0"/>
            </a:avLst>
          </a:prstGeom>
          <a:solidFill>
            <a:srgbClr val="FFFFFF">
              <a:alpha val="75000"/>
            </a:srgbClr>
          </a:solidFill>
          <a:ln w="12700" cmpd="sng" cap="flat">
            <a:solidFill>
              <a:srgbClr val="E60012">
                <a:alpha val="15000"/>
              </a:srgbClr>
            </a:solid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8051800" y="1905000"/>
            <a:ext cx="3505200" cy="76200"/>
          </a:xfrm>
          <a:prstGeom prst="roundRect">
            <a:avLst>
              <a:gd name="adj" fmla="val 0"/>
            </a:avLst>
          </a:prstGeom>
          <a:solidFill>
            <a:srgbClr val="E60012">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8178800" y="2159000"/>
            <a:ext cx="32512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E60012"/>
                </a:solidFill>
                <a:latin typeface="Noto Sans SC"/>
                <a:ea typeface="Noto Sans SC"/>
                <a:cs typeface="Noto Sans SC"/>
                <a:sym typeface="Noto Sans SC"/>
              </a:rPr>
              <a:t>03 Harness Engineering</a:t>
            </a:r>
            <a:endParaRPr lang="en-US" sz="1100"/>
          </a:p>
        </p:txBody>
      </p:sp>
      <p:cxnSp>
        <p:nvCxnSpPr>
          <p:cNvPr name="Connector 26" id="26"/>
          <p:cNvCxnSpPr/>
          <p:nvPr/>
        </p:nvCxnSpPr>
        <p:spPr>
          <a:xfrm rot="-13428" flipH="false" flipV="false">
            <a:off x="8178812" y="2787650"/>
            <a:ext cx="3251200" cy="12700"/>
          </a:xfrm>
          <a:prstGeom prst="straightConnector1">
            <a:avLst/>
          </a:prstGeom>
          <a:solidFill>
            <a:srgbClr val="DEE0E3">
              <a:alpha val="100000"/>
            </a:srgbClr>
          </a:solidFill>
          <a:ln w="12700" cmpd="sng" cap="flat">
            <a:solidFill>
              <a:srgbClr val="333333">
                <a:alpha val="10000"/>
              </a:srgbClr>
            </a:solidFill>
            <a:prstDash val="dash"/>
            <a:round/>
            <a:headEnd type="none" w="med" len="med"/>
            <a:tailEnd type="none" w="med" len="med"/>
          </a:ln>
        </p:spPr>
      </p:cxnSp>
      <p:sp>
        <p:nvSpPr>
          <p:cNvPr name="AutoShape 27" id="27"/>
          <p:cNvSpPr/>
          <p:nvPr/>
        </p:nvSpPr>
        <p:spPr>
          <a:xfrm rot="0" flipH="false" flipV="false">
            <a:off x="8178800" y="2984500"/>
            <a:ext cx="32512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333333"/>
                </a:solidFill>
                <a:latin typeface="Noto Sans SC"/>
                <a:ea typeface="Noto Sans SC"/>
                <a:cs typeface="Noto Sans SC"/>
                <a:sym typeface="Noto Sans SC"/>
              </a:rPr>
              <a:t>Core Question &amp; Management:</a:t>
            </a:r>
            <a:r>
              <a:rPr lang="en-US" b="false" i="false" strike="noStrike" u="none" sz="1300">
                <a:solidFill>
                  <a:srgbClr val="555555"/>
                </a:solidFill>
                <a:latin typeface="Noto Sans SC"/>
                <a:ea typeface="Noto Sans SC"/>
                <a:cs typeface="Noto Sans SC"/>
                <a:sym typeface="Noto Sans SC"/>
              </a:rPr>
              <a:t>How to stabilize behavior and ensure reliability? Manage the full lifecycle of Agent tasks. Software engineering &amp; DevOps.</a:t>
            </a:r>
            <a:endParaRPr lang="en-US" sz="1100"/>
          </a:p>
        </p:txBody>
      </p:sp>
      <p:cxnSp>
        <p:nvCxnSpPr>
          <p:cNvPr name="Connector 28" id="28"/>
          <p:cNvCxnSpPr/>
          <p:nvPr/>
        </p:nvCxnSpPr>
        <p:spPr>
          <a:xfrm rot="-13428" flipH="false" flipV="false">
            <a:off x="8178812" y="4184650"/>
            <a:ext cx="3251225" cy="12700"/>
          </a:xfrm>
          <a:prstGeom prst="straightConnector1">
            <a:avLst/>
          </a:prstGeom>
          <a:solidFill>
            <a:srgbClr val="DEE0E3">
              <a:alpha val="100000"/>
            </a:srgbClr>
          </a:solidFill>
          <a:ln w="12700" cmpd="sng" cap="flat">
            <a:solidFill>
              <a:srgbClr val="333333">
                <a:alpha val="10000"/>
              </a:srgbClr>
            </a:solidFill>
            <a:prstDash val="dash"/>
            <a:round/>
            <a:headEnd type="none" w="med" len="med"/>
            <a:tailEnd type="none" w="med" len="med"/>
          </a:ln>
        </p:spPr>
      </p:cxnSp>
      <p:sp>
        <p:nvSpPr>
          <p:cNvPr name="AutoShape 29" id="29"/>
          <p:cNvSpPr/>
          <p:nvPr/>
        </p:nvSpPr>
        <p:spPr>
          <a:xfrm rot="0" flipH="false" flipV="false">
            <a:off x="8178800" y="4318000"/>
            <a:ext cx="32512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333333"/>
                </a:solidFill>
                <a:latin typeface="Noto Sans SC"/>
                <a:ea typeface="Noto Sans SC"/>
                <a:cs typeface="Noto Sans SC"/>
                <a:sym typeface="Noto Sans SC"/>
              </a:rPr>
              <a:t>Constraints/Risks:</a:t>
            </a:r>
            <a:r>
              <a:rPr lang="en-US" b="false" i="false" strike="noStrike" u="none" sz="1200">
                <a:solidFill>
                  <a:srgbClr val="555555"/>
                </a:solidFill>
                <a:latin typeface="Noto Sans SC"/>
                <a:ea typeface="Noto Sans SC"/>
                <a:cs typeface="Noto Sans SC"/>
                <a:sym typeface="Noto Sans SC"/>
              </a:rPr>
              <a:t>Hard constraints enforced by code. Risks include system crashes, security vulnerabilities, and cost overruns. Engineers act as control system architects.</a:t>
            </a:r>
            <a:endParaRPr lang="en-US" sz="1100"/>
          </a:p>
        </p:txBody>
      </p:sp>
      <p:sp>
        <p:nvSpPr>
          <p:cNvPr name="AutoShape 30" id="30"/>
          <p:cNvSpPr/>
          <p:nvPr/>
        </p:nvSpPr>
        <p:spPr>
          <a:xfrm rot="0" flipH="false" flipV="false">
            <a:off x="8178800" y="5651500"/>
            <a:ext cx="3251200" cy="508000"/>
          </a:xfrm>
          <a:prstGeom prst="roundRect">
            <a:avLst>
              <a:gd name="adj" fmla="val 0"/>
            </a:avLst>
          </a:prstGeom>
          <a:solidFill>
            <a:srgbClr val="E60012">
              <a:alpha val="8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1" id="31"/>
          <p:cNvSpPr/>
          <p:nvPr/>
        </p:nvSpPr>
        <p:spPr>
          <a:xfrm rot="0" flipH="false" flipV="false">
            <a:off x="8242300" y="5715000"/>
            <a:ext cx="31242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true" strike="noStrike" u="none" sz="1300">
                <a:solidFill>
                  <a:srgbClr val="E60012"/>
                </a:solidFill>
                <a:latin typeface="Noto Sans SC"/>
                <a:ea typeface="Noto Sans SC"/>
                <a:cs typeface="Noto Sans SC"/>
                <a:sym typeface="Noto Sans SC"/>
              </a:rPr>
              <a:t>"Make AI work more reliably."</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4508500" y="1524000"/>
            <a:ext cx="3175000" cy="2540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0000">
                <a:solidFill>
                  <a:srgbClr val="E60012">
                    <a:alpha val="20000"/>
                  </a:srgbClr>
                </a:solidFill>
                <a:latin typeface="Poppins"/>
                <a:ea typeface="Poppins"/>
                <a:cs typeface="Poppins"/>
                <a:sym typeface="Poppins"/>
              </a:rPr>
              <a:t>02</a:t>
            </a:r>
            <a:endParaRPr lang="en-US" sz="1100"/>
          </a:p>
        </p:txBody>
      </p:sp>
      <p:sp>
        <p:nvSpPr>
          <p:cNvPr name="AutoShape 3" id="3"/>
          <p:cNvSpPr/>
          <p:nvPr/>
        </p:nvSpPr>
        <p:spPr>
          <a:xfrm rot="0" flipH="false" flipV="false">
            <a:off x="0" y="43180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600">
                <a:solidFill>
                  <a:srgbClr val="333333"/>
                </a:solidFill>
                <a:latin typeface="Noto Sans SC"/>
                <a:ea typeface="Noto Sans SC"/>
                <a:cs typeface="Noto Sans SC"/>
                <a:sym typeface="Noto Sans SC"/>
              </a:rPr>
              <a:t>Harness Engineering</a:t>
            </a:r>
            <a:endParaRPr lang="en-US" sz="1100"/>
          </a:p>
        </p:txBody>
      </p:sp>
      <p:sp>
        <p:nvSpPr>
          <p:cNvPr name="AutoShape 4" id="4"/>
          <p:cNvSpPr/>
          <p:nvPr/>
        </p:nvSpPr>
        <p:spPr>
          <a:xfrm rot="0" flipH="false" flipV="false">
            <a:off x="5461000" y="5461000"/>
            <a:ext cx="12700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5842000"/>
            <a:ext cx="10160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6666"/>
              </a:lnSpc>
              <a:defRPr/>
            </a:pPr>
            <a:r>
              <a:rPr lang="en-US" b="false" i="false" strike="noStrike" u="none" sz="1400">
                <a:solidFill>
                  <a:srgbClr val="666666"/>
                </a:solidFill>
                <a:latin typeface="Poppins"/>
                <a:ea typeface="Poppins"/>
                <a:cs typeface="Poppins"/>
                <a:sym typeface="Poppins"/>
              </a:rPr>
              <a:t>Focusing on the core architecture and six key components, using an engineering mindset to build the foundation for highly available, scalable, and monitorable AI Agent systems.</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71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400">
                <a:solidFill>
                  <a:srgbClr val="1C2A3F"/>
                </a:solidFill>
                <a:latin typeface="Noto Sans SC"/>
                <a:ea typeface="Noto Sans SC"/>
                <a:cs typeface="Noto Sans SC"/>
                <a:sym typeface="Noto Sans SC"/>
              </a:rPr>
              <a:t>Harness Overall Architecture</a:t>
            </a:r>
            <a:endParaRPr lang="en-US" sz="1100"/>
          </a:p>
        </p:txBody>
      </p:sp>
      <p:sp>
        <p:nvSpPr>
          <p:cNvPr name="AutoShape 3" id="3"/>
          <p:cNvSpPr/>
          <p:nvPr/>
        </p:nvSpPr>
        <p:spPr>
          <a:xfrm rot="0" flipH="false" flipV="false">
            <a:off x="4445000" y="1778000"/>
            <a:ext cx="3302000" cy="1270000"/>
          </a:xfrm>
          <a:prstGeom prst="roundRect">
            <a:avLst>
              <a:gd name="adj" fmla="val 10000"/>
            </a:avLst>
          </a:prstGeom>
          <a:solidFill>
            <a:srgbClr val="1E40AF">
              <a:alpha val="100000"/>
            </a:srgbClr>
          </a:solidFill>
          <a:ln w="12700" cmpd="sng" cap="flat">
            <a:solidFill>
              <a:srgbClr val="BFDBFE">
                <a:alpha val="100000"/>
              </a:srgbClr>
            </a:solidFill>
            <a:prstDash val="solid"/>
            <a:round/>
          </a:ln>
        </p:spPr>
        <p:txBody>
          <a:bodyPr anchor="ctr" rtlCol="false" anchorCtr="false" vert="horz" wrap="square" lIns="101600" rIns="101600" tIns="101600" bIns="101600"/>
          <a:lstStyle/>
          <a:p>
            <a:pPr algn="ctr" marL="0" indent="0">
              <a:lnSpc>
                <a:spcPct val="100000"/>
              </a:lnSpc>
              <a:defRPr/>
            </a:pPr>
            <a:r>
              <a:rPr lang="en-US" b="true" i="false" strike="noStrike" u="none" sz="1500">
                <a:solidFill>
                  <a:srgbClr val="FFFFFF"/>
                </a:solidFill>
                <a:latin typeface="Noto Sans SC"/>
                <a:ea typeface="Noto Sans SC"/>
                <a:cs typeface="Noto Sans SC"/>
                <a:sym typeface="Noto Sans SC"/>
              </a:rPr>
              <a:t>Orchestrator</a:t>
            </a:r>
            <a:r>
              <a:rPr lang="en-US" b="false" i="false" strike="noStrike" u="none" sz="1300">
                <a:solidFill>
                  <a:srgbClr val="FFFFFF"/>
                </a:solidFill>
                <a:latin typeface="Noto Sans SC"/>
                <a:ea typeface="Noto Sans SC"/>
                <a:cs typeface="Noto Sans SC"/>
                <a:sym typeface="Noto Sans SC"/>
              </a:rPr>
              <a:t/>
            </a:r>
            <a:endParaRPr lang="en-US" sz="1100"/>
          </a:p>
          <a:p>
            <a:pPr algn="ctr" marL="0" indent="0">
              <a:lnSpc>
                <a:spcPct val="100000"/>
              </a:lnSpc>
            </a:pPr>
            <a:r>
              <a:rPr lang="en-US" b="false" i="false" strike="noStrike" u="none" sz="1000">
                <a:solidFill>
                  <a:srgbClr val="E5E7EB"/>
                </a:solidFill>
                <a:latin typeface="Noto Sans SC"/>
                <a:ea typeface="Noto Sans SC"/>
                <a:cs typeface="Noto Sans SC"/>
                <a:sym typeface="Noto Sans SC"/>
              </a:rPr>
              <a:t>The brain, responsible for task reception, plan parsing, agent scheduling, and lifecycle management.</a:t>
            </a:r>
          </a:p>
        </p:txBody>
      </p:sp>
      <p:sp>
        <p:nvSpPr>
          <p:cNvPr name="AutoShape 4" id="4"/>
          <p:cNvSpPr/>
          <p:nvPr/>
        </p:nvSpPr>
        <p:spPr>
          <a:xfrm rot="0" flipH="false" flipV="false">
            <a:off x="1016000" y="2032000"/>
            <a:ext cx="3048000" cy="1016000"/>
          </a:xfrm>
          <a:prstGeom prst="roundRect">
            <a:avLst>
              <a:gd name="adj" fmla="val 10000"/>
            </a:avLst>
          </a:prstGeom>
          <a:solidFill>
            <a:srgbClr val="EFF6FF">
              <a:alpha val="100000"/>
            </a:srgbClr>
          </a:solidFill>
          <a:ln w="12700" cmpd="sng" cap="flat">
            <a:solidFill>
              <a:srgbClr val="93C5FD">
                <a:alpha val="100000"/>
              </a:srgbClr>
            </a:solidFill>
            <a:prstDash val="solid"/>
            <a:round/>
          </a:ln>
        </p:spPr>
        <p:txBody>
          <a:bodyPr anchor="ctr" rtlCol="false" anchorCtr="false" vert="horz" wrap="square" lIns="76200" rIns="76200" tIns="76200" bIns="76200"/>
          <a:lstStyle/>
          <a:p>
            <a:pPr algn="ctr" marL="0" indent="0">
              <a:lnSpc>
                <a:spcPct val="100000"/>
              </a:lnSpc>
              <a:defRPr/>
            </a:pPr>
            <a:r>
              <a:rPr lang="en-US" b="true" i="false" strike="noStrike" u="none" sz="1300">
                <a:solidFill>
                  <a:srgbClr val="1E40AF"/>
                </a:solidFill>
                <a:latin typeface="Noto Sans SC"/>
                <a:ea typeface="Noto Sans SC"/>
                <a:cs typeface="Noto Sans SC"/>
                <a:sym typeface="Noto Sans SC"/>
              </a:rPr>
              <a:t>Tool Registry</a:t>
            </a:r>
            <a:r>
              <a:rPr lang="en-US" b="false" i="false" strike="noStrike" u="none" sz="1100">
                <a:solidFill>
                  <a:srgbClr val="1F2329"/>
                </a:solidFill>
                <a:latin typeface="Noto Sans SC"/>
                <a:ea typeface="Noto Sans SC"/>
                <a:cs typeface="Noto Sans SC"/>
                <a:sym typeface="Noto Sans SC"/>
              </a:rPr>
              <a:t/>
            </a:r>
            <a:endParaRPr lang="en-US" sz="1100"/>
          </a:p>
          <a:p>
            <a:pPr algn="ctr" marL="0" indent="0">
              <a:lnSpc>
                <a:spcPct val="100000"/>
              </a:lnSpc>
            </a:pPr>
            <a:r>
              <a:rPr lang="en-US" b="false" i="false" strike="noStrike" u="none" sz="900">
                <a:solidFill>
                  <a:srgbClr val="4B5563"/>
                </a:solidFill>
                <a:latin typeface="Noto Sans SC"/>
                <a:ea typeface="Noto Sans SC"/>
                <a:cs typeface="Noto Sans SC"/>
                <a:sym typeface="Noto Sans SC"/>
              </a:rPr>
              <a:t>Unified entry and security boundary for all tools, managing permissions and audits.</a:t>
            </a:r>
          </a:p>
        </p:txBody>
      </p:sp>
      <p:sp>
        <p:nvSpPr>
          <p:cNvPr name="AutoShape 5" id="5"/>
          <p:cNvSpPr/>
          <p:nvPr/>
        </p:nvSpPr>
        <p:spPr>
          <a:xfrm rot="0" flipH="false" flipV="false">
            <a:off x="8128000" y="2032000"/>
            <a:ext cx="3048000" cy="1016000"/>
          </a:xfrm>
          <a:prstGeom prst="roundRect">
            <a:avLst>
              <a:gd name="adj" fmla="val 10000"/>
            </a:avLst>
          </a:prstGeom>
          <a:solidFill>
            <a:srgbClr val="EFF6FF">
              <a:alpha val="100000"/>
            </a:srgbClr>
          </a:solidFill>
          <a:ln w="12700" cmpd="sng" cap="flat">
            <a:solidFill>
              <a:srgbClr val="93C5FD">
                <a:alpha val="100000"/>
              </a:srgbClr>
            </a:solidFill>
            <a:prstDash val="solid"/>
            <a:round/>
          </a:ln>
        </p:spPr>
        <p:txBody>
          <a:bodyPr anchor="ctr" rtlCol="false" anchorCtr="false" vert="horz" wrap="square" lIns="76200" rIns="76200" tIns="76200" bIns="76200"/>
          <a:lstStyle/>
          <a:p>
            <a:pPr algn="ctr" marL="0" indent="0">
              <a:lnSpc>
                <a:spcPct val="100000"/>
              </a:lnSpc>
              <a:defRPr/>
            </a:pPr>
            <a:r>
              <a:rPr lang="en-US" b="true" i="false" strike="noStrike" u="none" sz="1300">
                <a:solidFill>
                  <a:srgbClr val="1E40AF"/>
                </a:solidFill>
                <a:latin typeface="Noto Sans SC"/>
                <a:ea typeface="Noto Sans SC"/>
                <a:cs typeface="Noto Sans SC"/>
                <a:sym typeface="Noto Sans SC"/>
              </a:rPr>
              <a:t>State &amp; Memory System</a:t>
            </a:r>
            <a:r>
              <a:rPr lang="en-US" b="false" i="false" strike="noStrike" u="none" sz="1100">
                <a:solidFill>
                  <a:srgbClr val="1F2329"/>
                </a:solidFill>
                <a:latin typeface="Noto Sans SC"/>
                <a:ea typeface="Noto Sans SC"/>
                <a:cs typeface="Noto Sans SC"/>
                <a:sym typeface="Noto Sans SC"/>
              </a:rPr>
              <a:t/>
            </a:r>
            <a:endParaRPr lang="en-US" sz="1100"/>
          </a:p>
          <a:p>
            <a:pPr algn="ctr" marL="0" indent="0">
              <a:lnSpc>
                <a:spcPct val="100000"/>
              </a:lnSpc>
            </a:pPr>
            <a:r>
              <a:rPr lang="en-US" b="false" i="false" strike="noStrike" u="none" sz="900">
                <a:solidFill>
                  <a:srgbClr val="4B5563"/>
                </a:solidFill>
                <a:latin typeface="Noto Sans SC"/>
                <a:ea typeface="Noto Sans SC"/>
                <a:cs typeface="Noto Sans SC"/>
                <a:sym typeface="Noto Sans SC"/>
              </a:rPr>
              <a:t>Manages short-term runtime state and long-term reusable memory.</a:t>
            </a:r>
          </a:p>
        </p:txBody>
      </p:sp>
      <p:sp>
        <p:nvSpPr>
          <p:cNvPr name="AutoShape 6" id="6"/>
          <p:cNvSpPr/>
          <p:nvPr/>
        </p:nvSpPr>
        <p:spPr>
          <a:xfrm rot="0" flipH="false" flipV="false">
            <a:off x="1016000" y="3556000"/>
            <a:ext cx="3048000" cy="1016000"/>
          </a:xfrm>
          <a:prstGeom prst="roundRect">
            <a:avLst>
              <a:gd name="adj" fmla="val 10000"/>
            </a:avLst>
          </a:prstGeom>
          <a:solidFill>
            <a:srgbClr val="EFF6FF">
              <a:alpha val="100000"/>
            </a:srgbClr>
          </a:solidFill>
          <a:ln w="12700" cmpd="sng" cap="flat">
            <a:solidFill>
              <a:srgbClr val="93C5FD">
                <a:alpha val="100000"/>
              </a:srgbClr>
            </a:solidFill>
            <a:prstDash val="solid"/>
            <a:round/>
          </a:ln>
        </p:spPr>
        <p:txBody>
          <a:bodyPr anchor="ctr" rtlCol="false" anchorCtr="false" vert="horz" wrap="square" lIns="76200" rIns="76200" tIns="76200" bIns="76200"/>
          <a:lstStyle/>
          <a:p>
            <a:pPr algn="ctr" marL="0" indent="0">
              <a:lnSpc>
                <a:spcPct val="100000"/>
              </a:lnSpc>
              <a:defRPr/>
            </a:pPr>
            <a:r>
              <a:rPr lang="en-US" b="true" i="false" strike="noStrike" u="none" sz="1300">
                <a:solidFill>
                  <a:srgbClr val="1E40AF"/>
                </a:solidFill>
                <a:latin typeface="Noto Sans SC"/>
                <a:ea typeface="Noto Sans SC"/>
                <a:cs typeface="Noto Sans SC"/>
                <a:sym typeface="Noto Sans SC"/>
              </a:rPr>
              <a:t>Cost Control Module</a:t>
            </a:r>
            <a:r>
              <a:rPr lang="en-US" b="false" i="false" strike="noStrike" u="none" sz="1100">
                <a:solidFill>
                  <a:srgbClr val="1F2329"/>
                </a:solidFill>
                <a:latin typeface="Noto Sans SC"/>
                <a:ea typeface="Noto Sans SC"/>
                <a:cs typeface="Noto Sans SC"/>
                <a:sym typeface="Noto Sans SC"/>
              </a:rPr>
              <a:t/>
            </a:r>
            <a:endParaRPr lang="en-US" sz="1100"/>
          </a:p>
          <a:p>
            <a:pPr algn="ctr" marL="0" indent="0">
              <a:lnSpc>
                <a:spcPct val="100000"/>
              </a:lnSpc>
            </a:pPr>
            <a:r>
              <a:rPr lang="en-US" b="false" i="false" strike="noStrike" u="none" sz="900">
                <a:solidFill>
                  <a:srgbClr val="4B5563"/>
                </a:solidFill>
                <a:latin typeface="Noto Sans SC"/>
                <a:ea typeface="Noto Sans SC"/>
                <a:cs typeface="Noto Sans SC"/>
                <a:sym typeface="Noto Sans SC"/>
              </a:rPr>
              <a:t>Monitors token consumption in real-time and enforces budget management.</a:t>
            </a:r>
          </a:p>
        </p:txBody>
      </p:sp>
      <p:sp>
        <p:nvSpPr>
          <p:cNvPr name="AutoShape 7" id="7"/>
          <p:cNvSpPr/>
          <p:nvPr/>
        </p:nvSpPr>
        <p:spPr>
          <a:xfrm rot="0" flipH="false" flipV="false">
            <a:off x="8128000" y="3556000"/>
            <a:ext cx="3048000" cy="1016000"/>
          </a:xfrm>
          <a:prstGeom prst="roundRect">
            <a:avLst>
              <a:gd name="adj" fmla="val 10000"/>
            </a:avLst>
          </a:prstGeom>
          <a:solidFill>
            <a:srgbClr val="EFF6FF">
              <a:alpha val="100000"/>
            </a:srgbClr>
          </a:solidFill>
          <a:ln w="12700" cmpd="sng" cap="flat">
            <a:solidFill>
              <a:srgbClr val="93C5FD">
                <a:alpha val="100000"/>
              </a:srgbClr>
            </a:solidFill>
            <a:prstDash val="solid"/>
            <a:round/>
          </a:ln>
        </p:spPr>
        <p:txBody>
          <a:bodyPr anchor="ctr" rtlCol="false" anchorCtr="false" vert="horz" wrap="square" lIns="76200" rIns="76200" tIns="76200" bIns="76200"/>
          <a:lstStyle/>
          <a:p>
            <a:pPr algn="ctr" marL="0" indent="0">
              <a:lnSpc>
                <a:spcPct val="100000"/>
              </a:lnSpc>
              <a:defRPr/>
            </a:pPr>
            <a:r>
              <a:rPr lang="en-US" b="true" i="false" strike="noStrike" u="none" sz="1300">
                <a:solidFill>
                  <a:srgbClr val="1E40AF"/>
                </a:solidFill>
                <a:latin typeface="Noto Sans SC"/>
                <a:ea typeface="Noto Sans SC"/>
                <a:cs typeface="Noto Sans SC"/>
                <a:sym typeface="Noto Sans SC"/>
              </a:rPr>
              <a:t>Observability &amp; Tracing</a:t>
            </a:r>
            <a:r>
              <a:rPr lang="en-US" b="false" i="false" strike="noStrike" u="none" sz="1100">
                <a:solidFill>
                  <a:srgbClr val="1F2329"/>
                </a:solidFill>
                <a:latin typeface="Noto Sans SC"/>
                <a:ea typeface="Noto Sans SC"/>
                <a:cs typeface="Noto Sans SC"/>
                <a:sym typeface="Noto Sans SC"/>
              </a:rPr>
              <a:t/>
            </a:r>
            <a:endParaRPr lang="en-US" sz="1100"/>
          </a:p>
          <a:p>
            <a:pPr algn="ctr" marL="0" indent="0">
              <a:lnSpc>
                <a:spcPct val="100000"/>
              </a:lnSpc>
            </a:pPr>
            <a:r>
              <a:rPr lang="en-US" b="false" i="false" strike="noStrike" u="none" sz="900">
                <a:solidFill>
                  <a:srgbClr val="4B5563"/>
                </a:solidFill>
                <a:latin typeface="Noto Sans SC"/>
                <a:ea typeface="Noto Sans SC"/>
                <a:cs typeface="Noto Sans SC"/>
                <a:sym typeface="Noto Sans SC"/>
              </a:rPr>
              <a:t>Collects logs, metrics, and traces for debugging and auditing.</a:t>
            </a:r>
          </a:p>
        </p:txBody>
      </p:sp>
      <p:sp>
        <p:nvSpPr>
          <p:cNvPr name="AutoShape 8" id="8"/>
          <p:cNvSpPr/>
          <p:nvPr/>
        </p:nvSpPr>
        <p:spPr>
          <a:xfrm rot="0" flipH="false" flipV="false">
            <a:off x="4445000" y="4572000"/>
            <a:ext cx="3302000" cy="762000"/>
          </a:xfrm>
          <a:prstGeom prst="roundRect">
            <a:avLst>
              <a:gd name="adj" fmla="val 13333"/>
            </a:avLst>
          </a:prstGeom>
          <a:solidFill>
            <a:srgbClr val="EFF6FF">
              <a:alpha val="100000"/>
            </a:srgbClr>
          </a:solidFill>
          <a:ln w="12700" cmpd="sng" cap="flat">
            <a:solidFill>
              <a:srgbClr val="93C5FD">
                <a:alpha val="100000"/>
              </a:srgbClr>
            </a:solidFill>
            <a:prstDash val="solid"/>
            <a:round/>
          </a:ln>
        </p:spPr>
        <p:txBody>
          <a:bodyPr anchor="ctr" rtlCol="false" anchorCtr="false" vert="horz" wrap="square" lIns="76200" rIns="76200" tIns="50800" bIns="50800"/>
          <a:lstStyle/>
          <a:p>
            <a:pPr algn="ctr" marL="0" indent="0">
              <a:lnSpc>
                <a:spcPct val="100000"/>
              </a:lnSpc>
              <a:defRPr/>
            </a:pPr>
            <a:r>
              <a:rPr lang="en-US" b="true" i="false" strike="noStrike" u="none" sz="1200">
                <a:solidFill>
                  <a:srgbClr val="1E40AF"/>
                </a:solidFill>
                <a:latin typeface="Noto Sans SC"/>
                <a:ea typeface="Noto Sans SC"/>
                <a:cs typeface="Noto Sans SC"/>
                <a:sym typeface="Noto Sans SC"/>
              </a:rPr>
              <a:t>Evaluation Pipeline</a:t>
            </a:r>
            <a:r>
              <a:rPr lang="en-US" b="false" i="false" strike="noStrike" u="none" sz="1100">
                <a:solidFill>
                  <a:srgbClr val="1F2329"/>
                </a:solidFill>
                <a:latin typeface="Noto Sans SC"/>
                <a:ea typeface="Noto Sans SC"/>
                <a:cs typeface="Noto Sans SC"/>
                <a:sym typeface="Noto Sans SC"/>
              </a:rPr>
              <a:t/>
            </a:r>
            <a:endParaRPr lang="en-US" sz="1100"/>
          </a:p>
          <a:p>
            <a:pPr algn="ctr" marL="0" indent="0">
              <a:lnSpc>
                <a:spcPct val="100000"/>
              </a:lnSpc>
            </a:pPr>
            <a:r>
              <a:rPr lang="en-US" b="false" i="false" strike="noStrike" u="none" sz="900">
                <a:solidFill>
                  <a:srgbClr val="4B5563"/>
                </a:solidFill>
                <a:latin typeface="Noto Sans SC"/>
                <a:ea typeface="Noto Sans SC"/>
                <a:cs typeface="Noto Sans SC"/>
                <a:sym typeface="Noto Sans SC"/>
              </a:rPr>
              <a:t>Automatically evaluates the execution trajectory and final results.</a:t>
            </a:r>
          </a:p>
        </p:txBody>
      </p:sp>
      <p:cxnSp>
        <p:nvCxnSpPr>
          <p:cNvPr name="Connector 9" id="9"/>
          <p:cNvCxnSpPr/>
          <p:nvPr/>
        </p:nvCxnSpPr>
        <p:spPr>
          <a:xfrm rot="-114549" flipH="false" flipV="false">
            <a:off x="4064106" y="2406650"/>
            <a:ext cx="381000" cy="12700"/>
          </a:xfrm>
          <a:prstGeom prst="straightConnector1">
            <a:avLst/>
          </a:prstGeom>
          <a:solidFill>
            <a:srgbClr val="DEE0E3">
              <a:alpha val="100000"/>
            </a:srgbClr>
          </a:solidFill>
          <a:ln w="12700" cmpd="sng" cap="flat">
            <a:solidFill>
              <a:srgbClr val="6B7280">
                <a:alpha val="100000"/>
              </a:srgbClr>
            </a:solidFill>
            <a:prstDash val="solid"/>
            <a:round/>
            <a:headEnd type="arrow" w="sm" len="sm"/>
            <a:tailEnd type="arrow" w="sm" len="sm"/>
          </a:ln>
        </p:spPr>
      </p:cxnSp>
      <p:cxnSp>
        <p:nvCxnSpPr>
          <p:cNvPr name="Connector 10" id="10"/>
          <p:cNvCxnSpPr/>
          <p:nvPr/>
        </p:nvCxnSpPr>
        <p:spPr>
          <a:xfrm rot="-114549" flipH="false" flipV="false">
            <a:off x="7747106" y="2406650"/>
            <a:ext cx="381000" cy="12700"/>
          </a:xfrm>
          <a:prstGeom prst="straightConnector1">
            <a:avLst/>
          </a:prstGeom>
          <a:solidFill>
            <a:srgbClr val="DEE0E3">
              <a:alpha val="100000"/>
            </a:srgbClr>
          </a:solidFill>
          <a:ln w="12700" cmpd="sng" cap="flat">
            <a:solidFill>
              <a:srgbClr val="6B7280">
                <a:alpha val="100000"/>
              </a:srgbClr>
            </a:solidFill>
            <a:prstDash val="solid"/>
            <a:round/>
            <a:headEnd type="arrow" w="sm" len="sm"/>
            <a:tailEnd type="arrow" w="sm" len="sm"/>
          </a:ln>
        </p:spPr>
      </p:cxnSp>
      <p:cxnSp>
        <p:nvCxnSpPr>
          <p:cNvPr name="Connector 11" id="11"/>
          <p:cNvCxnSpPr/>
          <p:nvPr/>
        </p:nvCxnSpPr>
        <p:spPr>
          <a:xfrm rot="-114549" flipH="false" flipV="false">
            <a:off x="4064106" y="4057650"/>
            <a:ext cx="381000" cy="12700"/>
          </a:xfrm>
          <a:prstGeom prst="straightConnector1">
            <a:avLst/>
          </a:prstGeom>
          <a:solidFill>
            <a:srgbClr val="DEE0E3">
              <a:alpha val="100000"/>
            </a:srgbClr>
          </a:solidFill>
          <a:ln w="12700" cmpd="sng" cap="flat">
            <a:solidFill>
              <a:srgbClr val="6B7280">
                <a:alpha val="100000"/>
              </a:srgbClr>
            </a:solidFill>
            <a:prstDash val="solid"/>
            <a:round/>
            <a:headEnd type="arrow" w="sm" len="sm"/>
            <a:tailEnd type="arrow" w="sm" len="sm"/>
          </a:ln>
        </p:spPr>
      </p:cxnSp>
      <p:cxnSp>
        <p:nvCxnSpPr>
          <p:cNvPr name="Connector 12" id="12"/>
          <p:cNvCxnSpPr/>
          <p:nvPr/>
        </p:nvCxnSpPr>
        <p:spPr>
          <a:xfrm rot="-114549" flipH="false" flipV="false">
            <a:off x="7747106" y="4057650"/>
            <a:ext cx="381000" cy="12700"/>
          </a:xfrm>
          <a:prstGeom prst="straightConnector1">
            <a:avLst/>
          </a:prstGeom>
          <a:solidFill>
            <a:srgbClr val="DEE0E3">
              <a:alpha val="100000"/>
            </a:srgbClr>
          </a:solidFill>
          <a:ln w="12700" cmpd="sng" cap="flat">
            <a:solidFill>
              <a:srgbClr val="6B7280">
                <a:alpha val="100000"/>
              </a:srgbClr>
            </a:solidFill>
            <a:prstDash val="solid"/>
            <a:round/>
            <a:headEnd type="arrow" w="sm" len="sm"/>
            <a:tailEnd type="arrow" w="sm" len="sm"/>
          </a:ln>
        </p:spPr>
      </p:cxnSp>
      <p:cxnSp>
        <p:nvCxnSpPr>
          <p:cNvPr name="Connector 13" id="13"/>
          <p:cNvCxnSpPr/>
          <p:nvPr/>
        </p:nvCxnSpPr>
        <p:spPr>
          <a:xfrm rot="5365623" flipH="false" flipV="false">
            <a:off x="5461000" y="3930682"/>
            <a:ext cx="1270000" cy="12700"/>
          </a:xfrm>
          <a:prstGeom prst="straightConnector1">
            <a:avLst/>
          </a:prstGeom>
          <a:solidFill>
            <a:srgbClr val="DEE0E3">
              <a:alpha val="100000"/>
            </a:srgbClr>
          </a:solidFill>
          <a:ln w="12700" cmpd="sng" cap="flat">
            <a:solidFill>
              <a:srgbClr val="6B7280">
                <a:alpha val="100000"/>
              </a:srgbClr>
            </a:solidFill>
            <a:prstDash val="solid"/>
            <a:round/>
            <a:headEnd type="arrow" w="sm" len="sm"/>
            <a:tailEnd type="arrow" w="sm" len="sm"/>
          </a:ln>
        </p:spPr>
      </p:cxnSp>
      <p:sp>
        <p:nvSpPr>
          <p:cNvPr name="AutoShape 14" id="14"/>
          <p:cNvSpPr/>
          <p:nvPr/>
        </p:nvSpPr>
        <p:spPr>
          <a:xfrm rot="0" flipH="false" flipV="false">
            <a:off x="762000" y="5588000"/>
            <a:ext cx="10668000" cy="889000"/>
          </a:xfrm>
          <a:prstGeom prst="roundRect">
            <a:avLst>
              <a:gd name="adj" fmla="val 8571"/>
            </a:avLst>
          </a:prstGeom>
          <a:solidFill>
            <a:srgbClr val="F9FAFB">
              <a:alpha val="100000"/>
            </a:srgbClr>
          </a:solidFill>
          <a:ln w="12700" cmpd="sng" cap="flat">
            <a:solidFill>
              <a:srgbClr val="E5E7EB">
                <a:alpha val="100000"/>
              </a:srgbClr>
            </a:solidFill>
            <a:prstDash val="solid"/>
            <a:round/>
          </a:ln>
        </p:spPr>
        <p:txBody>
          <a:bodyPr anchor="ctr" rtlCol="false" anchorCtr="false" vert="horz" wrap="square" lIns="190500" rIns="190500" tIns="101600" bIns="101600"/>
          <a:lstStyle/>
          <a:p>
            <a:pPr algn="ctr" marL="0" indent="0">
              <a:lnSpc>
                <a:spcPct val="108333"/>
              </a:lnSpc>
              <a:defRPr/>
            </a:pPr>
            <a:r>
              <a:rPr lang="en-US" b="true" i="false" strike="noStrike" u="none" sz="1300">
                <a:solidFill>
                  <a:srgbClr val="1E40AF"/>
                </a:solidFill>
                <a:latin typeface="Noto Sans SC"/>
                <a:ea typeface="Noto Sans SC"/>
                <a:cs typeface="Noto Sans SC"/>
                <a:sym typeface="Noto Sans SC"/>
              </a:rPr>
              <a:t>Task Execution Flow:</a:t>
            </a:r>
            <a:r>
              <a:rPr lang="en-US" b="false" i="false" strike="noStrike" u="none" sz="1100">
                <a:solidFill>
                  <a:srgbClr val="374151"/>
                </a:solidFill>
                <a:latin typeface="Noto Sans SC"/>
                <a:ea typeface="Noto Sans SC"/>
                <a:cs typeface="Noto Sans SC"/>
                <a:sym typeface="Noto Sans SC"/>
              </a:rPr>
              <a:t>1. Task Reception → 2. Plan Generation (by Planner Agent) → 3. Plan Adjudication (by Orchestrator) → 4. Agent &amp; Tool Routing → 5. Execution with State/Memory interaction → 6. Result Synthesis &amp; Review → 7. Task Completion &amp; Logging.</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333333"/>
                </a:solidFill>
                <a:latin typeface="Noto Sans SC"/>
                <a:ea typeface="Noto Sans SC"/>
                <a:cs typeface="Noto Sans SC"/>
                <a:sym typeface="Noto Sans SC"/>
              </a:rPr>
              <a:t>The Six Core Components of Harness</a:t>
            </a:r>
            <a:endParaRPr lang="en-US" sz="1100"/>
          </a:p>
        </p:txBody>
      </p:sp>
      <p:sp>
        <p:nvSpPr>
          <p:cNvPr name="AutoShape 4" id="4"/>
          <p:cNvSpPr/>
          <p:nvPr/>
        </p:nvSpPr>
        <p:spPr>
          <a:xfrm rot="0" flipH="false" flipV="false">
            <a:off x="762000" y="1905000"/>
            <a:ext cx="5207000" cy="1206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905000"/>
            <a:ext cx="76200" cy="1206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2032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01. Context Architecture: Carefully control and manage the information fed to the AI model.</a:t>
            </a:r>
            <a:endParaRPr lang="en-US" sz="1100"/>
          </a:p>
        </p:txBody>
      </p:sp>
      <p:sp>
        <p:nvSpPr>
          <p:cNvPr name="AutoShape 7" id="7"/>
          <p:cNvSpPr/>
          <p:nvPr/>
        </p:nvSpPr>
        <p:spPr>
          <a:xfrm rot="0" flipH="false" flipV="false">
            <a:off x="762000" y="3429000"/>
            <a:ext cx="5207000" cy="1206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762000" y="3429000"/>
            <a:ext cx="76200" cy="1206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016000" y="3556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02. Tools &amp; Permissions: Manage external tools and permissions for the AI Agent.</a:t>
            </a:r>
            <a:endParaRPr lang="en-US" sz="1100"/>
          </a:p>
        </p:txBody>
      </p:sp>
      <p:sp>
        <p:nvSpPr>
          <p:cNvPr name="AutoShape 10" id="10"/>
          <p:cNvSpPr/>
          <p:nvPr/>
        </p:nvSpPr>
        <p:spPr>
          <a:xfrm rot="0" flipH="false" flipV="false">
            <a:off x="762000" y="4889500"/>
            <a:ext cx="5207000" cy="1206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762000" y="4889500"/>
            <a:ext cx="76200" cy="1206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1016000" y="5080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03. Validation &amp; Guardrails: Set up automated checkpoints to ensure behavior meets expectations.</a:t>
            </a:r>
            <a:endParaRPr lang="en-US" sz="1100"/>
          </a:p>
        </p:txBody>
      </p:sp>
      <p:sp>
        <p:nvSpPr>
          <p:cNvPr name="AutoShape 13" id="13"/>
          <p:cNvSpPr/>
          <p:nvPr/>
        </p:nvSpPr>
        <p:spPr>
          <a:xfrm rot="0" flipH="false" flipV="false">
            <a:off x="6223000" y="1905000"/>
            <a:ext cx="5207000" cy="1206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223000" y="1905000"/>
            <a:ext cx="76200" cy="1206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477000" y="2032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04. Memory &amp; State: Provide a persistent memory system for the AI model.</a:t>
            </a:r>
            <a:endParaRPr lang="en-US" sz="1100"/>
          </a:p>
        </p:txBody>
      </p:sp>
      <p:sp>
        <p:nvSpPr>
          <p:cNvPr name="AutoShape 16" id="16"/>
          <p:cNvSpPr/>
          <p:nvPr/>
        </p:nvSpPr>
        <p:spPr>
          <a:xfrm rot="0" flipH="false" flipV="false">
            <a:off x="6223000" y="3429000"/>
            <a:ext cx="5207000" cy="1206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223000" y="3429000"/>
            <a:ext cx="76200" cy="1206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477000" y="3556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05. Observability &amp; Feedback: Establish a monitoring, logging, and evaluation system.</a:t>
            </a:r>
            <a:endParaRPr lang="en-US" sz="1100"/>
          </a:p>
        </p:txBody>
      </p:sp>
      <p:sp>
        <p:nvSpPr>
          <p:cNvPr name="AutoShape 19" id="19"/>
          <p:cNvSpPr/>
          <p:nvPr/>
        </p:nvSpPr>
        <p:spPr>
          <a:xfrm rot="0" flipH="false" flipV="false">
            <a:off x="6223000" y="4889500"/>
            <a:ext cx="5207000" cy="1206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223000" y="4889500"/>
            <a:ext cx="76200" cy="1206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477000" y="5080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06. Human-in-the-loop: Set up human review or takeover nodes as the final line of defense.</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71500"/>
            <a:ext cx="10668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000">
                <a:solidFill>
                  <a:srgbClr val="333333"/>
                </a:solidFill>
                <a:latin typeface="Noto Sans SC"/>
                <a:ea typeface="Noto Sans SC"/>
                <a:cs typeface="Noto Sans SC"/>
                <a:sym typeface="Noto Sans SC"/>
              </a:rPr>
              <a:t>Component 1: Architectural Orchestration</a:t>
            </a:r>
            <a:endParaRPr lang="en-US" sz="1100"/>
          </a:p>
        </p:txBody>
      </p:sp>
      <p:sp>
        <p:nvSpPr>
          <p:cNvPr name="AutoShape 4" id="4"/>
          <p:cNvSpPr/>
          <p:nvPr/>
        </p:nvSpPr>
        <p:spPr>
          <a:xfrm rot="0" flipH="false" flipV="false">
            <a:off x="762000" y="1651000"/>
            <a:ext cx="10668000" cy="1079500"/>
          </a:xfrm>
          <a:prstGeom prst="roundRect">
            <a:avLst>
              <a:gd name="adj" fmla="val 0"/>
            </a:avLst>
          </a:prstGeom>
          <a:solidFill>
            <a:srgbClr val="FFFFFF">
              <a:alpha val="70000"/>
            </a:srgbClr>
          </a:solidFill>
          <a:ln w="12700" cmpd="sng" cap="flat">
            <a:solidFill>
              <a:srgbClr val="E60012">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76200" cy="1079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752600"/>
            <a:ext cx="10160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Core Goal:</a:t>
            </a:r>
            <a:r>
              <a:rPr lang="en-US" b="false" i="false" strike="noStrike" u="none" sz="1200">
                <a:solidFill>
                  <a:srgbClr val="525252"/>
                </a:solidFill>
                <a:latin typeface="Noto Sans SC"/>
                <a:ea typeface="Noto Sans SC"/>
                <a:cs typeface="Noto Sans SC"/>
                <a:sym typeface="Noto Sans SC"/>
              </a:rPr>
              <a:t>To achieve order, predictability, and scalability in large-scale agent collaboration.</a:t>
            </a:r>
            <a:endParaRPr lang="en-US" sz="1100"/>
          </a:p>
        </p:txBody>
      </p:sp>
      <p:sp>
        <p:nvSpPr>
          <p:cNvPr name="AutoShape 7" id="7"/>
          <p:cNvSpPr/>
          <p:nvPr/>
        </p:nvSpPr>
        <p:spPr>
          <a:xfrm rot="0" flipH="false" flipV="false">
            <a:off x="762000" y="3175000"/>
            <a:ext cx="5207000" cy="2921000"/>
          </a:xfrm>
          <a:prstGeom prst="roundRect">
            <a:avLst>
              <a:gd name="adj" fmla="val 0"/>
            </a:avLst>
          </a:prstGeom>
          <a:solidFill>
            <a:srgbClr val="FFFFFF">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952500" y="33020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E60012"/>
                </a:solidFill>
                <a:latin typeface="Noto Sans SC"/>
                <a:ea typeface="Noto Sans SC"/>
                <a:cs typeface="Noto Sans SC"/>
                <a:sym typeface="Noto Sans SC"/>
              </a:rPr>
              <a:t>Core Goal</a:t>
            </a:r>
            <a:endParaRPr lang="en-US" sz="1100"/>
          </a:p>
        </p:txBody>
      </p:sp>
      <p:cxnSp>
        <p:nvCxnSpPr>
          <p:cNvPr name="Connector 9" id="9"/>
          <p:cNvCxnSpPr/>
          <p:nvPr/>
        </p:nvCxnSpPr>
        <p:spPr>
          <a:xfrm rot="-9046" flipH="false" flipV="false">
            <a:off x="952508" y="3803650"/>
            <a:ext cx="4826000" cy="12700"/>
          </a:xfrm>
          <a:prstGeom prst="straightConnector1">
            <a:avLst/>
          </a:prstGeom>
          <a:solidFill>
            <a:srgbClr val="DEE0E3">
              <a:alpha val="100000"/>
            </a:srgbClr>
          </a:solidFill>
          <a:ln w="12700" cmpd="sng" cap="flat">
            <a:solidFill>
              <a:srgbClr val="E60012">
                <a:alpha val="20000"/>
              </a:srgbClr>
            </a:solidFill>
            <a:prstDash val="solid"/>
            <a:round/>
            <a:headEnd type="none" w="med" len="med"/>
            <a:tailEnd type="none" w="med" len="med"/>
          </a:ln>
        </p:spPr>
      </p:cxnSp>
      <p:sp>
        <p:nvSpPr>
          <p:cNvPr name="AutoShape 10" id="10"/>
          <p:cNvSpPr/>
          <p:nvPr/>
        </p:nvSpPr>
        <p:spPr>
          <a:xfrm rot="0" flipH="false" flipV="false">
            <a:off x="6350000" y="3175000"/>
            <a:ext cx="5207000" cy="2921000"/>
          </a:xfrm>
          <a:prstGeom prst="roundRect">
            <a:avLst>
              <a:gd name="adj" fmla="val 0"/>
            </a:avLst>
          </a:prstGeom>
          <a:solidFill>
            <a:srgbClr val="FFFFFF">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540500" y="33020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E60012"/>
                </a:solidFill>
                <a:latin typeface="Noto Sans SC"/>
                <a:ea typeface="Noto Sans SC"/>
                <a:cs typeface="Noto Sans SC"/>
                <a:sym typeface="Noto Sans SC"/>
              </a:rPr>
              <a:t>Core Practice: Separation of Decision Rights</a:t>
            </a:r>
            <a:endParaRPr lang="en-US" sz="1100"/>
          </a:p>
        </p:txBody>
      </p:sp>
      <p:cxnSp>
        <p:nvCxnSpPr>
          <p:cNvPr name="Connector 12" id="12"/>
          <p:cNvCxnSpPr/>
          <p:nvPr/>
        </p:nvCxnSpPr>
        <p:spPr>
          <a:xfrm rot="-9046" flipH="false" flipV="false">
            <a:off x="6540508" y="3803650"/>
            <a:ext cx="4826000" cy="12700"/>
          </a:xfrm>
          <a:prstGeom prst="straightConnector1">
            <a:avLst/>
          </a:prstGeom>
          <a:solidFill>
            <a:srgbClr val="DEE0E3">
              <a:alpha val="100000"/>
            </a:srgbClr>
          </a:solidFill>
          <a:ln w="12700" cmpd="sng" cap="flat">
            <a:solidFill>
              <a:srgbClr val="E60012">
                <a:alpha val="20000"/>
              </a:srgbClr>
            </a:solidFill>
            <a:prstDash val="solid"/>
            <a:round/>
            <a:headEnd type="none" w="med" len="med"/>
            <a:tailEnd type="none" w="med" len="med"/>
          </a:ln>
        </p:spPr>
      </p:cxnSp>
      <p:sp>
        <p:nvSpPr>
          <p:cNvPr name="AutoShape 13" id="13"/>
          <p:cNvSpPr/>
          <p:nvPr/>
        </p:nvSpPr>
        <p:spPr>
          <a:xfrm rot="0" flipH="false" flipV="false">
            <a:off x="952500" y="4000500"/>
            <a:ext cx="4826000" cy="228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525252"/>
                </a:solidFill>
                <a:latin typeface="Noto Sans SC"/>
                <a:ea typeface="Noto Sans SC"/>
                <a:cs typeface="Noto Sans SC"/>
                <a:sym typeface="Noto Sans SC"/>
              </a:rPr>
              <a:t>To achieve order, predictability, and scalability in large-scale agent collaboration by establishing clear operational boundaries and decision-making frameworks for agents.</a:t>
            </a:r>
            <a:endParaRPr lang="en-US" sz="1100"/>
          </a:p>
        </p:txBody>
      </p:sp>
      <p:sp>
        <p:nvSpPr>
          <p:cNvPr name="AutoShape 14" id="14"/>
          <p:cNvSpPr/>
          <p:nvPr/>
        </p:nvSpPr>
        <p:spPr>
          <a:xfrm rot="0" flipH="false" flipV="false">
            <a:off x="6540500" y="4000500"/>
            <a:ext cx="4826000" cy="254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333333"/>
                </a:solidFill>
                <a:latin typeface="Noto Sans SC"/>
                <a:ea typeface="Noto Sans SC"/>
                <a:cs typeface="Noto Sans SC"/>
                <a:sym typeface="Noto Sans SC"/>
              </a:rPr>
              <a:t>Separation of Decision Rights:</a:t>
            </a:r>
            <a:r>
              <a:rPr lang="en-US" b="false" i="false" strike="noStrike" u="none" sz="1100">
                <a:solidFill>
                  <a:srgbClr val="525252"/>
                </a:solidFill>
                <a:latin typeface="Noto Sans SC"/>
                <a:ea typeface="Noto Sans SC"/>
                <a:cs typeface="Noto Sans SC"/>
                <a:sym typeface="Noto Sans SC"/>
              </a:rPr>
              <a:t>This core principle advocates stripping decision-making authority from agent execution logic, forming a centralized, manageable decision layer.</a:t>
            </a:r>
            <a:r>
              <a:rPr lang="en-US" b="false" i="false" strike="noStrike" u="none" sz="1100">
                <a:solidFill>
                  <a:srgbClr val="1F2329"/>
                </a:solidFill>
                <a:latin typeface="Noto Sans SC"/>
                <a:ea typeface="Noto Sans SC"/>
                <a:cs typeface="Noto Sans SC"/>
                <a:sym typeface="Noto Sans SC"/>
              </a:rPr>
              <a:t/>
            </a:r>
            <a:endParaRPr lang="en-US" sz="1100"/>
          </a:p>
          <a:p>
            <a:pPr algn="l" marL="0" indent="0">
              <a:lnSpc>
                <a:spcPct val="108333"/>
              </a:lnSpc>
            </a:pPr>
            <a:r>
              <a:rPr lang="en-US" b="true" i="false" strike="noStrike" u="none" sz="1200">
                <a:solidFill>
                  <a:srgbClr val="333333"/>
                </a:solidFill>
                <a:latin typeface="Noto Sans SC"/>
                <a:ea typeface="Noto Sans SC"/>
                <a:cs typeface="Noto Sans SC"/>
                <a:sym typeface="Noto Sans SC"/>
              </a:rPr>
              <a:t>Five Core Decision Rights:</a:t>
            </a:r>
            <a:r>
              <a:rPr lang="en-US" b="false" i="false" strike="noStrike" u="none" sz="1100">
                <a:solidFill>
                  <a:srgbClr val="1F2329"/>
                </a:solidFill>
                <a:latin typeface="Noto Sans SC"/>
                <a:ea typeface="Noto Sans SC"/>
                <a:cs typeface="Noto Sans SC"/>
                <a:sym typeface="Noto Sans SC"/>
              </a:rPr>
              <a:t/>
            </a:r>
          </a:p>
          <a:p>
            <a:pPr algn="l" marL="127000" indent="0">
              <a:lnSpc>
                <a:spcPct val="108333"/>
              </a:lnSpc>
            </a:pPr>
            <a:r>
              <a:rPr lang="en-US" b="false" i="false" strike="noStrike" u="none" sz="1100">
                <a:solidFill>
                  <a:srgbClr val="1F2329"/>
                </a:solidFill>
                <a:latin typeface="Noto Sans SC"/>
                <a:ea typeface="Noto Sans SC"/>
                <a:cs typeface="Noto Sans SC"/>
                <a:sym typeface="Noto Sans SC"/>
              </a:rPr>
              <a:t>1.</a:t>
            </a:r>
            <a:r>
              <a:rPr lang="en-US" b="true" i="false" strike="noStrike" u="none" sz="1100">
                <a:solidFill>
                  <a:srgbClr val="1F2329"/>
                </a:solidFill>
                <a:latin typeface="Noto Sans SC"/>
                <a:ea typeface="Noto Sans SC"/>
                <a:cs typeface="Noto Sans SC"/>
                <a:sym typeface="Noto Sans SC"/>
              </a:rPr>
              <a:t>Task Allocation:</a:t>
            </a:r>
            <a:r>
              <a:rPr lang="en-US" b="false" i="false" strike="noStrike" u="none" sz="1100">
                <a:solidFill>
                  <a:srgbClr val="1F2329"/>
                </a:solidFill>
                <a:latin typeface="Noto Sans SC"/>
                <a:ea typeface="Noto Sans SC"/>
                <a:cs typeface="Noto Sans SC"/>
                <a:sym typeface="Noto Sans SC"/>
              </a:rPr>
              <a:t>Decides which agent performs which task.</a:t>
            </a:r>
          </a:p>
          <a:p>
            <a:pPr algn="l" marL="127000" indent="0">
              <a:lnSpc>
                <a:spcPct val="108333"/>
              </a:lnSpc>
            </a:pPr>
            <a:r>
              <a:rPr lang="en-US" b="false" i="false" strike="noStrike" u="none" sz="1100">
                <a:solidFill>
                  <a:srgbClr val="1F2329"/>
                </a:solidFill>
                <a:latin typeface="Noto Sans SC"/>
                <a:ea typeface="Noto Sans SC"/>
                <a:cs typeface="Noto Sans SC"/>
                <a:sym typeface="Noto Sans SC"/>
              </a:rPr>
              <a:t>2.</a:t>
            </a:r>
            <a:r>
              <a:rPr lang="en-US" b="true" i="false" strike="noStrike" u="none" sz="1100">
                <a:solidFill>
                  <a:srgbClr val="1F2329"/>
                </a:solidFill>
                <a:latin typeface="Noto Sans SC"/>
                <a:ea typeface="Noto Sans SC"/>
                <a:cs typeface="Noto Sans SC"/>
                <a:sym typeface="Noto Sans SC"/>
              </a:rPr>
              <a:t>Tool Selection:</a:t>
            </a:r>
            <a:r>
              <a:rPr lang="en-US" b="false" i="false" strike="noStrike" u="none" sz="1100">
                <a:solidFill>
                  <a:srgbClr val="1F2329"/>
                </a:solidFill>
                <a:latin typeface="Noto Sans SC"/>
                <a:ea typeface="Noto Sans SC"/>
                <a:cs typeface="Noto Sans SC"/>
                <a:sym typeface="Noto Sans SC"/>
              </a:rPr>
              <a:t>Decides which tool an agent should use in a specific context.</a:t>
            </a:r>
          </a:p>
          <a:p>
            <a:pPr algn="l" marL="127000" indent="0">
              <a:lnSpc>
                <a:spcPct val="108333"/>
              </a:lnSpc>
            </a:pPr>
            <a:r>
              <a:rPr lang="en-US" b="false" i="false" strike="noStrike" u="none" sz="1100">
                <a:solidFill>
                  <a:srgbClr val="1F2329"/>
                </a:solidFill>
                <a:latin typeface="Noto Sans SC"/>
                <a:ea typeface="Noto Sans SC"/>
                <a:cs typeface="Noto Sans SC"/>
                <a:sym typeface="Noto Sans SC"/>
              </a:rPr>
              <a:t>3.</a:t>
            </a:r>
            <a:r>
              <a:rPr lang="en-US" b="true" i="false" strike="noStrike" u="none" sz="1100">
                <a:solidFill>
                  <a:srgbClr val="1F2329"/>
                </a:solidFill>
                <a:latin typeface="Noto Sans SC"/>
                <a:ea typeface="Noto Sans SC"/>
                <a:cs typeface="Noto Sans SC"/>
                <a:sym typeface="Noto Sans SC"/>
              </a:rPr>
              <a:t>Context Management:</a:t>
            </a:r>
            <a:r>
              <a:rPr lang="en-US" b="false" i="false" strike="noStrike" u="none" sz="1100">
                <a:solidFill>
                  <a:srgbClr val="1F2329"/>
                </a:solidFill>
                <a:latin typeface="Noto Sans SC"/>
                <a:ea typeface="Noto Sans SC"/>
                <a:cs typeface="Noto Sans SC"/>
                <a:sym typeface="Noto Sans SC"/>
              </a:rPr>
              <a:t>Decides what contextual information an agent needs.</a:t>
            </a:r>
          </a:p>
          <a:p>
            <a:pPr algn="l" marL="127000" indent="0">
              <a:lnSpc>
                <a:spcPct val="108333"/>
              </a:lnSpc>
            </a:pPr>
            <a:r>
              <a:rPr lang="en-US" b="false" i="false" strike="noStrike" u="none" sz="1100">
                <a:solidFill>
                  <a:srgbClr val="1F2329"/>
                </a:solidFill>
                <a:latin typeface="Noto Sans SC"/>
                <a:ea typeface="Noto Sans SC"/>
                <a:cs typeface="Noto Sans SC"/>
                <a:sym typeface="Noto Sans SC"/>
              </a:rPr>
              <a:t>4.</a:t>
            </a:r>
            <a:r>
              <a:rPr lang="en-US" b="true" i="false" strike="noStrike" u="none" sz="1100">
                <a:solidFill>
                  <a:srgbClr val="1F2329"/>
                </a:solidFill>
                <a:latin typeface="Noto Sans SC"/>
                <a:ea typeface="Noto Sans SC"/>
                <a:cs typeface="Noto Sans SC"/>
                <a:sym typeface="Noto Sans SC"/>
              </a:rPr>
              <a:t>Collaboration Pattern:</a:t>
            </a:r>
            <a:r>
              <a:rPr lang="en-US" b="false" i="false" strike="noStrike" u="none" sz="1100">
                <a:solidFill>
                  <a:srgbClr val="1F2329"/>
                </a:solidFill>
                <a:latin typeface="Noto Sans SC"/>
                <a:ea typeface="Noto Sans SC"/>
                <a:cs typeface="Noto Sans SC"/>
                <a:sym typeface="Noto Sans SC"/>
              </a:rPr>
              <a:t>Decides how agents interact (e.g., chain, hierarchy, peer-to-peer).</a:t>
            </a:r>
          </a:p>
          <a:p>
            <a:pPr algn="l" marL="127000" indent="0">
              <a:lnSpc>
                <a:spcPct val="108333"/>
              </a:lnSpc>
            </a:pPr>
            <a:r>
              <a:rPr lang="en-US" b="false" i="false" strike="noStrike" u="none" sz="1100">
                <a:solidFill>
                  <a:srgbClr val="1F2329"/>
                </a:solidFill>
                <a:latin typeface="Noto Sans SC"/>
                <a:ea typeface="Noto Sans SC"/>
                <a:cs typeface="Noto Sans SC"/>
                <a:sym typeface="Noto Sans SC"/>
              </a:rPr>
              <a:t>5.</a:t>
            </a:r>
            <a:r>
              <a:rPr lang="en-US" b="true" i="false" strike="noStrike" u="none" sz="1100">
                <a:solidFill>
                  <a:srgbClr val="1F2329"/>
                </a:solidFill>
                <a:latin typeface="Noto Sans SC"/>
                <a:ea typeface="Noto Sans SC"/>
                <a:cs typeface="Noto Sans SC"/>
                <a:sym typeface="Noto Sans SC"/>
              </a:rPr>
              <a:t>Exception Handling:</a:t>
            </a:r>
            <a:r>
              <a:rPr lang="en-US" b="false" i="false" strike="noStrike" u="none" sz="1100">
                <a:solidFill>
                  <a:srgbClr val="1F2329"/>
                </a:solidFill>
                <a:latin typeface="Noto Sans SC"/>
                <a:ea typeface="Noto Sans SC"/>
                <a:cs typeface="Noto Sans SC"/>
                <a:sym typeface="Noto Sans SC"/>
              </a:rPr>
              <a:t>Decides how to respond and recover when an agent encounters a problem.</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600">
                <a:solidFill>
                  <a:srgbClr val="333333"/>
                </a:solidFill>
                <a:latin typeface="Noto Sans SC"/>
                <a:ea typeface="Noto Sans SC"/>
                <a:cs typeface="Noto Sans SC"/>
                <a:sym typeface="Noto Sans SC"/>
              </a:rPr>
              <a:t>Component 2: Tool Governance</a:t>
            </a:r>
            <a:endParaRPr lang="en-US" sz="1100"/>
          </a:p>
        </p:txBody>
      </p:sp>
      <p:sp>
        <p:nvSpPr>
          <p:cNvPr name="AutoShape 4" id="4"/>
          <p:cNvSpPr/>
          <p:nvPr/>
        </p:nvSpPr>
        <p:spPr>
          <a:xfrm rot="0" flipH="false" flipV="false">
            <a:off x="762000" y="1651000"/>
            <a:ext cx="10668000" cy="1079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76200" cy="1079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714500"/>
            <a:ext cx="10160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E60012"/>
                </a:solidFill>
                <a:latin typeface="Noto Sans SC"/>
                <a:ea typeface="Noto Sans SC"/>
                <a:cs typeface="Noto Sans SC"/>
                <a:sym typeface="Noto Sans SC"/>
              </a:rPr>
              <a:t>Core Goal:</a:t>
            </a:r>
            <a:r>
              <a:rPr lang="en-US" b="false" i="false" strike="noStrike" u="none" sz="1400">
                <a:solidFill>
                  <a:srgbClr val="333333"/>
                </a:solidFill>
                <a:latin typeface="Noto Sans SC"/>
                <a:ea typeface="Noto Sans SC"/>
                <a:cs typeface="Noto Sans SC"/>
                <a:sym typeface="Noto Sans SC"/>
              </a:rPr>
              <a:t>To ensure the tools used by agents are secure, reliable, efficient, and easy to manage.</a:t>
            </a:r>
            <a:endParaRPr lang="en-US" sz="1100"/>
          </a:p>
        </p:txBody>
      </p:sp>
      <p:sp>
        <p:nvSpPr>
          <p:cNvPr name="AutoShape 7" id="7"/>
          <p:cNvSpPr/>
          <p:nvPr/>
        </p:nvSpPr>
        <p:spPr>
          <a:xfrm rot="0" flipH="false" flipV="false">
            <a:off x="762000" y="3048000"/>
            <a:ext cx="10668000" cy="3810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952500" y="3175000"/>
            <a:ext cx="10287000" cy="355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E60012"/>
                </a:solidFill>
                <a:latin typeface="Noto Sans SC"/>
                <a:ea typeface="Noto Sans SC"/>
                <a:cs typeface="Noto Sans SC"/>
                <a:sym typeface="Noto Sans SC"/>
              </a:rPr>
              <a:t>Core Practices</a:t>
            </a:r>
            <a:r>
              <a:rPr lang="en-US" b="false" i="false" strike="noStrike" u="none" sz="1300">
                <a:solidFill>
                  <a:srgbClr val="333333"/>
                </a:solidFill>
                <a:latin typeface="Noto Sans SC"/>
                <a:ea typeface="Noto Sans SC"/>
                <a:cs typeface="Noto Sans SC"/>
                <a:sym typeface="Noto Sans SC"/>
              </a:rPr>
              <a:t/>
            </a:r>
            <a:endParaRPr lang="en-US" sz="1100"/>
          </a:p>
          <a:p>
            <a:pPr algn="l" marL="0" indent="0">
              <a:lnSpc>
                <a:spcPct val="116666"/>
              </a:lnSpc>
            </a:pPr>
            <a:r>
              <a:rPr lang="en-US" b="true" i="false" strike="noStrike" u="none" sz="1400">
                <a:solidFill>
                  <a:srgbClr val="333333"/>
                </a:solidFill>
                <a:latin typeface="Noto Sans SC"/>
                <a:ea typeface="Noto Sans SC"/>
                <a:cs typeface="Noto Sans SC"/>
                <a:sym typeface="Noto Sans SC"/>
              </a:rPr>
              <a:t>Centralized Tool Registry</a:t>
            </a:r>
            <a:r>
              <a:rPr lang="en-US" b="false" i="false" strike="noStrike" u="none" sz="1300">
                <a:solidFill>
                  <a:srgbClr val="333333"/>
                </a:solidFill>
                <a:latin typeface="Noto Sans SC"/>
                <a:ea typeface="Noto Sans SC"/>
                <a:cs typeface="Noto Sans SC"/>
                <a:sym typeface="Noto Sans SC"/>
              </a:rPr>
              <a:t>: Acts as a unified catalog and management center for all agent tools, providing discovery, version control, permission management, and monitoring.</a:t>
            </a:r>
            <a:r>
              <a:rPr lang="en-US" b="false" i="false" strike="noStrike" u="none" sz="1300">
                <a:solidFill>
                  <a:srgbClr val="333333"/>
                </a:solidFill>
                <a:latin typeface="Noto Sans SC"/>
                <a:ea typeface="Noto Sans SC"/>
                <a:cs typeface="Noto Sans SC"/>
                <a:sym typeface="Noto Sans SC"/>
              </a:rPr>
              <a:t/>
            </a:r>
          </a:p>
          <a:p>
            <a:pPr algn="l" marL="0" indent="0">
              <a:lnSpc>
                <a:spcPct val="116666"/>
              </a:lnSpc>
            </a:pPr>
            <a:r>
              <a:rPr lang="en-US" b="true" i="false" strike="noStrike" u="none" sz="1300">
                <a:solidFill>
                  <a:srgbClr val="333333"/>
                </a:solidFill>
                <a:latin typeface="Noto Sans SC"/>
                <a:ea typeface="Noto Sans SC"/>
                <a:cs typeface="Noto Sans SC"/>
                <a:sym typeface="Noto Sans SC"/>
              </a:rPr>
              <a:t>Nine Key Metadata Fields for Registered Tools:</a:t>
            </a:r>
            <a:r>
              <a:rPr lang="en-US" b="false" i="false" strike="noStrike" u="none" sz="1300">
                <a:solidFill>
                  <a:srgbClr val="333333"/>
                </a:solidFill>
                <a:latin typeface="Noto Sans SC"/>
                <a:ea typeface="Noto Sans SC"/>
                <a:cs typeface="Noto Sans SC"/>
                <a:sym typeface="Noto Sans SC"/>
              </a:rPr>
              <a:t/>
            </a:r>
          </a:p>
          <a:p>
            <a:pPr algn="l" marL="190500" indent="0">
              <a:lnSpc>
                <a:spcPct val="108333"/>
              </a:lnSpc>
            </a:pPr>
            <a:r>
              <a:rPr lang="en-US" b="false" i="false" strike="noStrike" u="none" sz="1200">
                <a:solidFill>
                  <a:srgbClr val="333333"/>
                </a:solidFill>
                <a:latin typeface="Noto Sans SC"/>
                <a:ea typeface="Noto Sans SC"/>
                <a:cs typeface="Noto Sans SC"/>
                <a:sym typeface="Noto Sans SC"/>
              </a:rPr>
              <a:t>1. Name             2. Description             3. Function Signature</a:t>
            </a:r>
            <a:r>
              <a:rPr lang="en-US" b="false" i="false" strike="noStrike" u="none" sz="1300">
                <a:solidFill>
                  <a:srgbClr val="333333"/>
                </a:solidFill>
                <a:latin typeface="Noto Sans SC"/>
                <a:ea typeface="Noto Sans SC"/>
                <a:cs typeface="Noto Sans SC"/>
                <a:sym typeface="Noto Sans SC"/>
              </a:rPr>
              <a:t/>
            </a:r>
          </a:p>
          <a:p>
            <a:pPr algn="l" marL="190500" indent="0">
              <a:lnSpc>
                <a:spcPct val="108333"/>
              </a:lnSpc>
            </a:pPr>
            <a:r>
              <a:rPr lang="en-US" b="false" i="false" strike="noStrike" u="none" sz="1200">
                <a:solidFill>
                  <a:srgbClr val="333333"/>
                </a:solidFill>
                <a:latin typeface="Noto Sans SC"/>
                <a:ea typeface="Noto Sans SC"/>
                <a:cs typeface="Noto Sans SC"/>
                <a:sym typeface="Noto Sans SC"/>
              </a:rPr>
              <a:t>4. Parameter Specification          5. Permission Level           6. Cost Estimation</a:t>
            </a:r>
            <a:r>
              <a:rPr lang="en-US" b="false" i="false" strike="noStrike" u="none" sz="1300">
                <a:solidFill>
                  <a:srgbClr val="333333"/>
                </a:solidFill>
                <a:latin typeface="Noto Sans SC"/>
                <a:ea typeface="Noto Sans SC"/>
                <a:cs typeface="Noto Sans SC"/>
                <a:sym typeface="Noto Sans SC"/>
              </a:rPr>
              <a:t/>
            </a:r>
          </a:p>
          <a:p>
            <a:pPr algn="l" marL="190500" indent="0">
              <a:lnSpc>
                <a:spcPct val="108333"/>
              </a:lnSpc>
            </a:pPr>
            <a:r>
              <a:rPr lang="en-US" b="false" i="false" strike="noStrike" u="none" sz="1200">
                <a:solidFill>
                  <a:srgbClr val="333333"/>
                </a:solidFill>
                <a:latin typeface="Noto Sans SC"/>
                <a:ea typeface="Noto Sans SC"/>
                <a:cs typeface="Noto Sans SC"/>
                <a:sym typeface="Noto Sans SC"/>
              </a:rPr>
              <a:t>7. Rate Limits             8. Reliability Score         9. Owning Team</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600">
                <a:solidFill>
                  <a:srgbClr val="333333"/>
                </a:solidFill>
                <a:latin typeface="Noto Sans SC"/>
                <a:ea typeface="Noto Sans SC"/>
                <a:cs typeface="Noto Sans SC"/>
                <a:sym typeface="Noto Sans SC"/>
              </a:rPr>
              <a:t>Component 3: Validation &amp; Guardrails</a:t>
            </a:r>
            <a:endParaRPr lang="en-US" sz="1100"/>
          </a:p>
        </p:txBody>
      </p:sp>
      <p:sp>
        <p:nvSpPr>
          <p:cNvPr name="AutoShape 4" id="4"/>
          <p:cNvSpPr/>
          <p:nvPr/>
        </p:nvSpPr>
        <p:spPr>
          <a:xfrm rot="0" flipH="false" flipV="false">
            <a:off x="762000" y="1651000"/>
            <a:ext cx="10668000" cy="1016000"/>
          </a:xfrm>
          <a:prstGeom prst="roundRect">
            <a:avLst>
              <a:gd name="adj" fmla="val 0"/>
            </a:avLst>
          </a:prstGeom>
          <a:solidFill>
            <a:srgbClr val="FFFFFF">
              <a:alpha val="70000"/>
            </a:srgbClr>
          </a:solidFill>
          <a:ln w="12700" cmpd="sng" cap="flat">
            <a:solidFill>
              <a:srgbClr val="E60012">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1778000"/>
            <a:ext cx="1016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525252"/>
                </a:solidFill>
                <a:latin typeface="Noto Sans SC"/>
                <a:ea typeface="Noto Sans SC"/>
                <a:cs typeface="Noto Sans SC"/>
                <a:sym typeface="Noto Sans SC"/>
              </a:rPr>
              <a:t>Set up a series of automated checkpoints in the AI Agent's input, execution, and output stages to ensure its behavior complies with expectations and security norms, serving as the core guarantee for the system's operational stability and security.</a:t>
            </a:r>
            <a:endParaRPr lang="en-US" sz="1100"/>
          </a:p>
        </p:txBody>
      </p:sp>
      <p:sp>
        <p:nvSpPr>
          <p:cNvPr name="AutoShape 6" id="6"/>
          <p:cNvSpPr/>
          <p:nvPr/>
        </p:nvSpPr>
        <p:spPr>
          <a:xfrm rot="0" flipH="false" flipV="false">
            <a:off x="762000" y="3175000"/>
            <a:ext cx="520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E60012"/>
                </a:solidFill>
                <a:latin typeface="Noto Sans SC"/>
                <a:ea typeface="Noto Sans SC"/>
                <a:cs typeface="Noto Sans SC"/>
                <a:sym typeface="Noto Sans SC"/>
              </a:rPr>
              <a:t>01 / Core Purpose &amp; Necessity</a:t>
            </a:r>
            <a:endParaRPr lang="en-US" sz="1100"/>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762000" y="3937000"/>
            <a:ext cx="304800" cy="304800"/>
          </a:xfrm>
          <a:prstGeom prst="rect">
            <a:avLst/>
          </a:prstGeom>
        </p:spPr>
      </p:pic>
      <p:sp>
        <p:nvSpPr>
          <p:cNvPr name="AutoShape 8" id="8"/>
          <p:cNvSpPr/>
          <p:nvPr/>
        </p:nvSpPr>
        <p:spPr>
          <a:xfrm rot="0" flipH="false" flipV="false">
            <a:off x="1206500" y="3911600"/>
            <a:ext cx="4762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Prevent 'Garbage In, Garbage Out' and ensure output quality.</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666666"/>
                </a:solidFill>
                <a:latin typeface="Noto Sans SC"/>
                <a:ea typeface="Noto Sans SC"/>
                <a:cs typeface="Noto Sans SC"/>
                <a:sym typeface="Noto Sans SC"/>
              </a:rPr>
              <a:t>Purify user input to prevent attacks like prompt injection. Verify that the generated content meets structural, semantic, and compliance requirements.</a:t>
            </a:r>
          </a:p>
        </p:txBody>
      </p:sp>
      <p:cxnSp>
        <p:nvCxnSpPr>
          <p:cNvPr name="Connector 9" id="9"/>
          <p:cNvCxnSpPr/>
          <p:nvPr/>
        </p:nvCxnSpPr>
        <p:spPr>
          <a:xfrm rot="-8594" flipH="false" flipV="false">
            <a:off x="762008" y="5073650"/>
            <a:ext cx="5080000" cy="12700"/>
          </a:xfrm>
          <a:prstGeom prst="straightConnector1">
            <a:avLst/>
          </a:prstGeom>
          <a:solidFill>
            <a:srgbClr val="DEE0E3">
              <a:alpha val="100000"/>
            </a:srgbClr>
          </a:solidFill>
          <a:ln w="12700" cmpd="sng" cap="flat">
            <a:solidFill>
              <a:srgbClr val="E60012">
                <a:alpha val="15000"/>
              </a:srgbClr>
            </a:solidFill>
            <a:prstDash val="solid"/>
            <a:round/>
            <a:headEnd type="none" w="med" len="med"/>
            <a:tailEnd type="none" w="med" len="med"/>
          </a:ln>
        </p:spPr>
      </p:cxn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762000" y="5334000"/>
            <a:ext cx="304800" cy="304800"/>
          </a:xfrm>
          <a:prstGeom prst="rect">
            <a:avLst/>
          </a:prstGeom>
        </p:spPr>
      </p:pic>
      <p:sp>
        <p:nvSpPr>
          <p:cNvPr name="AutoShape 11" id="11"/>
          <p:cNvSpPr/>
          <p:nvPr/>
        </p:nvSpPr>
        <p:spPr>
          <a:xfrm rot="0" flipH="false" flipV="false">
            <a:off x="1206500" y="5308600"/>
            <a:ext cx="4762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Intercept upfront to avoid dangerous side effects.</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666666"/>
                </a:solidFill>
                <a:latin typeface="Noto Sans SC"/>
                <a:ea typeface="Noto Sans SC"/>
                <a:cs typeface="Noto Sans SC"/>
                <a:sym typeface="Noto Sans SC"/>
              </a:rPr>
              <a:t>Intercept and check before the AI executes operations with side effects, ensuring every action is safe and compliant.</a:t>
            </a:r>
          </a:p>
        </p:txBody>
      </p:sp>
      <p:cxnSp>
        <p:nvCxnSpPr>
          <p:cNvPr name="Connector 12" id="12"/>
          <p:cNvCxnSpPr/>
          <p:nvPr/>
        </p:nvCxnSpPr>
        <p:spPr>
          <a:xfrm rot="5386249" flipH="false" flipV="false">
            <a:off x="4572000" y="4756163"/>
            <a:ext cx="3175000" cy="12700"/>
          </a:xfrm>
          <a:prstGeom prst="straightConnector1">
            <a:avLst/>
          </a:prstGeom>
          <a:solidFill>
            <a:srgbClr val="DEE0E3">
              <a:alpha val="100000"/>
            </a:srgbClr>
          </a:solidFill>
          <a:ln w="12700" cmpd="sng" cap="flat">
            <a:solidFill>
              <a:srgbClr val="E60012">
                <a:alpha val="30000"/>
              </a:srgbClr>
            </a:solidFill>
            <a:prstDash val="dash"/>
            <a:round/>
            <a:headEnd type="none" w="med" len="med"/>
            <a:tailEnd type="none" w="med" len="med"/>
          </a:ln>
        </p:spPr>
      </p:cxnSp>
      <p:sp>
        <p:nvSpPr>
          <p:cNvPr name="AutoShape 13" id="13"/>
          <p:cNvSpPr/>
          <p:nvPr/>
        </p:nvSpPr>
        <p:spPr>
          <a:xfrm rot="0" flipH="false" flipV="false">
            <a:off x="6477000" y="3175000"/>
            <a:ext cx="520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E60012"/>
                </a:solidFill>
                <a:latin typeface="Noto Sans SC"/>
                <a:ea typeface="Noto Sans SC"/>
                <a:cs typeface="Noto Sans SC"/>
                <a:sym typeface="Noto Sans SC"/>
              </a:rPr>
              <a:t>02 / Key Practices Across the Full Link</a:t>
            </a:r>
            <a:endParaRPr lang="en-US" sz="1100"/>
          </a:p>
        </p:txBody>
      </p:sp>
      <p:sp>
        <p:nvSpPr>
          <p:cNvPr name="AutoShape 14" id="14"/>
          <p:cNvSpPr/>
          <p:nvPr/>
        </p:nvSpPr>
        <p:spPr>
          <a:xfrm rot="0" flipH="false" flipV="false">
            <a:off x="6477000" y="3873500"/>
            <a:ext cx="4953000" cy="10795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477000" y="3873500"/>
            <a:ext cx="50800" cy="1079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667500" y="3937000"/>
            <a:ext cx="4635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Input Guardrails: Build the first line of defense.</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525252"/>
                </a:solidFill>
                <a:latin typeface="Noto Sans SC"/>
                <a:ea typeface="Noto Sans SC"/>
                <a:cs typeface="Noto Sans SC"/>
                <a:sym typeface="Noto Sans SC"/>
              </a:rPr>
              <a:t>Filter sensitive words, desensitize PII, and detect prompt injection attacks to ensure input security and compliance.</a:t>
            </a:r>
          </a:p>
        </p:txBody>
      </p:sp>
      <p:sp>
        <p:nvSpPr>
          <p:cNvPr name="AutoShape 17" id="17"/>
          <p:cNvSpPr/>
          <p:nvPr/>
        </p:nvSpPr>
        <p:spPr>
          <a:xfrm rot="0" flipH="false" flipV="false">
            <a:off x="6477000" y="5207000"/>
            <a:ext cx="4953000" cy="10795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477000" y="5207000"/>
            <a:ext cx="50800" cy="1079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667500" y="5270500"/>
            <a:ext cx="4635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Execution &amp; Output: Full-process compliance check loop.</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525252"/>
                </a:solidFill>
                <a:latin typeface="Noto Sans SC"/>
                <a:ea typeface="Noto Sans SC"/>
                <a:cs typeface="Noto Sans SC"/>
                <a:sym typeface="Noto Sans SC"/>
              </a:rPr>
              <a:t>Verify parameters and permissions before execution. Check output format, compliance, and content security, forming a closed-loop validation system.</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333333"/>
                </a:solidFill>
                <a:latin typeface="Noto Sans SC"/>
                <a:ea typeface="Noto Sans SC"/>
                <a:cs typeface="Noto Sans SC"/>
                <a:sym typeface="Noto Sans SC"/>
              </a:rPr>
              <a:t>Component 4: State and Memory</a:t>
            </a:r>
            <a:endParaRPr lang="en-US" sz="1100"/>
          </a:p>
        </p:txBody>
      </p:sp>
      <p:sp>
        <p:nvSpPr>
          <p:cNvPr name="AutoShape 4" id="4"/>
          <p:cNvSpPr/>
          <p:nvPr/>
        </p:nvSpPr>
        <p:spPr>
          <a:xfrm rot="0" flipH="false" flipV="false">
            <a:off x="762000" y="1778000"/>
            <a:ext cx="10668000" cy="11430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76200" cy="11430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968500"/>
            <a:ext cx="10160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333333"/>
                </a:solidFill>
                <a:latin typeface="Noto Sans SC"/>
                <a:ea typeface="Noto Sans SC"/>
                <a:cs typeface="Noto Sans SC"/>
                <a:sym typeface="Noto Sans SC"/>
              </a:rPr>
              <a:t>Core Goal:</a:t>
            </a:r>
            <a:r>
              <a:rPr lang="en-US" b="false" i="false" strike="noStrike" u="none" sz="1300">
                <a:solidFill>
                  <a:srgbClr val="333333"/>
                </a:solidFill>
                <a:latin typeface="Noto Sans SC"/>
                <a:ea typeface="Noto Sans SC"/>
                <a:cs typeface="Noto Sans SC"/>
                <a:sym typeface="Noto Sans SC"/>
              </a:rPr>
              <a:t>To efficiently and reliably manage an agent's short-term and long-term memory while controlling memory costs and access latency.</a:t>
            </a:r>
            <a:endParaRPr lang="en-US" sz="1100"/>
          </a:p>
        </p:txBody>
      </p:sp>
      <p:sp>
        <p:nvSpPr>
          <p:cNvPr name="AutoShape 7" id="7"/>
          <p:cNvSpPr/>
          <p:nvPr/>
        </p:nvSpPr>
        <p:spPr>
          <a:xfrm rot="0" flipH="false" flipV="false">
            <a:off x="762000" y="3302000"/>
            <a:ext cx="5270500" cy="2667000"/>
          </a:xfrm>
          <a:prstGeom prst="roundRect">
            <a:avLst>
              <a:gd name="adj" fmla="val 0"/>
            </a:avLst>
          </a:prstGeom>
          <a:solidFill>
            <a:srgbClr val="FFFFFF">
              <a:alpha val="60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016000" y="3492500"/>
            <a:ext cx="4762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E60012"/>
                </a:solidFill>
                <a:latin typeface="Noto Sans SC"/>
                <a:ea typeface="Noto Sans SC"/>
                <a:cs typeface="Noto Sans SC"/>
                <a:sym typeface="Noto Sans SC"/>
              </a:rPr>
              <a:t>01 / Separation of State and Memory</a:t>
            </a:r>
            <a:endParaRPr lang="en-US" sz="1100"/>
          </a:p>
        </p:txBody>
      </p:sp>
      <p:cxnSp>
        <p:nvCxnSpPr>
          <p:cNvPr name="Connector 9" id="9"/>
          <p:cNvCxnSpPr/>
          <p:nvPr/>
        </p:nvCxnSpPr>
        <p:spPr>
          <a:xfrm rot="-9167" flipH="false" flipV="false">
            <a:off x="1016008" y="4121150"/>
            <a:ext cx="4762500" cy="12700"/>
          </a:xfrm>
          <a:prstGeom prst="straightConnector1">
            <a:avLst/>
          </a:prstGeom>
          <a:solidFill>
            <a:srgbClr val="DEE0E3">
              <a:alpha val="100000"/>
            </a:srgbClr>
          </a:solidFill>
          <a:ln w="12700" cmpd="sng" cap="flat">
            <a:solidFill>
              <a:srgbClr val="E60012">
                <a:alpha val="30000"/>
              </a:srgbClr>
            </a:solidFill>
            <a:prstDash val="dash"/>
            <a:round/>
            <a:headEnd type="none" w="med" len="med"/>
            <a:tailEnd type="none" w="med" len="med"/>
          </a:ln>
        </p:spPr>
      </p:cxnSp>
      <p:sp>
        <p:nvSpPr>
          <p:cNvPr name="AutoShape 10" id="10"/>
          <p:cNvSpPr/>
          <p:nvPr/>
        </p:nvSpPr>
        <p:spPr>
          <a:xfrm rot="0" flipH="false" flipV="false">
            <a:off x="6286500" y="3302000"/>
            <a:ext cx="5270500" cy="2667000"/>
          </a:xfrm>
          <a:prstGeom prst="roundRect">
            <a:avLst>
              <a:gd name="adj" fmla="val 0"/>
            </a:avLst>
          </a:prstGeom>
          <a:solidFill>
            <a:srgbClr val="FFFFFF">
              <a:alpha val="60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540500" y="3492500"/>
            <a:ext cx="4762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E60012"/>
                </a:solidFill>
                <a:latin typeface="Noto Sans SC"/>
                <a:ea typeface="Noto Sans SC"/>
                <a:cs typeface="Noto Sans SC"/>
                <a:sym typeface="Noto Sans SC"/>
              </a:rPr>
              <a:t>02 / Key Mechanism: Memory Pruning</a:t>
            </a:r>
            <a:endParaRPr lang="en-US" sz="1100"/>
          </a:p>
        </p:txBody>
      </p:sp>
      <p:cxnSp>
        <p:nvCxnSpPr>
          <p:cNvPr name="Connector 12" id="12"/>
          <p:cNvCxnSpPr/>
          <p:nvPr/>
        </p:nvCxnSpPr>
        <p:spPr>
          <a:xfrm rot="-9167" flipH="false" flipV="false">
            <a:off x="6540508" y="4121150"/>
            <a:ext cx="4762500" cy="12700"/>
          </a:xfrm>
          <a:prstGeom prst="straightConnector1">
            <a:avLst/>
          </a:prstGeom>
          <a:solidFill>
            <a:srgbClr val="DEE0E3">
              <a:alpha val="100000"/>
            </a:srgbClr>
          </a:solidFill>
          <a:ln w="12700" cmpd="sng" cap="flat">
            <a:solidFill>
              <a:srgbClr val="E60012">
                <a:alpha val="30000"/>
              </a:srgbClr>
            </a:solidFill>
            <a:prstDash val="dash"/>
            <a:round/>
            <a:headEnd type="none" w="med" len="med"/>
            <a:tailEnd type="none" w="med" len="med"/>
          </a:ln>
        </p:spPr>
      </p:cxnSp>
      <p:sp>
        <p:nvSpPr>
          <p:cNvPr name="AutoShape 13" id="13"/>
          <p:cNvSpPr/>
          <p:nvPr/>
        </p:nvSpPr>
        <p:spPr>
          <a:xfrm rot="0" flipH="false" flipV="false">
            <a:off x="1016000" y="4318000"/>
            <a:ext cx="4572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555555"/>
                </a:solidFill>
                <a:latin typeface="Noto Sans SC"/>
                <a:ea typeface="Noto Sans SC"/>
                <a:cs typeface="Noto Sans SC"/>
                <a:sym typeface="Noto Sans SC"/>
              </a:rPr>
              <a:t>Separate an agent's transient state (e.g., current task progress) from its long-term memory (e.g., historical interactions, knowledge base) for distinct storage and management.</a:t>
            </a:r>
            <a:endParaRPr lang="en-US" sz="1100"/>
          </a:p>
        </p:txBody>
      </p:sp>
      <p:sp>
        <p:nvSpPr>
          <p:cNvPr name="AutoShape 14" id="14"/>
          <p:cNvSpPr/>
          <p:nvPr/>
        </p:nvSpPr>
        <p:spPr>
          <a:xfrm rot="0" flipH="false" flipV="false">
            <a:off x="6540500" y="4318000"/>
            <a:ext cx="4572000" cy="177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555555"/>
                </a:solidFill>
                <a:latin typeface="Noto Sans SC"/>
                <a:ea typeface="Noto Sans SC"/>
                <a:cs typeface="Noto Sans SC"/>
                <a:sym typeface="Noto Sans SC"/>
              </a:rPr>
              <a:t>Automatically or semi-automatically clean up and compress an agent's memory by removing irrelevant, outdated, or redundant information to keep the system running efficiently. Common strategies include pruning based on time, relevance, and importance.</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333333"/>
                </a:solidFill>
                <a:latin typeface="Noto Sans SC"/>
                <a:ea typeface="Noto Sans SC"/>
                <a:cs typeface="Noto Sans SC"/>
                <a:sym typeface="Noto Sans SC"/>
              </a:rPr>
              <a:t>Component 5: Observability &amp; Feedback</a:t>
            </a:r>
            <a:endParaRPr lang="en-US" sz="1100"/>
          </a:p>
        </p:txBody>
      </p:sp>
      <p:sp>
        <p:nvSpPr>
          <p:cNvPr name="AutoShape 4" id="4"/>
          <p:cNvSpPr/>
          <p:nvPr/>
        </p:nvSpPr>
        <p:spPr>
          <a:xfrm rot="0" flipH="false" flipV="false">
            <a:off x="762000" y="1778000"/>
            <a:ext cx="4318000" cy="4445000"/>
          </a:xfrm>
          <a:prstGeom prst="roundRect">
            <a:avLst>
              <a:gd name="adj" fmla="val 0"/>
            </a:avLst>
          </a:prstGeom>
          <a:solidFill>
            <a:srgbClr val="E60012">
              <a:alpha val="8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5" id="5"/>
          <p:cNvSpPr/>
          <p:nvPr/>
        </p:nvSpPr>
        <p:spPr>
          <a:xfrm rot="0" flipH="false" flipV="false">
            <a:off x="762000" y="1778000"/>
            <a:ext cx="76200" cy="4445000"/>
          </a:xfrm>
          <a:prstGeom prst="roundRect">
            <a:avLst>
              <a:gd name="adj" fmla="val 0"/>
            </a:avLst>
          </a:prstGeom>
          <a:solidFill>
            <a:srgbClr val="E60012">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6" id="6"/>
          <p:cNvSpPr/>
          <p:nvPr/>
        </p:nvSpPr>
        <p:spPr>
          <a:xfrm rot="0" flipH="false" flipV="false">
            <a:off x="1079500" y="2032000"/>
            <a:ext cx="3810000" cy="393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800">
                <a:solidFill>
                  <a:srgbClr val="E60012"/>
                </a:solidFill>
                <a:latin typeface="Noto Sans SC"/>
                <a:ea typeface="Noto Sans SC"/>
                <a:cs typeface="Noto Sans SC"/>
                <a:sym typeface="Noto Sans SC"/>
              </a:rPr>
              <a:t>Core Goal</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400">
                <a:solidFill>
                  <a:srgbClr val="333333"/>
                </a:solidFill>
                <a:latin typeface="Noto Sans SC"/>
                <a:ea typeface="Noto Sans SC"/>
                <a:cs typeface="Noto Sans SC"/>
                <a:sym typeface="Noto Sans SC"/>
              </a:rPr>
              <a:t>To establish a comprehensive monitoring, logging, and evaluation system to gain insights into the internal state of AI Agents, break the "black box" property, and provide data support for troubleshooting, optimization, and continuous iteration.</a:t>
            </a:r>
          </a:p>
        </p:txBody>
      </p:sp>
      <p:sp>
        <p:nvSpPr>
          <p:cNvPr name="AutoShape 7" id="7"/>
          <p:cNvSpPr/>
          <p:nvPr/>
        </p:nvSpPr>
        <p:spPr>
          <a:xfrm rot="0" flipH="false" flipV="false">
            <a:off x="5588000" y="1778000"/>
            <a:ext cx="2984500" cy="2095500"/>
          </a:xfrm>
          <a:prstGeom prst="roundRect">
            <a:avLst>
              <a:gd name="adj" fmla="val 0"/>
            </a:avLst>
          </a:prstGeom>
          <a:solidFill>
            <a:srgbClr val="FFFFFF">
              <a:alpha val="90000"/>
            </a:srgbClr>
          </a:solidFill>
          <a:ln w="12700" cmpd="sng" cap="flat">
            <a:solidFill>
              <a:srgbClr val="E60012">
                <a:alpha val="20000"/>
              </a:srgbClr>
            </a:solidFill>
            <a:prstDash val="solid"/>
            <a:round/>
          </a:ln>
        </p:spPr>
        <p:txBody>
          <a:bodyPr anchor="ctr" rtlCol="false" anchorCtr="false" vert="horz" wrap="square" lIns="0" rIns="0" tIns="0" bIns="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778500" y="1968500"/>
            <a:ext cx="304800" cy="304800"/>
          </a:xfrm>
          <a:prstGeom prst="rect">
            <a:avLst/>
          </a:prstGeom>
        </p:spPr>
      </p:pic>
      <p:sp>
        <p:nvSpPr>
          <p:cNvPr name="AutoShape 9" id="9"/>
          <p:cNvSpPr/>
          <p:nvPr/>
        </p:nvSpPr>
        <p:spPr>
          <a:xfrm rot="0" flipH="false" flipV="false">
            <a:off x="6223000" y="1968500"/>
            <a:ext cx="2159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Tracing</a:t>
            </a:r>
            <a:endParaRPr lang="en-US" sz="1100"/>
          </a:p>
        </p:txBody>
      </p:sp>
      <p:cxnSp>
        <p:nvCxnSpPr>
          <p:cNvPr name="Connector 10" id="10"/>
          <p:cNvCxnSpPr/>
          <p:nvPr/>
        </p:nvCxnSpPr>
        <p:spPr>
          <a:xfrm rot="-16769" flipH="false" flipV="false">
            <a:off x="5778515" y="2406650"/>
            <a:ext cx="26035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11" id="11"/>
          <p:cNvSpPr/>
          <p:nvPr/>
        </p:nvSpPr>
        <p:spPr>
          <a:xfrm rot="0" flipH="false" flipV="false">
            <a:off x="5778500" y="2540000"/>
            <a:ext cx="2603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Implement distributed tracing to visualize the flow of execution across multiple agents and tool calls.</a:t>
            </a:r>
            <a:endParaRPr lang="en-US" sz="1100"/>
          </a:p>
        </p:txBody>
      </p:sp>
      <p:sp>
        <p:nvSpPr>
          <p:cNvPr name="AutoShape 12" id="12"/>
          <p:cNvSpPr/>
          <p:nvPr/>
        </p:nvSpPr>
        <p:spPr>
          <a:xfrm rot="0" flipH="false" flipV="false">
            <a:off x="8826500" y="1778000"/>
            <a:ext cx="2984500" cy="2095500"/>
          </a:xfrm>
          <a:prstGeom prst="roundRect">
            <a:avLst>
              <a:gd name="adj" fmla="val 0"/>
            </a:avLst>
          </a:prstGeom>
          <a:solidFill>
            <a:srgbClr val="FFFFFF">
              <a:alpha val="90000"/>
            </a:srgbClr>
          </a:solidFill>
          <a:ln w="12700" cmpd="sng" cap="flat">
            <a:solidFill>
              <a:srgbClr val="E60012">
                <a:alpha val="20000"/>
              </a:srgbClr>
            </a:solidFill>
            <a:prstDash val="solid"/>
            <a:round/>
          </a:ln>
        </p:spPr>
        <p:txBody>
          <a:bodyPr anchor="ctr" rtlCol="false" anchorCtr="false" vert="horz" wrap="square" lIns="0" rIns="0" tIns="0" bIns="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017000" y="1968500"/>
            <a:ext cx="304800" cy="304800"/>
          </a:xfrm>
          <a:prstGeom prst="rect">
            <a:avLst/>
          </a:prstGeom>
        </p:spPr>
      </p:pic>
      <p:sp>
        <p:nvSpPr>
          <p:cNvPr name="AutoShape 14" id="14"/>
          <p:cNvSpPr/>
          <p:nvPr/>
        </p:nvSpPr>
        <p:spPr>
          <a:xfrm rot="0" flipH="false" flipV="false">
            <a:off x="9461500" y="1968500"/>
            <a:ext cx="2159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Metrics</a:t>
            </a:r>
            <a:endParaRPr lang="en-US" sz="1100"/>
          </a:p>
        </p:txBody>
      </p:sp>
      <p:cxnSp>
        <p:nvCxnSpPr>
          <p:cNvPr name="Connector 15" id="15"/>
          <p:cNvCxnSpPr/>
          <p:nvPr/>
        </p:nvCxnSpPr>
        <p:spPr>
          <a:xfrm rot="-16769" flipH="false" flipV="false">
            <a:off x="9017015" y="2406650"/>
            <a:ext cx="26035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16" id="16"/>
          <p:cNvSpPr/>
          <p:nvPr/>
        </p:nvSpPr>
        <p:spPr>
          <a:xfrm rot="0" flipH="false" flipV="false">
            <a:off x="9017000" y="2540000"/>
            <a:ext cx="2603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Track KPIs like task success rate, response latency, and operational cost to quantify system performance.</a:t>
            </a:r>
            <a:endParaRPr lang="en-US" sz="1100"/>
          </a:p>
        </p:txBody>
      </p:sp>
      <p:sp>
        <p:nvSpPr>
          <p:cNvPr name="AutoShape 17" id="17"/>
          <p:cNvSpPr/>
          <p:nvPr/>
        </p:nvSpPr>
        <p:spPr>
          <a:xfrm rot="0" flipH="false" flipV="false">
            <a:off x="5588000" y="4127500"/>
            <a:ext cx="2984500" cy="2095500"/>
          </a:xfrm>
          <a:prstGeom prst="roundRect">
            <a:avLst>
              <a:gd name="adj" fmla="val 0"/>
            </a:avLst>
          </a:prstGeom>
          <a:solidFill>
            <a:srgbClr val="FFFFFF">
              <a:alpha val="90000"/>
            </a:srgbClr>
          </a:solidFill>
          <a:ln w="12700" cmpd="sng" cap="flat">
            <a:solidFill>
              <a:srgbClr val="E60012">
                <a:alpha val="20000"/>
              </a:srgbClr>
            </a:solidFill>
            <a:prstDash val="solid"/>
            <a:round/>
          </a:ln>
        </p:spPr>
        <p:txBody>
          <a:bodyPr anchor="ctr" rtlCol="false" anchorCtr="false" vert="horz" wrap="square" lIns="0" rIns="0" tIns="0" bIns="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5778500" y="4318000"/>
            <a:ext cx="304800" cy="304800"/>
          </a:xfrm>
          <a:prstGeom prst="rect">
            <a:avLst/>
          </a:prstGeom>
        </p:spPr>
      </p:pic>
      <p:sp>
        <p:nvSpPr>
          <p:cNvPr name="AutoShape 19" id="19"/>
          <p:cNvSpPr/>
          <p:nvPr/>
        </p:nvSpPr>
        <p:spPr>
          <a:xfrm rot="0" flipH="false" flipV="false">
            <a:off x="6223000" y="4318000"/>
            <a:ext cx="2159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Logging</a:t>
            </a:r>
            <a:endParaRPr lang="en-US" sz="1100"/>
          </a:p>
        </p:txBody>
      </p:sp>
      <p:cxnSp>
        <p:nvCxnSpPr>
          <p:cNvPr name="Connector 20" id="20"/>
          <p:cNvCxnSpPr/>
          <p:nvPr/>
        </p:nvCxnSpPr>
        <p:spPr>
          <a:xfrm rot="-16769" flipH="false" flipV="false">
            <a:off x="5778515" y="4756150"/>
            <a:ext cx="26035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21" id="21"/>
          <p:cNvSpPr/>
          <p:nvPr/>
        </p:nvSpPr>
        <p:spPr>
          <a:xfrm rot="0" flipH="false" flipV="false">
            <a:off x="5778500" y="4889500"/>
            <a:ext cx="2603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Collect detailed structured logs of agent actions, state changes, and tool execution results for auditing.</a:t>
            </a:r>
            <a:endParaRPr lang="en-US" sz="1100"/>
          </a:p>
        </p:txBody>
      </p:sp>
      <p:sp>
        <p:nvSpPr>
          <p:cNvPr name="AutoShape 22" id="22"/>
          <p:cNvSpPr/>
          <p:nvPr/>
        </p:nvSpPr>
        <p:spPr>
          <a:xfrm rot="0" flipH="false" flipV="false">
            <a:off x="8826500" y="4127500"/>
            <a:ext cx="2984500" cy="2095500"/>
          </a:xfrm>
          <a:prstGeom prst="roundRect">
            <a:avLst>
              <a:gd name="adj" fmla="val 0"/>
            </a:avLst>
          </a:prstGeom>
          <a:solidFill>
            <a:srgbClr val="FFFFFF">
              <a:alpha val="90000"/>
            </a:srgbClr>
          </a:solidFill>
          <a:ln w="12700" cmpd="sng" cap="flat">
            <a:solidFill>
              <a:srgbClr val="E60012">
                <a:alpha val="20000"/>
              </a:srgbClr>
            </a:solidFill>
            <a:prstDash val="solid"/>
            <a:round/>
          </a:ln>
        </p:spPr>
        <p:txBody>
          <a:bodyPr anchor="ctr" rtlCol="false" anchorCtr="false" vert="horz" wrap="square" lIns="0" rIns="0" tIns="0" bIns="0"/>
          <a:lstStyle/>
          <a:p>
            <a:pPr algn="ctr">
              <a:defRPr/>
            </a:pPr>
            <a:endParaRPr/>
          </a:p>
        </p:txBody>
      </p:sp>
      <p:pic>
        <p:nvPicPr>
          <p:cNvPr name="Picture 23" id="23"/>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017000" y="4318000"/>
            <a:ext cx="304800" cy="304800"/>
          </a:xfrm>
          <a:prstGeom prst="rect">
            <a:avLst/>
          </a:prstGeom>
        </p:spPr>
      </p:pic>
      <p:sp>
        <p:nvSpPr>
          <p:cNvPr name="AutoShape 24" id="24"/>
          <p:cNvSpPr/>
          <p:nvPr/>
        </p:nvSpPr>
        <p:spPr>
          <a:xfrm rot="0" flipH="false" flipV="false">
            <a:off x="9461500" y="4318000"/>
            <a:ext cx="2159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Feedback Loop</a:t>
            </a:r>
            <a:endParaRPr lang="en-US" sz="1100"/>
          </a:p>
        </p:txBody>
      </p:sp>
      <p:cxnSp>
        <p:nvCxnSpPr>
          <p:cNvPr name="Connector 25" id="25"/>
          <p:cNvCxnSpPr/>
          <p:nvPr/>
        </p:nvCxnSpPr>
        <p:spPr>
          <a:xfrm rot="-16769" flipH="false" flipV="false">
            <a:off x="9017015" y="4756150"/>
            <a:ext cx="26035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26" id="26"/>
          <p:cNvSpPr/>
          <p:nvPr/>
        </p:nvSpPr>
        <p:spPr>
          <a:xfrm rot="0" flipH="false" flipV="false">
            <a:off x="9017000" y="4889500"/>
            <a:ext cx="2603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Gather user/agent feedback on result quality to form a closed loop for continuous improvement.</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Component 5: Evaluation System</a:t>
            </a:r>
            <a:endParaRPr lang="en-US" sz="1100"/>
          </a:p>
        </p:txBody>
      </p:sp>
      <p:sp>
        <p:nvSpPr>
          <p:cNvPr name="AutoShape 4" id="4"/>
          <p:cNvSpPr/>
          <p:nvPr/>
        </p:nvSpPr>
        <p:spPr>
          <a:xfrm rot="0" flipH="false" flipV="false">
            <a:off x="762000" y="1524000"/>
            <a:ext cx="10668000" cy="8255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76200" cy="825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587500"/>
            <a:ext cx="10160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E60012"/>
                </a:solidFill>
                <a:latin typeface="Noto Sans SC"/>
                <a:ea typeface="Noto Sans SC"/>
                <a:cs typeface="Noto Sans SC"/>
                <a:sym typeface="Noto Sans SC"/>
              </a:rPr>
              <a:t>Core Goal:</a:t>
            </a:r>
            <a:r>
              <a:rPr lang="en-US" b="false" i="false" strike="noStrike" u="none" sz="1400">
                <a:solidFill>
                  <a:srgbClr val="333333"/>
                </a:solidFill>
                <a:latin typeface="Noto Sans SC"/>
                <a:ea typeface="Noto Sans SC"/>
                <a:cs typeface="Noto Sans SC"/>
                <a:sym typeface="Noto Sans SC"/>
              </a:rPr>
              <a:t>To continuously and objectively evaluate the performance of agents and the overall system, driving iterative optimization.</a:t>
            </a:r>
            <a:endParaRPr lang="en-US" sz="1100"/>
          </a:p>
        </p:txBody>
      </p:sp>
      <p:sp>
        <p:nvSpPr>
          <p:cNvPr name="AutoShape 7" id="7"/>
          <p:cNvSpPr/>
          <p:nvPr/>
        </p:nvSpPr>
        <p:spPr>
          <a:xfrm rot="0" flipH="false" flipV="false">
            <a:off x="762000" y="2921000"/>
            <a:ext cx="3429000" cy="3175000"/>
          </a:xfrm>
          <a:prstGeom prst="roundRect">
            <a:avLst>
              <a:gd name="adj" fmla="val 0"/>
            </a:avLst>
          </a:prstGeom>
          <a:solidFill>
            <a:srgbClr val="FFFFFF">
              <a:alpha val="70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3111500"/>
            <a:ext cx="304800" cy="304800"/>
          </a:xfrm>
          <a:prstGeom prst="rect">
            <a:avLst/>
          </a:prstGeom>
        </p:spPr>
      </p:pic>
      <p:sp>
        <p:nvSpPr>
          <p:cNvPr name="AutoShape 9" id="9"/>
          <p:cNvSpPr/>
          <p:nvPr/>
        </p:nvSpPr>
        <p:spPr>
          <a:xfrm rot="0" flipH="false" flipV="false">
            <a:off x="1333500" y="3048000"/>
            <a:ext cx="2794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1400">
                <a:solidFill>
                  <a:srgbClr val="333333"/>
                </a:solidFill>
                <a:latin typeface="Noto Sans SC"/>
                <a:ea typeface="Noto Sans SC"/>
                <a:cs typeface="Noto Sans SC"/>
                <a:sym typeface="Noto Sans SC"/>
              </a:rPr>
              <a:t>Core Practice: Four-Layer Evaluation Model</a:t>
            </a:r>
            <a:endParaRPr lang="en-US" sz="1100"/>
          </a:p>
        </p:txBody>
      </p:sp>
      <p:cxnSp>
        <p:nvCxnSpPr>
          <p:cNvPr name="Connector 10" id="10"/>
          <p:cNvCxnSpPr/>
          <p:nvPr/>
        </p:nvCxnSpPr>
        <p:spPr>
          <a:xfrm rot="-14323" flipH="false" flipV="false">
            <a:off x="952513" y="3613150"/>
            <a:ext cx="3048000" cy="12700"/>
          </a:xfrm>
          <a:prstGeom prst="straightConnector1">
            <a:avLst/>
          </a:prstGeom>
          <a:solidFill>
            <a:srgbClr val="DEE0E3">
              <a:alpha val="100000"/>
            </a:srgbClr>
          </a:solidFill>
          <a:ln w="12700" cmpd="sng" cap="flat">
            <a:solidFill>
              <a:srgbClr val="E60012">
                <a:alpha val="30000"/>
              </a:srgbClr>
            </a:solidFill>
            <a:prstDash val="dash"/>
            <a:round/>
            <a:headEnd type="none" w="med" len="med"/>
            <a:tailEnd type="none" w="med" len="med"/>
          </a:ln>
        </p:spPr>
      </p:cxnSp>
      <p:sp>
        <p:nvSpPr>
          <p:cNvPr name="AutoShape 11" id="11"/>
          <p:cNvSpPr/>
          <p:nvPr/>
        </p:nvSpPr>
        <p:spPr>
          <a:xfrm rot="0" flipH="false" flipV="false">
            <a:off x="952500" y="3810000"/>
            <a:ext cx="3048000" cy="215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100">
                <a:solidFill>
                  <a:srgbClr val="E60012"/>
                </a:solidFill>
                <a:latin typeface="Noto Sans SC"/>
                <a:ea typeface="Noto Sans SC"/>
                <a:cs typeface="Noto Sans SC"/>
                <a:sym typeface="Noto Sans SC"/>
              </a:rPr>
              <a:t>1. Unit Level:</a:t>
            </a:r>
            <a:r>
              <a:rPr lang="en-US" b="false" i="false" strike="noStrike" u="none" sz="1100">
                <a:solidFill>
                  <a:srgbClr val="525252"/>
                </a:solidFill>
                <a:latin typeface="Noto Sans SC"/>
                <a:ea typeface="Noto Sans SC"/>
                <a:cs typeface="Noto Sans SC"/>
                <a:sym typeface="Noto Sans SC"/>
              </a:rPr>
              <a:t>Evaluate functional correctness of individual agents/tools.</a:t>
            </a:r>
            <a:r>
              <a:rPr lang="en-US" b="false" i="false" strike="noStrike" u="none" sz="1100">
                <a:solidFill>
                  <a:srgbClr val="1F2329"/>
                </a:solidFill>
                <a:latin typeface="Noto Sans SC"/>
                <a:ea typeface="Noto Sans SC"/>
                <a:cs typeface="Noto Sans SC"/>
                <a:sym typeface="Noto Sans SC"/>
              </a:rPr>
              <a:t/>
            </a:r>
            <a:endParaRPr lang="en-US" sz="1100"/>
          </a:p>
          <a:p>
            <a:pPr algn="l" marL="0" indent="0">
              <a:lnSpc>
                <a:spcPct val="108333"/>
              </a:lnSpc>
            </a:pPr>
            <a:r>
              <a:rPr lang="en-US" b="true" i="false" strike="noStrike" u="none" sz="1100">
                <a:solidFill>
                  <a:srgbClr val="E60012"/>
                </a:solidFill>
                <a:latin typeface="Noto Sans SC"/>
                <a:ea typeface="Noto Sans SC"/>
                <a:cs typeface="Noto Sans SC"/>
                <a:sym typeface="Noto Sans SC"/>
              </a:rPr>
              <a:t>2. Interaction Level:</a:t>
            </a:r>
            <a:r>
              <a:rPr lang="en-US" b="false" i="false" strike="noStrike" u="none" sz="1100">
                <a:solidFill>
                  <a:srgbClr val="525252"/>
                </a:solidFill>
                <a:latin typeface="Noto Sans SC"/>
                <a:ea typeface="Noto Sans SC"/>
                <a:cs typeface="Noto Sans SC"/>
                <a:sym typeface="Noto Sans SC"/>
              </a:rPr>
              <a:t>Evaluate fluency/effectiveness of agent interactions.</a:t>
            </a:r>
            <a:r>
              <a:rPr lang="en-US" b="false" i="false" strike="noStrike" u="none" sz="1100">
                <a:solidFill>
                  <a:srgbClr val="1F2329"/>
                </a:solidFill>
                <a:latin typeface="Noto Sans SC"/>
                <a:ea typeface="Noto Sans SC"/>
                <a:cs typeface="Noto Sans SC"/>
                <a:sym typeface="Noto Sans SC"/>
              </a:rPr>
              <a:t/>
            </a:r>
          </a:p>
          <a:p>
            <a:pPr algn="l" marL="0" indent="0">
              <a:lnSpc>
                <a:spcPct val="108333"/>
              </a:lnSpc>
            </a:pPr>
            <a:r>
              <a:rPr lang="en-US" b="true" i="false" strike="noStrike" u="none" sz="1100">
                <a:solidFill>
                  <a:srgbClr val="E60012"/>
                </a:solidFill>
                <a:latin typeface="Noto Sans SC"/>
                <a:ea typeface="Noto Sans SC"/>
                <a:cs typeface="Noto Sans SC"/>
                <a:sym typeface="Noto Sans SC"/>
              </a:rPr>
              <a:t>3. Task Level:</a:t>
            </a:r>
            <a:r>
              <a:rPr lang="en-US" b="false" i="false" strike="noStrike" u="none" sz="1100">
                <a:solidFill>
                  <a:srgbClr val="525252"/>
                </a:solidFill>
                <a:latin typeface="Noto Sans SC"/>
                <a:ea typeface="Noto Sans SC"/>
                <a:cs typeface="Noto Sans SC"/>
                <a:sym typeface="Noto Sans SC"/>
              </a:rPr>
              <a:t>Evaluate success rate/quality of end-to-end task completion.</a:t>
            </a:r>
            <a:r>
              <a:rPr lang="en-US" b="false" i="false" strike="noStrike" u="none" sz="1100">
                <a:solidFill>
                  <a:srgbClr val="1F2329"/>
                </a:solidFill>
                <a:latin typeface="Noto Sans SC"/>
                <a:ea typeface="Noto Sans SC"/>
                <a:cs typeface="Noto Sans SC"/>
                <a:sym typeface="Noto Sans SC"/>
              </a:rPr>
              <a:t/>
            </a:r>
          </a:p>
          <a:p>
            <a:pPr algn="l" marL="0" indent="0">
              <a:lnSpc>
                <a:spcPct val="108333"/>
              </a:lnSpc>
            </a:pPr>
            <a:r>
              <a:rPr lang="en-US" b="true" i="false" strike="noStrike" u="none" sz="1100">
                <a:solidFill>
                  <a:srgbClr val="E60012"/>
                </a:solidFill>
                <a:latin typeface="Noto Sans SC"/>
                <a:ea typeface="Noto Sans SC"/>
                <a:cs typeface="Noto Sans SC"/>
                <a:sym typeface="Noto Sans SC"/>
              </a:rPr>
              <a:t>4. Business Level:</a:t>
            </a:r>
            <a:r>
              <a:rPr lang="en-US" b="false" i="false" strike="noStrike" u="none" sz="1100">
                <a:solidFill>
                  <a:srgbClr val="525252"/>
                </a:solidFill>
                <a:latin typeface="Noto Sans SC"/>
                <a:ea typeface="Noto Sans SC"/>
                <a:cs typeface="Noto Sans SC"/>
                <a:sym typeface="Noto Sans SC"/>
              </a:rPr>
              <a:t>Evaluate contribution to core business metrics (e.g., revenue, efficiency).</a:t>
            </a:r>
          </a:p>
        </p:txBody>
      </p:sp>
      <p:sp>
        <p:nvSpPr>
          <p:cNvPr name="AutoShape 12" id="12"/>
          <p:cNvSpPr/>
          <p:nvPr/>
        </p:nvSpPr>
        <p:spPr>
          <a:xfrm rot="0" flipH="false" flipV="false">
            <a:off x="4445000" y="2921000"/>
            <a:ext cx="3429000" cy="3175000"/>
          </a:xfrm>
          <a:prstGeom prst="roundRect">
            <a:avLst>
              <a:gd name="adj" fmla="val 0"/>
            </a:avLst>
          </a:prstGeom>
          <a:solidFill>
            <a:srgbClr val="FFFFFF">
              <a:alpha val="70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35500" y="3111500"/>
            <a:ext cx="304800" cy="304800"/>
          </a:xfrm>
          <a:prstGeom prst="rect">
            <a:avLst/>
          </a:prstGeom>
        </p:spPr>
      </p:pic>
      <p:sp>
        <p:nvSpPr>
          <p:cNvPr name="AutoShape 14" id="14"/>
          <p:cNvSpPr/>
          <p:nvPr/>
        </p:nvSpPr>
        <p:spPr>
          <a:xfrm rot="0" flipH="false" flipV="false">
            <a:off x="5016500" y="3048000"/>
            <a:ext cx="2794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1400">
                <a:solidFill>
                  <a:srgbClr val="333333"/>
                </a:solidFill>
                <a:latin typeface="Noto Sans SC"/>
                <a:ea typeface="Noto Sans SC"/>
                <a:cs typeface="Noto Sans SC"/>
                <a:sym typeface="Noto Sans SC"/>
              </a:rPr>
              <a:t>Key Strategy: Hybrid Evaluation Strategy</a:t>
            </a:r>
            <a:endParaRPr lang="en-US" sz="1100"/>
          </a:p>
        </p:txBody>
      </p:sp>
      <p:cxnSp>
        <p:nvCxnSpPr>
          <p:cNvPr name="Connector 15" id="15"/>
          <p:cNvCxnSpPr/>
          <p:nvPr/>
        </p:nvCxnSpPr>
        <p:spPr>
          <a:xfrm rot="-14323" flipH="false" flipV="false">
            <a:off x="4635513" y="3613150"/>
            <a:ext cx="3048000" cy="12700"/>
          </a:xfrm>
          <a:prstGeom prst="straightConnector1">
            <a:avLst/>
          </a:prstGeom>
          <a:solidFill>
            <a:srgbClr val="DEE0E3">
              <a:alpha val="100000"/>
            </a:srgbClr>
          </a:solidFill>
          <a:ln w="12700" cmpd="sng" cap="flat">
            <a:solidFill>
              <a:srgbClr val="E60012">
                <a:alpha val="30000"/>
              </a:srgbClr>
            </a:solidFill>
            <a:prstDash val="dash"/>
            <a:round/>
            <a:headEnd type="none" w="med" len="med"/>
            <a:tailEnd type="none" w="med" len="med"/>
          </a:ln>
        </p:spPr>
      </p:cxnSp>
      <p:sp>
        <p:nvSpPr>
          <p:cNvPr name="AutoShape 16" id="16"/>
          <p:cNvSpPr/>
          <p:nvPr/>
        </p:nvSpPr>
        <p:spPr>
          <a:xfrm rot="0" flipH="false" flipV="false">
            <a:off x="4635500" y="3810000"/>
            <a:ext cx="3048000" cy="215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525252"/>
                </a:solidFill>
                <a:latin typeface="Noto Sans SC"/>
                <a:ea typeface="Noto Sans SC"/>
                <a:cs typeface="Noto Sans SC"/>
                <a:sym typeface="Noto Sans SC"/>
              </a:rPr>
              <a:t>Combine automated evaluation (e.g., LLM-as-judge), human evaluation, and business metric monitoring to form a comprehensive evaluation loop.</a:t>
            </a:r>
            <a:endParaRPr lang="en-US" sz="1100"/>
          </a:p>
        </p:txBody>
      </p:sp>
      <p:sp>
        <p:nvSpPr>
          <p:cNvPr name="AutoShape 17" id="17"/>
          <p:cNvSpPr/>
          <p:nvPr/>
        </p:nvSpPr>
        <p:spPr>
          <a:xfrm rot="0" flipH="false" flipV="false">
            <a:off x="8128000" y="2921000"/>
            <a:ext cx="3429000" cy="3175000"/>
          </a:xfrm>
          <a:prstGeom prst="roundRect">
            <a:avLst>
              <a:gd name="adj" fmla="val 0"/>
            </a:avLst>
          </a:prstGeom>
          <a:solidFill>
            <a:srgbClr val="FFFFFF">
              <a:alpha val="70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18500" y="3111500"/>
            <a:ext cx="304800" cy="304800"/>
          </a:xfrm>
          <a:prstGeom prst="rect">
            <a:avLst/>
          </a:prstGeom>
        </p:spPr>
      </p:pic>
      <p:sp>
        <p:nvSpPr>
          <p:cNvPr name="AutoShape 19" id="19"/>
          <p:cNvSpPr/>
          <p:nvPr/>
        </p:nvSpPr>
        <p:spPr>
          <a:xfrm rot="0" flipH="false" flipV="false">
            <a:off x="8763000" y="30734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33333"/>
                </a:solidFill>
                <a:latin typeface="Noto Sans SC"/>
                <a:ea typeface="Noto Sans SC"/>
                <a:cs typeface="Noto Sans SC"/>
                <a:sym typeface="Noto Sans SC"/>
              </a:rPr>
              <a:t>Automated Evaluation in CI</a:t>
            </a:r>
            <a:endParaRPr lang="en-US" sz="1100"/>
          </a:p>
        </p:txBody>
      </p:sp>
      <p:cxnSp>
        <p:nvCxnSpPr>
          <p:cNvPr name="Connector 20" id="20"/>
          <p:cNvCxnSpPr/>
          <p:nvPr/>
        </p:nvCxnSpPr>
        <p:spPr>
          <a:xfrm rot="-14323" flipH="false" flipV="false">
            <a:off x="8318513" y="3613150"/>
            <a:ext cx="3048000" cy="12700"/>
          </a:xfrm>
          <a:prstGeom prst="straightConnector1">
            <a:avLst/>
          </a:prstGeom>
          <a:solidFill>
            <a:srgbClr val="DEE0E3">
              <a:alpha val="100000"/>
            </a:srgbClr>
          </a:solidFill>
          <a:ln w="12700" cmpd="sng" cap="flat">
            <a:solidFill>
              <a:srgbClr val="E60012">
                <a:alpha val="30000"/>
              </a:srgbClr>
            </a:solidFill>
            <a:prstDash val="dash"/>
            <a:round/>
            <a:headEnd type="none" w="med" len="med"/>
            <a:tailEnd type="none" w="med" len="med"/>
          </a:ln>
        </p:spPr>
      </p:cxnSp>
      <p:sp>
        <p:nvSpPr>
          <p:cNvPr name="AutoShape 21" id="21"/>
          <p:cNvSpPr/>
          <p:nvPr/>
        </p:nvSpPr>
        <p:spPr>
          <a:xfrm rot="0" flipH="false" flipV="false">
            <a:off x="8318500" y="3810000"/>
            <a:ext cx="3048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Shift Left for Stability:</a:t>
            </a:r>
            <a:r>
              <a:rPr lang="en-US" b="false" i="false" strike="noStrike" u="none" sz="13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300">
                <a:solidFill>
                  <a:srgbClr val="525252"/>
                </a:solidFill>
                <a:latin typeface="Noto Sans SC"/>
                <a:ea typeface="Noto Sans SC"/>
                <a:cs typeface="Noto Sans SC"/>
                <a:sym typeface="Noto Sans SC"/>
              </a:rPr>
              <a:t>Integrate regression tests into the CI/CD pipeline. Automatically run evaluations on every change (prompt, model, or tool update) to catch regressions early and maintain system robustness.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Component 6: Cost Control</a:t>
            </a:r>
            <a:endParaRPr lang="en-US" sz="1100"/>
          </a:p>
        </p:txBody>
      </p:sp>
      <p:sp>
        <p:nvSpPr>
          <p:cNvPr name="AutoShape 4" id="4"/>
          <p:cNvSpPr/>
          <p:nvPr/>
        </p:nvSpPr>
        <p:spPr>
          <a:xfrm rot="0" flipH="false" flipV="false">
            <a:off x="762000" y="1651000"/>
            <a:ext cx="10668000" cy="1079500"/>
          </a:xfrm>
          <a:prstGeom prst="roundRect">
            <a:avLst>
              <a:gd name="adj" fmla="val 0"/>
            </a:avLst>
          </a:prstGeom>
          <a:solidFill>
            <a:srgbClr val="FFFFFF">
              <a:alpha val="70000"/>
            </a:srgbClr>
          </a:solidFill>
          <a:ln w="12700" cmpd="sng" cap="flat">
            <a:solidFill>
              <a:srgbClr val="E60012">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76200" cy="1079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778000"/>
            <a:ext cx="10160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E60012"/>
                </a:solidFill>
                <a:latin typeface="Noto Sans SC"/>
                <a:ea typeface="Noto Sans SC"/>
                <a:cs typeface="Noto Sans SC"/>
                <a:sym typeface="Noto Sans SC"/>
              </a:rPr>
              <a:t>Core Goal:</a:t>
            </a:r>
            <a:r>
              <a:rPr lang="en-US" b="false" i="false" strike="noStrike" u="none" sz="1400">
                <a:solidFill>
                  <a:srgbClr val="444444"/>
                </a:solidFill>
                <a:latin typeface="Noto Sans SC"/>
                <a:ea typeface="Noto Sans SC"/>
                <a:cs typeface="Noto Sans SC"/>
                <a:sym typeface="Noto Sans SC"/>
              </a:rPr>
              <a:t>To strictly control the operational costs of the AI agent system while ensuring performance.</a:t>
            </a:r>
            <a:endParaRPr lang="en-US" sz="1100"/>
          </a:p>
        </p:txBody>
      </p:sp>
      <p:sp>
        <p:nvSpPr>
          <p:cNvPr name="AutoShape 7" id="7"/>
          <p:cNvSpPr/>
          <p:nvPr/>
        </p:nvSpPr>
        <p:spPr>
          <a:xfrm rot="0" flipH="false" flipV="false">
            <a:off x="762000" y="3175000"/>
            <a:ext cx="3429000" cy="2095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3365500"/>
            <a:ext cx="355600" cy="355600"/>
          </a:xfrm>
          <a:prstGeom prst="rect">
            <a:avLst/>
          </a:prstGeom>
        </p:spPr>
      </p:pic>
      <p:sp>
        <p:nvSpPr>
          <p:cNvPr name="AutoShape 9" id="9"/>
          <p:cNvSpPr/>
          <p:nvPr/>
        </p:nvSpPr>
        <p:spPr>
          <a:xfrm rot="0" flipH="false" flipV="false">
            <a:off x="1397000" y="33401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333333"/>
                </a:solidFill>
                <a:latin typeface="Noto Sans SC"/>
                <a:ea typeface="Noto Sans SC"/>
                <a:cs typeface="Noto Sans SC"/>
                <a:sym typeface="Noto Sans SC"/>
              </a:rPr>
              <a:t>01. Intelligent Model Routing</a:t>
            </a:r>
            <a:endParaRPr lang="en-US" sz="1100"/>
          </a:p>
        </p:txBody>
      </p:sp>
      <p:cxnSp>
        <p:nvCxnSpPr>
          <p:cNvPr name="Connector 10" id="10"/>
          <p:cNvCxnSpPr/>
          <p:nvPr/>
        </p:nvCxnSpPr>
        <p:spPr>
          <a:xfrm rot="-14323" flipH="false" flipV="false">
            <a:off x="952513" y="3867150"/>
            <a:ext cx="30480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sp>
        <p:nvSpPr>
          <p:cNvPr name="AutoShape 11" id="11"/>
          <p:cNvSpPr/>
          <p:nvPr/>
        </p:nvSpPr>
        <p:spPr>
          <a:xfrm rot="0" flipH="false" flipV="false">
            <a:off x="952500" y="3937000"/>
            <a:ext cx="3048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Dynamically select the most suitable model based on task complexity and importance (e.g., routing simple tasks to cheaper, smaller models).</a:t>
            </a:r>
            <a:endParaRPr lang="en-US" sz="1100"/>
          </a:p>
        </p:txBody>
      </p:sp>
      <p:sp>
        <p:nvSpPr>
          <p:cNvPr name="AutoShape 12" id="12"/>
          <p:cNvSpPr/>
          <p:nvPr/>
        </p:nvSpPr>
        <p:spPr>
          <a:xfrm rot="0" flipH="false" flipV="false">
            <a:off x="4381500" y="3175000"/>
            <a:ext cx="3429000" cy="2095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572000" y="3365500"/>
            <a:ext cx="355600" cy="355600"/>
          </a:xfrm>
          <a:prstGeom prst="rect">
            <a:avLst/>
          </a:prstGeom>
        </p:spPr>
      </p:pic>
      <p:sp>
        <p:nvSpPr>
          <p:cNvPr name="AutoShape 14" id="14"/>
          <p:cNvSpPr/>
          <p:nvPr/>
        </p:nvSpPr>
        <p:spPr>
          <a:xfrm rot="0" flipH="false" flipV="false">
            <a:off x="5016500" y="33401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02. Context Compression</a:t>
            </a:r>
            <a:endParaRPr lang="en-US" sz="1100"/>
          </a:p>
        </p:txBody>
      </p:sp>
      <p:cxnSp>
        <p:nvCxnSpPr>
          <p:cNvPr name="Connector 15" id="15"/>
          <p:cNvCxnSpPr/>
          <p:nvPr/>
        </p:nvCxnSpPr>
        <p:spPr>
          <a:xfrm rot="-14323" flipH="false" flipV="false">
            <a:off x="4572013" y="3867150"/>
            <a:ext cx="30480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sp>
        <p:nvSpPr>
          <p:cNvPr name="AutoShape 16" id="16"/>
          <p:cNvSpPr/>
          <p:nvPr/>
        </p:nvSpPr>
        <p:spPr>
          <a:xfrm rot="0" flipH="false" flipV="false">
            <a:off x="4572000" y="3937000"/>
            <a:ext cx="3048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Reduce the number of Tokens by summarizing, filtering, and other techniques before passing context to the model.</a:t>
            </a:r>
            <a:endParaRPr lang="en-US" sz="1100"/>
          </a:p>
        </p:txBody>
      </p:sp>
      <p:sp>
        <p:nvSpPr>
          <p:cNvPr name="AutoShape 17" id="17"/>
          <p:cNvSpPr/>
          <p:nvPr/>
        </p:nvSpPr>
        <p:spPr>
          <a:xfrm rot="0" flipH="false" flipV="false">
            <a:off x="8001000" y="3175000"/>
            <a:ext cx="3429000" cy="2095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191500" y="3365500"/>
            <a:ext cx="355600" cy="355600"/>
          </a:xfrm>
          <a:prstGeom prst="rect">
            <a:avLst/>
          </a:prstGeom>
        </p:spPr>
      </p:pic>
      <p:sp>
        <p:nvSpPr>
          <p:cNvPr name="AutoShape 19" id="19"/>
          <p:cNvSpPr/>
          <p:nvPr/>
        </p:nvSpPr>
        <p:spPr>
          <a:xfrm rot="0" flipH="false" flipV="false">
            <a:off x="8636000" y="33401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03. Budget Tiering &amp; Degradation</a:t>
            </a:r>
            <a:endParaRPr lang="en-US" sz="1100"/>
          </a:p>
        </p:txBody>
      </p:sp>
      <p:cxnSp>
        <p:nvCxnSpPr>
          <p:cNvPr name="Connector 20" id="20"/>
          <p:cNvCxnSpPr/>
          <p:nvPr/>
        </p:nvCxnSpPr>
        <p:spPr>
          <a:xfrm rot="-14323" flipH="false" flipV="false">
            <a:off x="8191513" y="3867150"/>
            <a:ext cx="30480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sp>
        <p:nvSpPr>
          <p:cNvPr name="AutoShape 21" id="21"/>
          <p:cNvSpPr/>
          <p:nvPr/>
        </p:nvSpPr>
        <p:spPr>
          <a:xfrm rot="0" flipH="false" flipV="false">
            <a:off x="8191500" y="3937000"/>
            <a:ext cx="3048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Set different budgets for different service levels and automatically degrade services (e.g., reduce the number of agents or use simpler models) when budgets are tight.</a:t>
            </a:r>
            <a:endParaRPr lang="en-US" sz="1100"/>
          </a:p>
        </p:txBody>
      </p:sp>
      <p:sp>
        <p:nvSpPr>
          <p:cNvPr name="AutoShape 22" id="22"/>
          <p:cNvSpPr/>
          <p:nvPr/>
        </p:nvSpPr>
        <p:spPr>
          <a:xfrm rot="0" flipH="false" flipV="false">
            <a:off x="762000" y="5588000"/>
            <a:ext cx="10668000" cy="8890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5778500"/>
            <a:ext cx="304800" cy="304800"/>
          </a:xfrm>
          <a:prstGeom prst="rect">
            <a:avLst/>
          </a:prstGeom>
        </p:spPr>
      </p:pic>
      <p:sp>
        <p:nvSpPr>
          <p:cNvPr name="AutoShape 24" id="24"/>
          <p:cNvSpPr/>
          <p:nvPr/>
        </p:nvSpPr>
        <p:spPr>
          <a:xfrm rot="0" flipH="false" flipV="false">
            <a:off x="1524000" y="5715000"/>
            <a:ext cx="2921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Token Consumption per Task</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666666"/>
                </a:solidFill>
                <a:latin typeface="Noto Sans SC"/>
                <a:ea typeface="Noto Sans SC"/>
                <a:cs typeface="Noto Sans SC"/>
                <a:sym typeface="Noto Sans SC"/>
              </a:rPr>
              <a:t>Granular tracking of total tokens allocated and utilized.</a:t>
            </a:r>
          </a:p>
        </p:txBody>
      </p:sp>
      <p:cxnSp>
        <p:nvCxnSpPr>
          <p:cNvPr name="Connector 25" id="25"/>
          <p:cNvCxnSpPr/>
          <p:nvPr/>
        </p:nvCxnSpPr>
        <p:spPr>
          <a:xfrm rot="5331254" flipH="false" flipV="false">
            <a:off x="4254500" y="6026213"/>
            <a:ext cx="6350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pic>
        <p:nvPicPr>
          <p:cNvPr name="Picture 26" id="26"/>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4826000" y="5778500"/>
            <a:ext cx="304800" cy="304800"/>
          </a:xfrm>
          <a:prstGeom prst="rect">
            <a:avLst/>
          </a:prstGeom>
        </p:spPr>
      </p:pic>
      <p:sp>
        <p:nvSpPr>
          <p:cNvPr name="AutoShape 27" id="27"/>
          <p:cNvSpPr/>
          <p:nvPr/>
        </p:nvSpPr>
        <p:spPr>
          <a:xfrm rot="0" flipH="false" flipV="false">
            <a:off x="5334000" y="5715000"/>
            <a:ext cx="2921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Retry Token Ratio</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666666"/>
                </a:solidFill>
                <a:latin typeface="Noto Sans SC"/>
                <a:ea typeface="Noto Sans SC"/>
                <a:cs typeface="Noto Sans SC"/>
                <a:sym typeface="Noto Sans SC"/>
              </a:rPr>
              <a:t>Monitor waste from failed attempts and optimize retry logic.</a:t>
            </a:r>
          </a:p>
        </p:txBody>
      </p:sp>
      <p:cxnSp>
        <p:nvCxnSpPr>
          <p:cNvPr name="Connector 28" id="28"/>
          <p:cNvCxnSpPr/>
          <p:nvPr/>
        </p:nvCxnSpPr>
        <p:spPr>
          <a:xfrm rot="5331254" flipH="false" flipV="false">
            <a:off x="7556500" y="6026213"/>
            <a:ext cx="6350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pic>
        <p:nvPicPr>
          <p:cNvPr name="Picture 29" id="29"/>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8128000" y="5778500"/>
            <a:ext cx="304800" cy="304800"/>
          </a:xfrm>
          <a:prstGeom prst="rect">
            <a:avLst/>
          </a:prstGeom>
        </p:spPr>
      </p:pic>
      <p:sp>
        <p:nvSpPr>
          <p:cNvPr name="AutoShape 30" id="30"/>
          <p:cNvSpPr/>
          <p:nvPr/>
        </p:nvSpPr>
        <p:spPr>
          <a:xfrm rot="0" flipH="false" flipV="false">
            <a:off x="8636000" y="5715000"/>
            <a:ext cx="2667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Cost per Business Outcome</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666666"/>
                </a:solidFill>
                <a:latin typeface="Noto Sans SC"/>
                <a:ea typeface="Noto Sans SC"/>
                <a:cs typeface="Noto Sans SC"/>
                <a:sym typeface="Noto Sans SC"/>
              </a:rPr>
              <a:t>Align spending directly with tangible business value.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200">
                <a:solidFill>
                  <a:srgbClr val="333333"/>
                </a:solidFill>
                <a:latin typeface="Noto Sans SC"/>
                <a:ea typeface="Noto Sans SC"/>
                <a:cs typeface="Noto Sans SC"/>
                <a:sym typeface="Noto Sans SC"/>
              </a:rPr>
              <a:t>Component 6: Human-in-the-loop &amp; MCP Integration</a:t>
            </a:r>
            <a:endParaRPr lang="en-US" sz="1100"/>
          </a:p>
        </p:txBody>
      </p:sp>
      <p:sp>
        <p:nvSpPr>
          <p:cNvPr name="AutoShape 4" id="4"/>
          <p:cNvSpPr/>
          <p:nvPr/>
        </p:nvSpPr>
        <p:spPr>
          <a:xfrm rot="0" flipH="false" flipV="false">
            <a:off x="889000" y="1905000"/>
            <a:ext cx="5080000" cy="4572000"/>
          </a:xfrm>
          <a:prstGeom prst="roundRect">
            <a:avLst>
              <a:gd name="adj" fmla="val 0"/>
            </a:avLst>
          </a:prstGeom>
          <a:solidFill>
            <a:srgbClr val="FFFFFF">
              <a:alpha val="8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5" id="5"/>
          <p:cNvSpPr/>
          <p:nvPr/>
        </p:nvSpPr>
        <p:spPr>
          <a:xfrm rot="0" flipH="false" flipV="false">
            <a:off x="1143000" y="2159000"/>
            <a:ext cx="457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E60012"/>
                </a:solidFill>
                <a:latin typeface="Noto Sans SC"/>
                <a:ea typeface="Noto Sans SC"/>
                <a:cs typeface="Noto Sans SC"/>
                <a:sym typeface="Noto Sans SC"/>
              </a:rPr>
              <a:t>Part 1: Human-in-the-loop</a:t>
            </a:r>
            <a:endParaRPr lang="en-US" sz="1100"/>
          </a:p>
        </p:txBody>
      </p:sp>
      <p:sp>
        <p:nvSpPr>
          <p:cNvPr name="AutoShape 6" id="6"/>
          <p:cNvSpPr/>
          <p:nvPr/>
        </p:nvSpPr>
        <p:spPr>
          <a:xfrm rot="0" flipH="false" flipV="false">
            <a:off x="6223000" y="1905000"/>
            <a:ext cx="5080000" cy="4572000"/>
          </a:xfrm>
          <a:prstGeom prst="roundRect">
            <a:avLst>
              <a:gd name="adj" fmla="val 0"/>
            </a:avLst>
          </a:prstGeom>
          <a:solidFill>
            <a:srgbClr val="FFFFFF">
              <a:alpha val="8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7" id="7"/>
          <p:cNvSpPr/>
          <p:nvPr/>
        </p:nvSpPr>
        <p:spPr>
          <a:xfrm rot="0" flipH="false" flipV="false">
            <a:off x="6477000" y="2159000"/>
            <a:ext cx="457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E60012"/>
                </a:solidFill>
                <a:latin typeface="Noto Sans SC"/>
                <a:ea typeface="Noto Sans SC"/>
                <a:cs typeface="Noto Sans SC"/>
                <a:sym typeface="Noto Sans SC"/>
              </a:rPr>
              <a:t>Part 2: MCP Integration</a:t>
            </a:r>
            <a:endParaRPr lang="en-US" sz="1100"/>
          </a:p>
        </p:txBody>
      </p:sp>
      <p:sp>
        <p:nvSpPr>
          <p:cNvPr name="AutoShape 8" id="8"/>
          <p:cNvSpPr/>
          <p:nvPr/>
        </p:nvSpPr>
        <p:spPr>
          <a:xfrm rot="0" flipH="false" flipV="false">
            <a:off x="1143000" y="2921000"/>
            <a:ext cx="4572000" cy="330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Purpose:</a:t>
            </a:r>
            <a:r>
              <a:rPr lang="en-US" b="false" i="false" strike="noStrike" u="none" sz="1300">
                <a:solidFill>
                  <a:srgbClr val="555555"/>
                </a:solidFill>
                <a:latin typeface="Noto Sans SC"/>
                <a:ea typeface="Noto Sans SC"/>
                <a:cs typeface="Noto Sans SC"/>
                <a:sym typeface="Noto Sans SC"/>
              </a:rPr>
              <a:t>Handle high-risk decisions and act as the final safety net.</a:t>
            </a:r>
            <a:r>
              <a:rPr lang="en-US" b="false" i="false" strike="noStrike" u="none" sz="1300">
                <a:solidFill>
                  <a:srgbClr val="333333"/>
                </a:solidFill>
                <a:latin typeface="Noto Sans SC"/>
                <a:ea typeface="Noto Sans SC"/>
                <a:cs typeface="Noto Sans SC"/>
                <a:sym typeface="Noto Sans SC"/>
              </a:rPr>
              <a:t/>
            </a:r>
            <a:endParaRPr lang="en-US" sz="1100"/>
          </a:p>
          <a:p>
            <a:pPr algn="l" marL="0" indent="0">
              <a:lnSpc>
                <a:spcPct val="125000"/>
              </a:lnSpc>
            </a:pPr>
            <a:r>
              <a:rPr lang="en-US" b="true" i="false" strike="noStrike" u="none" sz="1400">
                <a:solidFill>
                  <a:srgbClr val="333333"/>
                </a:solidFill>
                <a:latin typeface="Noto Sans SC"/>
                <a:ea typeface="Noto Sans SC"/>
                <a:cs typeface="Noto Sans SC"/>
                <a:sym typeface="Noto Sans SC"/>
              </a:rPr>
              <a:t>Mechanisms:</a:t>
            </a:r>
            <a:r>
              <a:rPr lang="en-US" b="false" i="false" strike="noStrike" u="none" sz="1300">
                <a:solidFill>
                  <a:srgbClr val="555555"/>
                </a:solidFill>
                <a:latin typeface="Noto Sans SC"/>
                <a:ea typeface="Noto Sans SC"/>
                <a:cs typeface="Noto Sans SC"/>
                <a:sym typeface="Noto Sans SC"/>
              </a:rPr>
              <a:t>Gated Execution, One-click Takeover, Feedback Loop.</a:t>
            </a:r>
          </a:p>
        </p:txBody>
      </p:sp>
      <p:sp>
        <p:nvSpPr>
          <p:cNvPr name="AutoShape 9" id="9"/>
          <p:cNvSpPr/>
          <p:nvPr/>
        </p:nvSpPr>
        <p:spPr>
          <a:xfrm rot="0" flipH="false" flipV="false">
            <a:off x="6477000" y="2921000"/>
            <a:ext cx="4572000" cy="355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333333"/>
                </a:solidFill>
                <a:latin typeface="Noto Sans SC"/>
                <a:ea typeface="Noto Sans SC"/>
                <a:cs typeface="Noto Sans SC"/>
                <a:sym typeface="Noto Sans SC"/>
              </a:rPr>
              <a:t>Goal:</a:t>
            </a:r>
            <a:r>
              <a:rPr lang="en-US" b="false" i="false" strike="noStrike" u="none" sz="1200">
                <a:solidFill>
                  <a:srgbClr val="555555"/>
                </a:solidFill>
                <a:latin typeface="Noto Sans SC"/>
                <a:ea typeface="Noto Sans SC"/>
                <a:cs typeface="Noto Sans SC"/>
                <a:sym typeface="Noto Sans SC"/>
              </a:rPr>
              <a:t>Rapidly expand capabilities using the Model Context Protocol (MCP) ecosystem while ensuring security.</a:t>
            </a:r>
            <a:r>
              <a:rPr lang="en-US" b="false" i="false" strike="noStrike" u="none" sz="1200">
                <a:solidFill>
                  <a:srgbClr val="333333"/>
                </a:solidFill>
                <a:latin typeface="Noto Sans SC"/>
                <a:ea typeface="Noto Sans SC"/>
                <a:cs typeface="Noto Sans SC"/>
                <a:sym typeface="Noto Sans SC"/>
              </a:rPr>
              <a:t/>
            </a:r>
            <a:endParaRPr lang="en-US" sz="1100"/>
          </a:p>
          <a:p>
            <a:pPr algn="l" marL="0" indent="0">
              <a:lnSpc>
                <a:spcPct val="116666"/>
              </a:lnSpc>
            </a:pPr>
            <a:r>
              <a:rPr lang="en-US" b="true" i="false" strike="noStrike" u="none" sz="1300">
                <a:solidFill>
                  <a:srgbClr val="333333"/>
                </a:solidFill>
                <a:latin typeface="Noto Sans SC"/>
                <a:ea typeface="Noto Sans SC"/>
                <a:cs typeface="Noto Sans SC"/>
                <a:sym typeface="Noto Sans SC"/>
              </a:rPr>
              <a:t>Security Principles:</a:t>
            </a:r>
            <a:r>
              <a:rPr lang="en-US" b="false" i="false" strike="noStrike" u="none" sz="1200">
                <a:solidFill>
                  <a:srgbClr val="333333"/>
                </a:solidFill>
                <a:latin typeface="Noto Sans SC"/>
                <a:ea typeface="Noto Sans SC"/>
                <a:cs typeface="Noto Sans SC"/>
                <a:sym typeface="Noto Sans SC"/>
              </a:rPr>
              <a:t/>
            </a:r>
          </a:p>
          <a:p>
            <a:pPr algn="l" marL="0" indent="0">
              <a:lnSpc>
                <a:spcPct val="108333"/>
              </a:lnSpc>
            </a:pPr>
            <a:r>
              <a:rPr lang="en-US" b="false" i="false" strike="noStrike" u="none" sz="1200">
                <a:solidFill>
                  <a:srgbClr val="555555"/>
                </a:solidFill>
                <a:latin typeface="Noto Sans SC"/>
                <a:ea typeface="Noto Sans SC"/>
                <a:cs typeface="Noto Sans SC"/>
                <a:sym typeface="Noto Sans SC"/>
              </a:rPr>
              <a:t>1. Never Expose Directly: Call via Harness's Tool Registry only.</a:t>
            </a:r>
            <a:r>
              <a:rPr lang="en-US" b="false" i="false" strike="noStrike" u="none" sz="1200">
                <a:solidFill>
                  <a:srgbClr val="333333"/>
                </a:solidFill>
                <a:latin typeface="Noto Sans SC"/>
                <a:ea typeface="Noto Sans SC"/>
                <a:cs typeface="Noto Sans SC"/>
                <a:sym typeface="Noto Sans SC"/>
              </a:rPr>
              <a:t/>
            </a:r>
            <a:br>
              <a:rPr lang="en-US" b="false" i="false" strike="noStrike" u="none" sz="1200">
                <a:solidFill>
                  <a:srgbClr val="333333"/>
                </a:solidFill>
                <a:latin typeface="Noto Sans SC"/>
                <a:ea typeface="Noto Sans SC"/>
                <a:cs typeface="Noto Sans SC"/>
                <a:sym typeface="Noto Sans SC"/>
              </a:rPr>
            </a:br>
            <a:r>
              <a:rPr lang="en-US" b="false" i="false" strike="noStrike" u="none" sz="1200">
                <a:solidFill>
                  <a:srgbClr val="555555"/>
                </a:solidFill>
                <a:latin typeface="Noto Sans SC"/>
                <a:ea typeface="Noto Sans SC"/>
                <a:cs typeface="Noto Sans SC"/>
                <a:sym typeface="Noto Sans SC"/>
              </a:rPr>
              <a:t>2. Separate Quotas: Independent resource quotas per MCP server.</a:t>
            </a:r>
            <a:r>
              <a:rPr lang="en-US" b="false" i="false" strike="noStrike" u="none" sz="1200">
                <a:solidFill>
                  <a:srgbClr val="333333"/>
                </a:solidFill>
                <a:latin typeface="Noto Sans SC"/>
                <a:ea typeface="Noto Sans SC"/>
                <a:cs typeface="Noto Sans SC"/>
                <a:sym typeface="Noto Sans SC"/>
              </a:rPr>
              <a:t/>
            </a:r>
            <a:br>
              <a:rPr lang="en-US" b="false" i="false" strike="noStrike" u="none" sz="1200">
                <a:solidFill>
                  <a:srgbClr val="333333"/>
                </a:solidFill>
                <a:latin typeface="Noto Sans SC"/>
                <a:ea typeface="Noto Sans SC"/>
                <a:cs typeface="Noto Sans SC"/>
                <a:sym typeface="Noto Sans SC"/>
              </a:rPr>
            </a:br>
            <a:r>
              <a:rPr lang="en-US" b="false" i="false" strike="noStrike" u="none" sz="1200">
                <a:solidFill>
                  <a:srgbClr val="555555"/>
                </a:solidFill>
                <a:latin typeface="Noto Sans SC"/>
                <a:ea typeface="Noto Sans SC"/>
                <a:cs typeface="Noto Sans SC"/>
                <a:sym typeface="Noto Sans SC"/>
              </a:rPr>
              <a:t>3. Whitelist Strategy: Open only business-critical tools.</a:t>
            </a:r>
            <a:r>
              <a:rPr lang="en-US" b="false" i="false" strike="noStrike" u="none" sz="1200">
                <a:solidFill>
                  <a:srgbClr val="333333"/>
                </a:solidFill>
                <a:latin typeface="Noto Sans SC"/>
                <a:ea typeface="Noto Sans SC"/>
                <a:cs typeface="Noto Sans SC"/>
                <a:sym typeface="Noto Sans SC"/>
              </a:rPr>
              <a:t/>
            </a:r>
            <a:br>
              <a:rPr lang="en-US" b="false" i="false" strike="noStrike" u="none" sz="1200">
                <a:solidFill>
                  <a:srgbClr val="333333"/>
                </a:solidFill>
                <a:latin typeface="Noto Sans SC"/>
                <a:ea typeface="Noto Sans SC"/>
                <a:cs typeface="Noto Sans SC"/>
                <a:sym typeface="Noto Sans SC"/>
              </a:rPr>
            </a:br>
            <a:r>
              <a:rPr lang="en-US" b="false" i="false" strike="noStrike" u="none" sz="1200">
                <a:solidFill>
                  <a:srgbClr val="555555"/>
                </a:solidFill>
                <a:latin typeface="Noto Sans SC"/>
                <a:ea typeface="Noto Sans SC"/>
                <a:cs typeface="Noto Sans SC"/>
                <a:sym typeface="Noto Sans SC"/>
              </a:rPr>
              <a:t>4. High-Risk Tools: Require human confirmation.</a:t>
            </a:r>
            <a:r>
              <a:rPr lang="en-US" b="false" i="false" strike="noStrike" u="none" sz="1200">
                <a:solidFill>
                  <a:srgbClr val="333333"/>
                </a:solidFill>
                <a:latin typeface="Noto Sans SC"/>
                <a:ea typeface="Noto Sans SC"/>
                <a:cs typeface="Noto Sans SC"/>
                <a:sym typeface="Noto Sans SC"/>
              </a:rPr>
              <a:t/>
            </a:r>
            <a:br>
              <a:rPr lang="en-US" b="false" i="false" strike="noStrike" u="none" sz="1200">
                <a:solidFill>
                  <a:srgbClr val="333333"/>
                </a:solidFill>
                <a:latin typeface="Noto Sans SC"/>
                <a:ea typeface="Noto Sans SC"/>
                <a:cs typeface="Noto Sans SC"/>
                <a:sym typeface="Noto Sans SC"/>
              </a:rPr>
            </a:br>
            <a:r>
              <a:rPr lang="en-US" b="false" i="false" strike="noStrike" u="none" sz="1200">
                <a:solidFill>
                  <a:srgbClr val="555555"/>
                </a:solidFill>
                <a:latin typeface="Noto Sans SC"/>
                <a:ea typeface="Noto Sans SC"/>
                <a:cs typeface="Noto Sans SC"/>
                <a:sym typeface="Noto Sans SC"/>
              </a:rPr>
              <a:t>5. Comprehensive Tracing: All calls have traceable logs.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2540000"/>
            <a:ext cx="4064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2400">
                <a:solidFill>
                  <a:srgbClr val="333333"/>
                </a:solidFill>
                <a:latin typeface="Noto Sans SC"/>
                <a:ea typeface="Noto Sans SC"/>
                <a:cs typeface="Noto Sans SC"/>
                <a:sym typeface="Noto Sans SC"/>
              </a:rPr>
              <a:t>Harness in Action: Anthropic's Framework</a:t>
            </a:r>
            <a:endParaRPr lang="en-US" sz="1100"/>
          </a:p>
        </p:txBody>
      </p:sp>
      <p:sp>
        <p:nvSpPr>
          <p:cNvPr name="AutoShape 4" id="4"/>
          <p:cNvSpPr/>
          <p:nvPr/>
        </p:nvSpPr>
        <p:spPr>
          <a:xfrm rot="0" flipH="false" flipV="false">
            <a:off x="762000" y="4318000"/>
            <a:ext cx="4064000" cy="228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525252"/>
                </a:solidFill>
                <a:latin typeface="Noto Sans SC"/>
                <a:ea typeface="Noto Sans SC"/>
                <a:cs typeface="Noto Sans SC"/>
                <a:sym typeface="Noto Sans SC"/>
              </a:rPr>
              <a:t>Anthropic's Harness Engineering framework visualizes the systematic breakdown of complex AI tasks. It integrates rigorous planning with continuous quality checks to ensure reliable and high-quality results.</a:t>
            </a:r>
            <a:endParaRPr lang="en-US" sz="1100"/>
          </a:p>
        </p:txBody>
      </p:sp>
      <p:sp>
        <p:nvSpPr>
          <p:cNvPr name="AutoShape 5" id="5"/>
          <p:cNvSpPr/>
          <p:nvPr/>
        </p:nvSpPr>
        <p:spPr>
          <a:xfrm rot="0" flipH="false" flipV="false">
            <a:off x="5842000" y="1778000"/>
            <a:ext cx="5334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333333"/>
                </a:solidFill>
                <a:latin typeface="Noto Sans SC"/>
                <a:ea typeface="Noto Sans SC"/>
                <a:cs typeface="Noto Sans SC"/>
                <a:sym typeface="Noto Sans SC"/>
              </a:rPr>
              <a:t>Core Components</a:t>
            </a:r>
            <a:endParaRPr lang="en-US" sz="1100"/>
          </a:p>
        </p:txBody>
      </p:sp>
      <p:sp>
        <p:nvSpPr>
          <p:cNvPr name="AutoShape 6" id="6"/>
          <p:cNvSpPr/>
          <p:nvPr/>
        </p:nvSpPr>
        <p:spPr>
          <a:xfrm rot="0" flipH="false" flipV="false">
            <a:off x="5842000" y="2667000"/>
            <a:ext cx="2540000" cy="3810000"/>
          </a:xfrm>
          <a:prstGeom prst="roundRect">
            <a:avLst>
              <a:gd name="adj" fmla="val 4000"/>
            </a:avLst>
          </a:prstGeom>
          <a:solidFill>
            <a:srgbClr val="FFFFFF">
              <a:alpha val="9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096000" y="2984500"/>
            <a:ext cx="508000" cy="508000"/>
          </a:xfrm>
          <a:prstGeom prst="rect">
            <a:avLst/>
          </a:prstGeom>
        </p:spPr>
      </p:pic>
      <p:sp>
        <p:nvSpPr>
          <p:cNvPr name="AutoShape 8" id="8"/>
          <p:cNvSpPr/>
          <p:nvPr/>
        </p:nvSpPr>
        <p:spPr>
          <a:xfrm rot="0" flipH="false" flipV="false">
            <a:off x="6096000" y="3810000"/>
            <a:ext cx="203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33333"/>
                </a:solidFill>
                <a:latin typeface="Noto Sans SC"/>
                <a:ea typeface="Noto Sans SC"/>
                <a:cs typeface="Noto Sans SC"/>
                <a:sym typeface="Noto Sans SC"/>
              </a:rPr>
              <a:t>Task Planning &amp; Breakdown</a:t>
            </a:r>
            <a:endParaRPr lang="en-US" sz="1100"/>
          </a:p>
        </p:txBody>
      </p:sp>
      <p:sp>
        <p:nvSpPr>
          <p:cNvPr name="AutoShape 9" id="9"/>
          <p:cNvSpPr/>
          <p:nvPr/>
        </p:nvSpPr>
        <p:spPr>
          <a:xfrm rot="0" flipH="false" flipV="false">
            <a:off x="6096000" y="4699000"/>
            <a:ext cx="2032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525252"/>
                </a:solidFill>
                <a:latin typeface="Noto Sans SC"/>
                <a:ea typeface="Noto Sans SC"/>
                <a:cs typeface="Noto Sans SC"/>
                <a:sym typeface="Noto Sans SC"/>
              </a:rPr>
              <a:t>Decomposing complex objectives into manageable, actionable sub-tasks. This establishes a structured roadmap for the AI model to follow effectively.</a:t>
            </a:r>
            <a:endParaRPr lang="en-US" sz="1100"/>
          </a:p>
        </p:txBody>
      </p:sp>
      <p:sp>
        <p:nvSpPr>
          <p:cNvPr name="AutoShape 10" id="10"/>
          <p:cNvSpPr/>
          <p:nvPr/>
        </p:nvSpPr>
        <p:spPr>
          <a:xfrm rot="0" flipH="false" flipV="false">
            <a:off x="8763000" y="2667000"/>
            <a:ext cx="2540000" cy="3810000"/>
          </a:xfrm>
          <a:prstGeom prst="roundRect">
            <a:avLst>
              <a:gd name="adj" fmla="val 4000"/>
            </a:avLst>
          </a:prstGeom>
          <a:solidFill>
            <a:srgbClr val="FFFFFF">
              <a:alpha val="9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017000" y="2984500"/>
            <a:ext cx="508000" cy="508000"/>
          </a:xfrm>
          <a:prstGeom prst="rect">
            <a:avLst/>
          </a:prstGeom>
        </p:spPr>
      </p:pic>
      <p:sp>
        <p:nvSpPr>
          <p:cNvPr name="AutoShape 12" id="12"/>
          <p:cNvSpPr/>
          <p:nvPr/>
        </p:nvSpPr>
        <p:spPr>
          <a:xfrm rot="0" flipH="false" flipV="false">
            <a:off x="9017000" y="3810000"/>
            <a:ext cx="203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33333"/>
                </a:solidFill>
                <a:latin typeface="Noto Sans SC"/>
                <a:ea typeface="Noto Sans SC"/>
                <a:cs typeface="Noto Sans SC"/>
                <a:sym typeface="Noto Sans SC"/>
              </a:rPr>
              <a:t>Rigorous Quality Assessment</a:t>
            </a:r>
            <a:endParaRPr lang="en-US" sz="1100"/>
          </a:p>
        </p:txBody>
      </p:sp>
      <p:sp>
        <p:nvSpPr>
          <p:cNvPr name="AutoShape 13" id="13"/>
          <p:cNvSpPr/>
          <p:nvPr/>
        </p:nvSpPr>
        <p:spPr>
          <a:xfrm rot="0" flipH="false" flipV="false">
            <a:off x="9017000" y="4699000"/>
            <a:ext cx="2032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525252"/>
                </a:solidFill>
                <a:latin typeface="Noto Sans SC"/>
                <a:ea typeface="Noto Sans SC"/>
                <a:cs typeface="Noto Sans SC"/>
                <a:sym typeface="Noto Sans SC"/>
              </a:rPr>
              <a:t>Implementing self-evaluation cycles to evaluate outputs against predefined benchmarks. This ensures high standards are maintained throughout the process.</a:t>
            </a:r>
            <a:endParaRPr lang="en-US" sz="1100"/>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200">
                <a:solidFill>
                  <a:srgbClr val="1F2329"/>
                </a:solidFill>
                <a:latin typeface="Noto Sans SC"/>
                <a:ea typeface="Noto Sans SC"/>
                <a:cs typeface="Noto Sans SC"/>
                <a:sym typeface="Noto Sans SC"/>
              </a:rPr>
              <a:t>Harness in Action: Task Planning</a:t>
            </a:r>
            <a:endParaRPr lang="en-US" sz="1100"/>
          </a:p>
        </p:txBody>
      </p:sp>
      <p:sp>
        <p:nvSpPr>
          <p:cNvPr name="AutoShape 3" id="3"/>
          <p:cNvSpPr/>
          <p:nvPr/>
        </p:nvSpPr>
        <p:spPr>
          <a:xfrm rot="0" flipH="false" flipV="false">
            <a:off x="762000" y="2286000"/>
            <a:ext cx="508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F2329"/>
                </a:solidFill>
                <a:latin typeface="Noto Sans SC"/>
                <a:ea typeface="Noto Sans SC"/>
                <a:cs typeface="Noto Sans SC"/>
                <a:sym typeface="Noto Sans SC"/>
              </a:rPr>
              <a:t>Problem: Overwhelming Workload</a:t>
            </a:r>
            <a:endParaRPr lang="en-US" sz="1100"/>
          </a:p>
        </p:txBody>
      </p:sp>
      <p:sp>
        <p:nvSpPr>
          <p:cNvPr name="AutoShape 4" id="4"/>
          <p:cNvSpPr/>
          <p:nvPr/>
        </p:nvSpPr>
        <p:spPr>
          <a:xfrm rot="0" flipH="false" flipV="false">
            <a:off x="762000" y="3175000"/>
            <a:ext cx="5080000" cy="355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true" i="false" strike="noStrike" u="none" sz="1600">
                <a:solidFill>
                  <a:srgbClr val="333333"/>
                </a:solidFill>
                <a:latin typeface="Noto Sans SC"/>
                <a:ea typeface="Noto Sans SC"/>
                <a:cs typeface="Noto Sans SC"/>
                <a:sym typeface="Noto Sans SC"/>
              </a:rPr>
              <a:t>Task:</a:t>
            </a:r>
            <a:r>
              <a:rPr lang="en-US" b="false" i="false" strike="noStrike" u="none" sz="1600">
                <a:solidFill>
                  <a:srgbClr val="333333"/>
                </a:solidFill>
                <a:latin typeface="Noto Sans SC"/>
                <a:ea typeface="Noto Sans SC"/>
                <a:cs typeface="Noto Sans SC"/>
                <a:sym typeface="Noto Sans SC"/>
              </a:rPr>
              <a:t>Clone a complex application like claude.ai.</a:t>
            </a:r>
            <a:endParaRPr lang="en-US" sz="1100"/>
          </a:p>
          <a:p>
            <a:pPr algn="l" marL="0" indent="0">
              <a:lnSpc>
                <a:spcPct val="133333"/>
              </a:lnSpc>
            </a:pPr>
            <a:r>
              <a:rPr lang="en-US" b="true" i="false" strike="noStrike" u="none" sz="1600">
                <a:solidFill>
                  <a:srgbClr val="333333"/>
                </a:solidFill>
                <a:latin typeface="Noto Sans SC"/>
                <a:ea typeface="Noto Sans SC"/>
                <a:cs typeface="Noto Sans SC"/>
                <a:sym typeface="Noto Sans SC"/>
              </a:rPr>
              <a:t>Challenge:</a:t>
            </a:r>
            <a:r>
              <a:rPr lang="en-US" b="false" i="false" strike="noStrike" u="none" sz="1600">
                <a:solidFill>
                  <a:srgbClr val="333333"/>
                </a:solidFill>
                <a:latin typeface="Noto Sans SC"/>
                <a:ea typeface="Noto Sans SC"/>
                <a:cs typeface="Noto Sans SC"/>
                <a:sym typeface="Noto Sans SC"/>
              </a:rPr>
              <a:t>A single Agent might rush to complete the task, leading to compromised quality and incomplete execution.</a:t>
            </a:r>
          </a:p>
        </p:txBody>
      </p:sp>
      <p:sp>
        <p:nvSpPr>
          <p:cNvPr name="AutoShape 5" id="5"/>
          <p:cNvSpPr/>
          <p:nvPr/>
        </p:nvSpPr>
        <p:spPr>
          <a:xfrm rot="0" flipH="false" flipV="false">
            <a:off x="6350000" y="2286000"/>
            <a:ext cx="508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F2329"/>
                </a:solidFill>
                <a:latin typeface="Noto Sans SC"/>
                <a:ea typeface="Noto Sans SC"/>
                <a:cs typeface="Noto Sans SC"/>
                <a:sym typeface="Noto Sans SC"/>
              </a:rPr>
              <a:t>Solution: The Initializer</a:t>
            </a:r>
            <a:endParaRPr lang="en-US" sz="1100"/>
          </a:p>
        </p:txBody>
      </p:sp>
      <p:sp>
        <p:nvSpPr>
          <p:cNvPr name="AutoShape 6" id="6"/>
          <p:cNvSpPr/>
          <p:nvPr/>
        </p:nvSpPr>
        <p:spPr>
          <a:xfrm rot="0" flipH="false" flipV="false">
            <a:off x="6350000" y="3175000"/>
            <a:ext cx="5080000" cy="355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true" i="false" strike="noStrike" u="none" sz="1400">
                <a:solidFill>
                  <a:srgbClr val="333333"/>
                </a:solidFill>
                <a:latin typeface="Noto Sans SC"/>
                <a:ea typeface="Noto Sans SC"/>
                <a:cs typeface="Noto Sans SC"/>
                <a:sym typeface="Noto Sans SC"/>
              </a:rPr>
              <a:t>01. Deconstruct Request:</a:t>
            </a:r>
            <a:r>
              <a:rPr lang="en-US" b="false" i="false" strike="noStrike" u="none" sz="1400">
                <a:solidFill>
                  <a:srgbClr val="333333"/>
                </a:solidFill>
                <a:latin typeface="Noto Sans SC"/>
                <a:ea typeface="Noto Sans SC"/>
                <a:cs typeface="Noto Sans SC"/>
                <a:sym typeface="Noto Sans SC"/>
              </a:rPr>
              <a:t>Break the monolithic request down into smaller, manageable, and actionable sub-tasks.</a:t>
            </a:r>
            <a:endParaRPr lang="en-US" sz="1100"/>
          </a:p>
          <a:p>
            <a:pPr algn="l" marL="0" indent="0">
              <a:lnSpc>
                <a:spcPct val="133333"/>
              </a:lnSpc>
            </a:pPr>
            <a:r>
              <a:rPr lang="en-US" b="true" i="false" strike="noStrike" u="none" sz="1400">
                <a:solidFill>
                  <a:srgbClr val="333333"/>
                </a:solidFill>
                <a:latin typeface="Noto Sans SC"/>
                <a:ea typeface="Noto Sans SC"/>
                <a:cs typeface="Noto Sans SC"/>
                <a:sym typeface="Noto Sans SC"/>
              </a:rPr>
              <a:t>02. Write Initial Script:</a:t>
            </a:r>
            <a:r>
              <a:rPr lang="en-US" b="false" i="false" strike="noStrike" u="none" sz="1400">
                <a:solidFill>
                  <a:srgbClr val="333333"/>
                </a:solidFill>
                <a:latin typeface="Noto Sans SC"/>
                <a:ea typeface="Noto Sans SC"/>
                <a:cs typeface="Noto Sans SC"/>
                <a:sym typeface="Noto Sans SC"/>
              </a:rPr>
              <a:t>Establish a clear starting point or a foundational plan that outlines the execution flow, providing a clear path to follow.</a:t>
            </a:r>
          </a:p>
          <a:p>
            <a:pPr algn="l" marL="0" indent="0">
              <a:lnSpc>
                <a:spcPct val="133333"/>
              </a:lnSpc>
            </a:pPr>
            <a:r>
              <a:rPr lang="en-US" b="true" i="false" strike="noStrike" u="none" sz="1400">
                <a:solidFill>
                  <a:srgbClr val="333333"/>
                </a:solidFill>
                <a:latin typeface="Noto Sans SC"/>
                <a:ea typeface="Noto Sans SC"/>
                <a:cs typeface="Noto Sans SC"/>
                <a:sym typeface="Noto Sans SC"/>
              </a:rPr>
              <a:t>03. Track with Progress Files:</a:t>
            </a:r>
            <a:r>
              <a:rPr lang="en-US" b="false" i="false" strike="noStrike" u="none" sz="1400">
                <a:solidFill>
                  <a:srgbClr val="333333"/>
                </a:solidFill>
                <a:latin typeface="Noto Sans SC"/>
                <a:ea typeface="Noto Sans SC"/>
                <a:cs typeface="Noto Sans SC"/>
                <a:sym typeface="Noto Sans SC"/>
              </a:rPr>
              <a:t>Implement progress-tracking files to monitor each sub-task's completion status, ensuring no critical steps are skipped.</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800">
                <a:solidFill>
                  <a:srgbClr val="1F2329"/>
                </a:solidFill>
                <a:latin typeface="Noto Sans SC"/>
                <a:ea typeface="Noto Sans SC"/>
                <a:cs typeface="Noto Sans SC"/>
                <a:sym typeface="Noto Sans SC"/>
              </a:rPr>
              <a:t>Harness in Action: Quality Assessment</a:t>
            </a:r>
            <a:endParaRPr lang="en-US" sz="1100"/>
          </a:p>
        </p:txBody>
      </p:sp>
      <p:sp>
        <p:nvSpPr>
          <p:cNvPr name="AutoShape 4" id="4"/>
          <p:cNvSpPr/>
          <p:nvPr/>
        </p:nvSpPr>
        <p:spPr>
          <a:xfrm rot="0" flipH="false" flipV="false">
            <a:off x="762000" y="2794000"/>
            <a:ext cx="508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D93025"/>
                </a:solidFill>
                <a:latin typeface="Noto Sans SC"/>
                <a:ea typeface="Noto Sans SC"/>
                <a:cs typeface="Noto Sans SC"/>
                <a:sym typeface="Noto Sans SC"/>
              </a:rPr>
              <a:t>The Problem with Self-Evaluation</a:t>
            </a:r>
            <a:endParaRPr lang="en-US" sz="1100"/>
          </a:p>
        </p:txBody>
      </p:sp>
      <p:sp>
        <p:nvSpPr>
          <p:cNvPr name="AutoShape 5" id="5"/>
          <p:cNvSpPr/>
          <p:nvPr/>
        </p:nvSpPr>
        <p:spPr>
          <a:xfrm rot="0" flipH="false" flipV="false">
            <a:off x="762000" y="3683000"/>
            <a:ext cx="5080000" cy="279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329"/>
                </a:solidFill>
                <a:latin typeface="Noto Sans SC"/>
                <a:ea typeface="Noto Sans SC"/>
                <a:cs typeface="Noto Sans SC"/>
                <a:sym typeface="Noto Sans SC"/>
              </a:rPr>
              <a:t>Human Evaluation:</a:t>
            </a:r>
            <a:r>
              <a:rPr lang="en-US" b="false" i="false" strike="noStrike" u="none" sz="1500">
                <a:solidFill>
                  <a:srgbClr val="3C3C3C"/>
                </a:solidFill>
                <a:latin typeface="Noto Sans SC"/>
                <a:ea typeface="Noto Sans SC"/>
                <a:cs typeface="Noto Sans SC"/>
                <a:sym typeface="Noto Sans SC"/>
              </a:rPr>
              <a:t>Time-consuming and not scalable for automated workflows.</a:t>
            </a:r>
            <a:r>
              <a:rPr lang="en-US" b="false" i="false" strike="noStrike" u="none" sz="1500">
                <a:solidFill>
                  <a:srgbClr val="3C3C3C"/>
                </a:solidFill>
                <a:latin typeface="Noto Sans SC"/>
                <a:ea typeface="Noto Sans SC"/>
                <a:cs typeface="Noto Sans SC"/>
                <a:sym typeface="Noto Sans SC"/>
              </a:rPr>
              <a:t/>
            </a:r>
            <a:endParaRPr lang="en-US" sz="1100"/>
          </a:p>
          <a:p>
            <a:pPr algn="l" marL="0" indent="0">
              <a:lnSpc>
                <a:spcPct val="125000"/>
              </a:lnSpc>
            </a:pPr>
            <a:r>
              <a:rPr lang="en-US" b="true" i="false" strike="noStrike" u="none" sz="1500">
                <a:solidFill>
                  <a:srgbClr val="1F2329"/>
                </a:solidFill>
                <a:latin typeface="Noto Sans SC"/>
                <a:ea typeface="Noto Sans SC"/>
                <a:cs typeface="Noto Sans SC"/>
                <a:sym typeface="Noto Sans SC"/>
              </a:rPr>
              <a:t>Agent Self-Evaluation:</a:t>
            </a:r>
            <a:r>
              <a:rPr lang="en-US" b="false" i="false" strike="noStrike" u="none" sz="1500">
                <a:solidFill>
                  <a:srgbClr val="3C3C3C"/>
                </a:solidFill>
                <a:latin typeface="Noto Sans SC"/>
                <a:ea typeface="Noto Sans SC"/>
                <a:cs typeface="Noto Sans SC"/>
                <a:sym typeface="Noto Sans SC"/>
              </a:rPr>
              <a:t>Inherently biased. An agent cannot be trusted to accurately grade its own work.</a:t>
            </a:r>
          </a:p>
        </p:txBody>
      </p:sp>
      <p:sp>
        <p:nvSpPr>
          <p:cNvPr name="AutoShape 6" id="6"/>
          <p:cNvSpPr/>
          <p:nvPr/>
        </p:nvSpPr>
        <p:spPr>
          <a:xfrm rot="0" flipH="false" flipV="false">
            <a:off x="6350000" y="2794000"/>
            <a:ext cx="508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D93025"/>
                </a:solidFill>
                <a:latin typeface="Noto Sans SC"/>
                <a:ea typeface="Noto Sans SC"/>
                <a:cs typeface="Noto Sans SC"/>
                <a:sym typeface="Noto Sans SC"/>
              </a:rPr>
              <a:t>The Harness Solution: Independent Evaluator</a:t>
            </a:r>
            <a:endParaRPr lang="en-US" sz="1100"/>
          </a:p>
        </p:txBody>
      </p:sp>
      <p:sp>
        <p:nvSpPr>
          <p:cNvPr name="AutoShape 7" id="7"/>
          <p:cNvSpPr/>
          <p:nvPr/>
        </p:nvSpPr>
        <p:spPr>
          <a:xfrm rot="0" flipH="false" flipV="false">
            <a:off x="6350000" y="3683000"/>
            <a:ext cx="5080000" cy="279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500">
                <a:solidFill>
                  <a:srgbClr val="3C3C3C"/>
                </a:solidFill>
                <a:latin typeface="Noto Sans SC"/>
                <a:ea typeface="Noto Sans SC"/>
                <a:cs typeface="Noto Sans SC"/>
                <a:sym typeface="Noto Sans SC"/>
              </a:rPr>
              <a:t>A dedicated Agent acts as an automated QA. It reviews the final output for factual errors, logical issues, ensuring the Generator Agent fixes the deficiencies automatically. This creates a crucial feedback loop for quality control.</a:t>
            </a:r>
            <a:endParaRPr lang="en-US" sz="1100"/>
          </a:p>
        </p:txBody>
      </p:sp>
    </p:spTree>
  </p:cSld>
  <p:clrMapOvr>
    <a:masterClrMapping/>
  </p:clrMapOvr>
</p:sld>
</file>

<file path=ppt/slides/slide22.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1016000"/>
            <a:ext cx="10668000" cy="609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200">
                <a:solidFill>
                  <a:srgbClr val="1F2329"/>
                </a:solidFill>
                <a:latin typeface="Noto Sans SC"/>
                <a:ea typeface="Noto Sans SC"/>
                <a:cs typeface="Noto Sans SC"/>
                <a:sym typeface="Noto Sans SC"/>
              </a:rPr>
              <a:t>Harness in Action: The Multi-Agent Harness</a:t>
            </a:r>
            <a:endParaRPr lang="en-US" sz="1100"/>
          </a:p>
        </p:txBody>
      </p:sp>
      <p:sp>
        <p:nvSpPr>
          <p:cNvPr name="AutoShape 3" id="3"/>
          <p:cNvSpPr/>
          <p:nvPr/>
        </p:nvSpPr>
        <p:spPr>
          <a:xfrm rot="0" flipH="false" flipV="false">
            <a:off x="762000" y="1905000"/>
            <a:ext cx="10668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800">
                <a:solidFill>
                  <a:srgbClr val="6B7280"/>
                </a:solidFill>
                <a:latin typeface="Noto Sans SC"/>
                <a:ea typeface="Noto Sans SC"/>
                <a:cs typeface="Noto Sans SC"/>
                <a:sym typeface="Noto Sans SC"/>
              </a:rPr>
              <a:t>A System of Specialists</a:t>
            </a:r>
            <a:endParaRPr lang="en-US" sz="1100"/>
          </a:p>
        </p:txBody>
      </p:sp>
      <p:sp>
        <p:nvSpPr>
          <p:cNvPr name="AutoShape 4" id="4"/>
          <p:cNvSpPr/>
          <p:nvPr/>
        </p:nvSpPr>
        <p:spPr>
          <a:xfrm rot="0" flipH="false" flipV="false">
            <a:off x="762000" y="2794000"/>
            <a:ext cx="3302000" cy="3556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1800">
                <a:solidFill>
                  <a:srgbClr val="1F2329"/>
                </a:solidFill>
                <a:latin typeface="Noto Sans SC"/>
                <a:ea typeface="Noto Sans SC"/>
                <a:cs typeface="Noto Sans SC"/>
                <a:sym typeface="Noto Sans SC"/>
              </a:rPr>
              <a:t>01. Planner: The Architect</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spcBef>
                <a:spcPts val="1600"/>
              </a:spcBef>
            </a:pPr>
            <a:r>
              <a:rPr lang="en-US" b="false" i="false" strike="noStrike" u="none" sz="1400">
                <a:solidFill>
                  <a:srgbClr val="4B5563"/>
                </a:solidFill>
                <a:latin typeface="Noto Sans SC"/>
                <a:ea typeface="Noto Sans SC"/>
                <a:cs typeface="Noto Sans SC"/>
                <a:sym typeface="Noto Sans SC"/>
              </a:rPr>
              <a:t>Takes high-level objectives and breaks them down into manageable, actionable steps, ensuring logical flow and clarity in the execution process.</a:t>
            </a:r>
          </a:p>
        </p:txBody>
      </p:sp>
      <p:sp>
        <p:nvSpPr>
          <p:cNvPr name="AutoShape 5" id="5"/>
          <p:cNvSpPr/>
          <p:nvPr/>
        </p:nvSpPr>
        <p:spPr>
          <a:xfrm rot="0" flipH="false" flipV="false">
            <a:off x="4445000" y="2794000"/>
            <a:ext cx="3302000" cy="3556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1800">
                <a:solidFill>
                  <a:srgbClr val="1F2329"/>
                </a:solidFill>
                <a:latin typeface="Noto Sans SC"/>
                <a:ea typeface="Noto Sans SC"/>
                <a:cs typeface="Noto Sans SC"/>
                <a:sym typeface="Noto Sans SC"/>
              </a:rPr>
              <a:t>02. Generator: The Creator</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spcBef>
                <a:spcPts val="1600"/>
              </a:spcBef>
            </a:pPr>
            <a:r>
              <a:rPr lang="en-US" b="false" i="false" strike="noStrike" u="none" sz="1400">
                <a:solidFill>
                  <a:srgbClr val="4B5563"/>
                </a:solidFill>
                <a:latin typeface="Noto Sans SC"/>
                <a:ea typeface="Noto Sans SC"/>
                <a:cs typeface="Noto Sans SC"/>
                <a:sym typeface="Noto Sans SC"/>
              </a:rPr>
              <a:t>Executes the decomposed tasks by generating precise code, content, or solutions, following the Planner's detailed instructions.</a:t>
            </a:r>
          </a:p>
        </p:txBody>
      </p:sp>
      <p:sp>
        <p:nvSpPr>
          <p:cNvPr name="AutoShape 6" id="6"/>
          <p:cNvSpPr/>
          <p:nvPr/>
        </p:nvSpPr>
        <p:spPr>
          <a:xfrm rot="0" flipH="false" flipV="false">
            <a:off x="8128000" y="2794000"/>
            <a:ext cx="3302000" cy="3556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1800">
                <a:solidFill>
                  <a:srgbClr val="1F2329"/>
                </a:solidFill>
                <a:latin typeface="Noto Sans SC"/>
                <a:ea typeface="Noto Sans SC"/>
                <a:cs typeface="Noto Sans SC"/>
                <a:sym typeface="Noto Sans SC"/>
              </a:rPr>
              <a:t>03. Evaluator: The Quality Gatekeeper</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spcBef>
                <a:spcPts val="1600"/>
              </a:spcBef>
            </a:pPr>
            <a:r>
              <a:rPr lang="en-US" b="false" i="false" strike="noStrike" u="none" sz="1400">
                <a:solidFill>
                  <a:srgbClr val="4B5563"/>
                </a:solidFill>
                <a:latin typeface="Noto Sans SC"/>
                <a:ea typeface="Noto Sans SC"/>
                <a:cs typeface="Noto Sans SC"/>
                <a:sym typeface="Noto Sans SC"/>
              </a:rPr>
              <a:t>Scrutinizes the Generator's outputs against predefined standards and provides a feedback loop to refine outputs, ensuring the final product meets all quality benchmarks.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1016000"/>
            <a:ext cx="10668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200">
                <a:solidFill>
                  <a:srgbClr val="333333"/>
                </a:solidFill>
                <a:latin typeface="Noto Sans SC"/>
                <a:ea typeface="Noto Sans SC"/>
                <a:cs typeface="Noto Sans SC"/>
                <a:sym typeface="Noto Sans SC"/>
              </a:rPr>
              <a:t>Harness in Action: The Full Workflow</a:t>
            </a:r>
            <a:endParaRPr lang="en-US" sz="1100"/>
          </a:p>
        </p:txBody>
      </p:sp>
      <p:sp>
        <p:nvSpPr>
          <p:cNvPr name="AutoShape 3" id="3"/>
          <p:cNvSpPr/>
          <p:nvPr/>
        </p:nvSpPr>
        <p:spPr>
          <a:xfrm rot="0" flipH="false" flipV="false">
            <a:off x="762000" y="2159000"/>
            <a:ext cx="10668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800">
                <a:solidFill>
                  <a:srgbClr val="666666"/>
                </a:solidFill>
                <a:latin typeface="Noto Sans SC"/>
                <a:ea typeface="Noto Sans SC"/>
                <a:cs typeface="Noto Sans SC"/>
                <a:sym typeface="Noto Sans SC"/>
              </a:rPr>
              <a:t>A Robust, Automated, and Self-Correcting Engineering Pipeline</a:t>
            </a:r>
            <a:endParaRPr lang="en-US" sz="1100"/>
          </a:p>
        </p:txBody>
      </p:sp>
      <p:sp>
        <p:nvSpPr>
          <p:cNvPr name="AutoShape 4" id="4"/>
          <p:cNvSpPr/>
          <p:nvPr/>
        </p:nvSpPr>
        <p:spPr>
          <a:xfrm rot="0" flipH="false" flipV="false">
            <a:off x="1270000" y="3302000"/>
            <a:ext cx="9652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800">
                <a:solidFill>
                  <a:srgbClr val="E60012"/>
                </a:solidFill>
                <a:latin typeface="Noto Sans SC"/>
                <a:ea typeface="Noto Sans SC"/>
                <a:cs typeface="Noto Sans SC"/>
                <a:sym typeface="Noto Sans SC"/>
              </a:rPr>
              <a:t>Step 1: Deconstruct</a:t>
            </a:r>
            <a:r>
              <a:rPr lang="en-US" b="false" i="false" strike="noStrike" u="none" sz="1400">
                <a:solidFill>
                  <a:srgbClr val="525252"/>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525252"/>
                </a:solidFill>
                <a:latin typeface="Noto Sans SC"/>
                <a:ea typeface="Noto Sans SC"/>
                <a:cs typeface="Noto Sans SC"/>
                <a:sym typeface="Noto Sans SC"/>
              </a:rPr>
              <a:t>The Planner breaks down high-level user requests into a clear, manageable list of discrete features, laying the foundation for systematic development.</a:t>
            </a:r>
          </a:p>
        </p:txBody>
      </p:sp>
      <p:sp>
        <p:nvSpPr>
          <p:cNvPr name="AutoShape 5" id="5"/>
          <p:cNvSpPr/>
          <p:nvPr/>
        </p:nvSpPr>
        <p:spPr>
          <a:xfrm rot="0" flipH="false" flipV="false">
            <a:off x="1270000" y="4635500"/>
            <a:ext cx="9652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800">
                <a:solidFill>
                  <a:srgbClr val="E60012"/>
                </a:solidFill>
                <a:latin typeface="Noto Sans SC"/>
                <a:ea typeface="Noto Sans SC"/>
                <a:cs typeface="Noto Sans SC"/>
                <a:sym typeface="Noto Sans SC"/>
              </a:rPr>
              <a:t>Step 2: Generate &amp; Evaluate Loop</a:t>
            </a:r>
            <a:r>
              <a:rPr lang="en-US" b="false" i="false" strike="noStrike" u="none" sz="1400">
                <a:solidFill>
                  <a:srgbClr val="525252"/>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525252"/>
                </a:solidFill>
                <a:latin typeface="Noto Sans SC"/>
                <a:ea typeface="Noto Sans SC"/>
                <a:cs typeface="Noto Sans SC"/>
                <a:sym typeface="Noto Sans SC"/>
              </a:rPr>
              <a:t>For each feature, the Generator proposes criteria and writes code, while the Evaluator rigorously reviews and requests modifications. This iterative cycle repeats until the code meets all quality benchmarks.</a:t>
            </a:r>
          </a:p>
        </p:txBody>
      </p:sp>
      <p:sp>
        <p:nvSpPr>
          <p:cNvPr name="AutoShape 6" id="6"/>
          <p:cNvSpPr/>
          <p:nvPr/>
        </p:nvSpPr>
        <p:spPr>
          <a:xfrm rot="0" flipH="false" flipV="false">
            <a:off x="1270000" y="5778500"/>
            <a:ext cx="965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800">
                <a:solidFill>
                  <a:srgbClr val="E60012"/>
                </a:solidFill>
                <a:latin typeface="Noto Sans SC"/>
                <a:ea typeface="Noto Sans SC"/>
                <a:cs typeface="Noto Sans SC"/>
                <a:sym typeface="Noto Sans SC"/>
              </a:rPr>
              <a:t>Step 3: Finalize &amp; Scale</a:t>
            </a:r>
            <a:r>
              <a:rPr lang="en-US" b="false" i="false" strike="noStrike" u="none" sz="1400">
                <a:solidFill>
                  <a:srgbClr val="525252"/>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525252"/>
                </a:solidFill>
                <a:latin typeface="Noto Sans SC"/>
                <a:ea typeface="Noto Sans SC"/>
                <a:cs typeface="Noto Sans SC"/>
                <a:sym typeface="Noto Sans SC"/>
              </a:rPr>
              <a:t>Validated features are submitted. The entire process repeats for all features, creating a robust, fully automated, and self-correcting engineering pipeline.</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Roadmap to Production: A Three-Phase Rollout</a:t>
            </a:r>
            <a:endParaRPr lang="en-US" sz="1100"/>
          </a:p>
        </p:txBody>
      </p:sp>
      <p:sp>
        <p:nvSpPr>
          <p:cNvPr name="AutoShape 4" id="4"/>
          <p:cNvSpPr/>
          <p:nvPr/>
        </p:nvSpPr>
        <p:spPr>
          <a:xfrm rot="0" flipH="false" flipV="false">
            <a:off x="762000" y="2032000"/>
            <a:ext cx="3378200" cy="35560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032000"/>
            <a:ext cx="3378200" cy="762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65200" y="2362200"/>
            <a:ext cx="406400" cy="406400"/>
          </a:xfrm>
          <a:prstGeom prst="rect">
            <a:avLst/>
          </a:prstGeom>
        </p:spPr>
      </p:pic>
      <p:sp>
        <p:nvSpPr>
          <p:cNvPr name="AutoShape 7" id="7"/>
          <p:cNvSpPr/>
          <p:nvPr/>
        </p:nvSpPr>
        <p:spPr>
          <a:xfrm rot="0" flipH="false" flipV="false">
            <a:off x="1524000" y="23622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33333"/>
                </a:solidFill>
                <a:latin typeface="Noto Sans SC"/>
                <a:ea typeface="Noto Sans SC"/>
                <a:cs typeface="Noto Sans SC"/>
                <a:sym typeface="Noto Sans SC"/>
              </a:rPr>
              <a:t>Phase 1: MVP</a:t>
            </a:r>
            <a:endParaRPr lang="en-US" sz="1100"/>
          </a:p>
        </p:txBody>
      </p:sp>
      <p:cxnSp>
        <p:nvCxnSpPr>
          <p:cNvPr name="Connector 8" id="8"/>
          <p:cNvCxnSpPr/>
          <p:nvPr/>
        </p:nvCxnSpPr>
        <p:spPr>
          <a:xfrm rot="-14691" flipH="false" flipV="false">
            <a:off x="965214" y="3041650"/>
            <a:ext cx="2971800" cy="12700"/>
          </a:xfrm>
          <a:prstGeom prst="straightConnector1">
            <a:avLst/>
          </a:prstGeom>
          <a:solidFill>
            <a:srgbClr val="DEE0E3">
              <a:alpha val="100000"/>
            </a:srgbClr>
          </a:solidFill>
          <a:ln w="12700" cmpd="sng" cap="flat">
            <a:solidFill>
              <a:srgbClr val="333333">
                <a:alpha val="15000"/>
              </a:srgbClr>
            </a:solidFill>
            <a:prstDash val="dash"/>
            <a:round/>
            <a:headEnd type="none" w="med" len="med"/>
            <a:tailEnd type="none" w="med" len="med"/>
          </a:ln>
        </p:spPr>
      </p:cxnSp>
      <p:sp>
        <p:nvSpPr>
          <p:cNvPr name="AutoShape 9" id="9"/>
          <p:cNvSpPr/>
          <p:nvPr/>
        </p:nvSpPr>
        <p:spPr>
          <a:xfrm rot="0" flipH="false" flipV="false">
            <a:off x="965200" y="3302000"/>
            <a:ext cx="29718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E60012"/>
                </a:solidFill>
                <a:latin typeface="Noto Sans SC"/>
                <a:ea typeface="Noto Sans SC"/>
                <a:cs typeface="Noto Sans SC"/>
                <a:sym typeface="Noto Sans SC"/>
              </a:rPr>
              <a:t>Focus:</a:t>
            </a:r>
            <a:r>
              <a:rPr lang="en-US" b="false" i="false" strike="noStrike" u="none" sz="1300">
                <a:solidFill>
                  <a:srgbClr val="525252"/>
                </a:solidFill>
                <a:latin typeface="Noto Sans SC"/>
                <a:ea typeface="Noto Sans SC"/>
                <a:cs typeface="Noto Sans SC"/>
                <a:sym typeface="Noto Sans SC"/>
              </a:rPr>
              <a:t>Solve a core business pain point to validate the basic feasibility of the Harness architecture.</a:t>
            </a:r>
            <a:endParaRPr lang="en-US" sz="1100"/>
          </a:p>
        </p:txBody>
      </p:sp>
      <p:cxnSp>
        <p:nvCxnSpPr>
          <p:cNvPr name="Connector 10" id="10"/>
          <p:cNvCxnSpPr/>
          <p:nvPr/>
        </p:nvCxnSpPr>
        <p:spPr>
          <a:xfrm rot="-14691" flipH="false" flipV="false">
            <a:off x="965214" y="4565650"/>
            <a:ext cx="2971800" cy="12700"/>
          </a:xfrm>
          <a:prstGeom prst="straightConnector1">
            <a:avLst/>
          </a:prstGeom>
          <a:solidFill>
            <a:srgbClr val="DEE0E3">
              <a:alpha val="100000"/>
            </a:srgbClr>
          </a:solidFill>
          <a:ln w="12700" cmpd="sng" cap="flat">
            <a:solidFill>
              <a:srgbClr val="333333">
                <a:alpha val="15000"/>
              </a:srgbClr>
            </a:solidFill>
            <a:prstDash val="solid"/>
            <a:round/>
            <a:headEnd type="none" w="med" len="med"/>
            <a:tailEnd type="none" w="med" len="med"/>
          </a:ln>
        </p:spPr>
      </p:cxnSp>
      <p:sp>
        <p:nvSpPr>
          <p:cNvPr name="AutoShape 11" id="11"/>
          <p:cNvSpPr/>
          <p:nvPr/>
        </p:nvSpPr>
        <p:spPr>
          <a:xfrm rot="0" flipH="false" flipV="false">
            <a:off x="965200" y="46990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Goal:</a:t>
            </a:r>
            <a:r>
              <a:rPr lang="en-US" b="false" i="false" strike="noStrike" u="none" sz="1300">
                <a:solidFill>
                  <a:srgbClr val="525252"/>
                </a:solidFill>
                <a:latin typeface="Noto Sans SC"/>
                <a:ea typeface="Noto Sans SC"/>
                <a:cs typeface="Noto Sans SC"/>
                <a:sym typeface="Noto Sans SC"/>
              </a:rPr>
              <a:t>Launch quickly to gather real-world feedback and confirm market fit.</a:t>
            </a:r>
            <a:endParaRPr lang="en-US" sz="1100"/>
          </a:p>
        </p:txBody>
      </p:sp>
      <p:sp>
        <p:nvSpPr>
          <p:cNvPr name="AutoShape 12" id="12"/>
          <p:cNvSpPr/>
          <p:nvPr/>
        </p:nvSpPr>
        <p:spPr>
          <a:xfrm rot="0" flipH="false" flipV="false">
            <a:off x="4406900" y="2032000"/>
            <a:ext cx="3378200" cy="35560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4406900" y="2032000"/>
            <a:ext cx="3378200" cy="762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10100" y="2362200"/>
            <a:ext cx="406400" cy="406400"/>
          </a:xfrm>
          <a:prstGeom prst="rect">
            <a:avLst/>
          </a:prstGeom>
        </p:spPr>
      </p:pic>
      <p:sp>
        <p:nvSpPr>
          <p:cNvPr name="AutoShape 15" id="15"/>
          <p:cNvSpPr/>
          <p:nvPr/>
        </p:nvSpPr>
        <p:spPr>
          <a:xfrm rot="0" flipH="false" flipV="false">
            <a:off x="5168900" y="23622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33333"/>
                </a:solidFill>
                <a:latin typeface="Noto Sans SC"/>
                <a:ea typeface="Noto Sans SC"/>
                <a:cs typeface="Noto Sans SC"/>
                <a:sym typeface="Noto Sans SC"/>
              </a:rPr>
              <a:t>Phase 2: Hardening</a:t>
            </a:r>
            <a:endParaRPr lang="en-US" sz="1100"/>
          </a:p>
        </p:txBody>
      </p:sp>
      <p:cxnSp>
        <p:nvCxnSpPr>
          <p:cNvPr name="Connector 16" id="16"/>
          <p:cNvCxnSpPr/>
          <p:nvPr/>
        </p:nvCxnSpPr>
        <p:spPr>
          <a:xfrm rot="-14691" flipH="false" flipV="false">
            <a:off x="4610114" y="3041650"/>
            <a:ext cx="2971800" cy="12700"/>
          </a:xfrm>
          <a:prstGeom prst="straightConnector1">
            <a:avLst/>
          </a:prstGeom>
          <a:solidFill>
            <a:srgbClr val="DEE0E3">
              <a:alpha val="100000"/>
            </a:srgbClr>
          </a:solidFill>
          <a:ln w="12700" cmpd="sng" cap="flat">
            <a:solidFill>
              <a:srgbClr val="333333">
                <a:alpha val="15000"/>
              </a:srgbClr>
            </a:solidFill>
            <a:prstDash val="dash"/>
            <a:round/>
            <a:headEnd type="none" w="med" len="med"/>
            <a:tailEnd type="none" w="med" len="med"/>
          </a:ln>
        </p:spPr>
      </p:cxnSp>
      <p:sp>
        <p:nvSpPr>
          <p:cNvPr name="AutoShape 17" id="17"/>
          <p:cNvSpPr/>
          <p:nvPr/>
        </p:nvSpPr>
        <p:spPr>
          <a:xfrm rot="0" flipH="false" flipV="false">
            <a:off x="4610100" y="3302000"/>
            <a:ext cx="29718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E60012"/>
                </a:solidFill>
                <a:latin typeface="Noto Sans SC"/>
                <a:ea typeface="Noto Sans SC"/>
                <a:cs typeface="Noto Sans SC"/>
                <a:sym typeface="Noto Sans SC"/>
              </a:rPr>
              <a:t>Focus:</a:t>
            </a:r>
            <a:r>
              <a:rPr lang="en-US" b="false" i="false" strike="noStrike" u="none" sz="1300">
                <a:solidFill>
                  <a:srgbClr val="525252"/>
                </a:solidFill>
                <a:latin typeface="Noto Sans SC"/>
                <a:ea typeface="Noto Sans SC"/>
                <a:cs typeface="Noto Sans SC"/>
                <a:sym typeface="Noto Sans SC"/>
              </a:rPr>
              <a:t>Strengthen the system's reliability, security, and observability based on insights from the MVP phase.</a:t>
            </a:r>
            <a:endParaRPr lang="en-US" sz="1100"/>
          </a:p>
        </p:txBody>
      </p:sp>
      <p:cxnSp>
        <p:nvCxnSpPr>
          <p:cNvPr name="Connector 18" id="18"/>
          <p:cNvCxnSpPr/>
          <p:nvPr/>
        </p:nvCxnSpPr>
        <p:spPr>
          <a:xfrm rot="-14691" flipH="false" flipV="false">
            <a:off x="4610114" y="4565650"/>
            <a:ext cx="2971800" cy="12700"/>
          </a:xfrm>
          <a:prstGeom prst="straightConnector1">
            <a:avLst/>
          </a:prstGeom>
          <a:solidFill>
            <a:srgbClr val="DEE0E3">
              <a:alpha val="100000"/>
            </a:srgbClr>
          </a:solidFill>
          <a:ln w="12700" cmpd="sng" cap="flat">
            <a:solidFill>
              <a:srgbClr val="333333">
                <a:alpha val="15000"/>
              </a:srgbClr>
            </a:solidFill>
            <a:prstDash val="solid"/>
            <a:round/>
            <a:headEnd type="none" w="med" len="med"/>
            <a:tailEnd type="none" w="med" len="med"/>
          </a:ln>
        </p:spPr>
      </p:cxnSp>
      <p:sp>
        <p:nvSpPr>
          <p:cNvPr name="AutoShape 19" id="19"/>
          <p:cNvSpPr/>
          <p:nvPr/>
        </p:nvSpPr>
        <p:spPr>
          <a:xfrm rot="0" flipH="false" flipV="false">
            <a:off x="4610100" y="46990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Goal:</a:t>
            </a:r>
            <a:r>
              <a:rPr lang="en-US" b="false" i="false" strike="noStrike" u="none" sz="1300">
                <a:solidFill>
                  <a:srgbClr val="525252"/>
                </a:solidFill>
                <a:latin typeface="Noto Sans SC"/>
                <a:ea typeface="Noto Sans SC"/>
                <a:cs typeface="Noto Sans SC"/>
                <a:sym typeface="Noto Sans SC"/>
              </a:rPr>
              <a:t>Implement rigorous evaluation and testing processes to fix issues and ensure system stability.</a:t>
            </a:r>
            <a:endParaRPr lang="en-US" sz="1100"/>
          </a:p>
        </p:txBody>
      </p:sp>
      <p:sp>
        <p:nvSpPr>
          <p:cNvPr name="AutoShape 20" id="20"/>
          <p:cNvSpPr/>
          <p:nvPr/>
        </p:nvSpPr>
        <p:spPr>
          <a:xfrm rot="0" flipH="false" flipV="false">
            <a:off x="8051800" y="2032000"/>
            <a:ext cx="3378200" cy="35560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8051800" y="2032000"/>
            <a:ext cx="3378200" cy="762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255000" y="2362200"/>
            <a:ext cx="406400" cy="406400"/>
          </a:xfrm>
          <a:prstGeom prst="rect">
            <a:avLst/>
          </a:prstGeom>
        </p:spPr>
      </p:pic>
      <p:sp>
        <p:nvSpPr>
          <p:cNvPr name="AutoShape 23" id="23"/>
          <p:cNvSpPr/>
          <p:nvPr/>
        </p:nvSpPr>
        <p:spPr>
          <a:xfrm rot="0" flipH="false" flipV="false">
            <a:off x="8813800" y="23622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33333"/>
                </a:solidFill>
                <a:latin typeface="Noto Sans SC"/>
                <a:ea typeface="Noto Sans SC"/>
                <a:cs typeface="Noto Sans SC"/>
                <a:sym typeface="Noto Sans SC"/>
              </a:rPr>
              <a:t>Phase 3: Scale</a:t>
            </a:r>
            <a:endParaRPr lang="en-US" sz="1100"/>
          </a:p>
        </p:txBody>
      </p:sp>
      <p:cxnSp>
        <p:nvCxnSpPr>
          <p:cNvPr name="Connector 24" id="24"/>
          <p:cNvCxnSpPr/>
          <p:nvPr/>
        </p:nvCxnSpPr>
        <p:spPr>
          <a:xfrm rot="-14691" flipH="false" flipV="false">
            <a:off x="8255014" y="3041650"/>
            <a:ext cx="2971800" cy="12700"/>
          </a:xfrm>
          <a:prstGeom prst="straightConnector1">
            <a:avLst/>
          </a:prstGeom>
          <a:solidFill>
            <a:srgbClr val="DEE0E3">
              <a:alpha val="100000"/>
            </a:srgbClr>
          </a:solidFill>
          <a:ln w="12700" cmpd="sng" cap="flat">
            <a:solidFill>
              <a:srgbClr val="333333">
                <a:alpha val="15000"/>
              </a:srgbClr>
            </a:solidFill>
            <a:prstDash val="dash"/>
            <a:round/>
            <a:headEnd type="none" w="med" len="med"/>
            <a:tailEnd type="none" w="med" len="med"/>
          </a:ln>
        </p:spPr>
      </p:cxnSp>
      <p:sp>
        <p:nvSpPr>
          <p:cNvPr name="AutoShape 25" id="25"/>
          <p:cNvSpPr/>
          <p:nvPr/>
        </p:nvSpPr>
        <p:spPr>
          <a:xfrm rot="0" flipH="false" flipV="false">
            <a:off x="8255000" y="3302000"/>
            <a:ext cx="29718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E60012"/>
                </a:solidFill>
                <a:latin typeface="Noto Sans SC"/>
                <a:ea typeface="Noto Sans SC"/>
                <a:cs typeface="Noto Sans SC"/>
                <a:sym typeface="Noto Sans SC"/>
              </a:rPr>
              <a:t>Focus:</a:t>
            </a:r>
            <a:r>
              <a:rPr lang="en-US" b="false" i="false" strike="noStrike" u="none" sz="1300">
                <a:solidFill>
                  <a:srgbClr val="525252"/>
                </a:solidFill>
                <a:latin typeface="Noto Sans SC"/>
                <a:ea typeface="Noto Sans SC"/>
                <a:cs typeface="Noto Sans SC"/>
                <a:sym typeface="Noto Sans SC"/>
              </a:rPr>
              <a:t>Promote the Harness architecture to more business scenarios, enabling large-scale deployment and efficient agent collaboration.</a:t>
            </a:r>
            <a:endParaRPr lang="en-US" sz="1100"/>
          </a:p>
        </p:txBody>
      </p:sp>
      <p:cxnSp>
        <p:nvCxnSpPr>
          <p:cNvPr name="Connector 26" id="26"/>
          <p:cNvCxnSpPr/>
          <p:nvPr/>
        </p:nvCxnSpPr>
        <p:spPr>
          <a:xfrm rot="-14691" flipH="false" flipV="false">
            <a:off x="8255014" y="4565650"/>
            <a:ext cx="2971800" cy="12700"/>
          </a:xfrm>
          <a:prstGeom prst="straightConnector1">
            <a:avLst/>
          </a:prstGeom>
          <a:solidFill>
            <a:srgbClr val="DEE0E3">
              <a:alpha val="100000"/>
            </a:srgbClr>
          </a:solidFill>
          <a:ln w="12700" cmpd="sng" cap="flat">
            <a:solidFill>
              <a:srgbClr val="333333">
                <a:alpha val="15000"/>
              </a:srgbClr>
            </a:solidFill>
            <a:prstDash val="solid"/>
            <a:round/>
            <a:headEnd type="none" w="med" len="med"/>
            <a:tailEnd type="none" w="med" len="med"/>
          </a:ln>
        </p:spPr>
      </p:cxnSp>
      <p:sp>
        <p:nvSpPr>
          <p:cNvPr name="AutoShape 27" id="27"/>
          <p:cNvSpPr/>
          <p:nvPr/>
        </p:nvSpPr>
        <p:spPr>
          <a:xfrm rot="0" flipH="false" flipV="false">
            <a:off x="8255000" y="46990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Goal:</a:t>
            </a:r>
            <a:r>
              <a:rPr lang="en-US" b="false" i="false" strike="noStrike" u="none" sz="1300">
                <a:solidFill>
                  <a:srgbClr val="525252"/>
                </a:solidFill>
                <a:latin typeface="Noto Sans SC"/>
                <a:ea typeface="Noto Sans SC"/>
                <a:cs typeface="Noto Sans SC"/>
                <a:sym typeface="Noto Sans SC"/>
              </a:rPr>
              <a:t>Achieve full automation, standardization across teams, and optimal cost management at scale.</a:t>
            </a:r>
            <a:endParaRPr lang="en-US" sz="1100"/>
          </a:p>
        </p:txBody>
      </p:sp>
      <p:sp>
        <p:nvSpPr>
          <p:cNvPr name="AutoShape 28" id="28"/>
          <p:cNvSpPr/>
          <p:nvPr/>
        </p:nvSpPr>
        <p:spPr>
          <a:xfrm rot="0" flipH="false" flipV="false">
            <a:off x="762000" y="5842000"/>
            <a:ext cx="10668000" cy="6350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889000" y="5930900"/>
            <a:ext cx="10414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333333"/>
                </a:solidFill>
                <a:latin typeface="Noto Sans SC"/>
                <a:ea typeface="Noto Sans SC"/>
                <a:cs typeface="Noto Sans SC"/>
                <a:sym typeface="Noto Sans SC"/>
              </a:rPr>
              <a:t>This phased approach ensures a smooth, controlled rollout—mitigating risks while iterating based on real user data and system performance.</a:t>
            </a:r>
            <a:endParaRPr lang="en-US" sz="1100"/>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Conclusion: The Future is Harness</a:t>
            </a:r>
            <a:endParaRPr lang="en-US" sz="1100"/>
          </a:p>
        </p:txBody>
      </p:sp>
      <p:sp>
        <p:nvSpPr>
          <p:cNvPr name="AutoShape 4" id="4"/>
          <p:cNvSpPr/>
          <p:nvPr/>
        </p:nvSpPr>
        <p:spPr>
          <a:xfrm rot="0" flipH="false" flipV="false">
            <a:off x="762000" y="1651000"/>
            <a:ext cx="10668000" cy="13970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76200" cy="13970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778000"/>
            <a:ext cx="10160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600">
                <a:solidFill>
                  <a:srgbClr val="333333"/>
                </a:solidFill>
                <a:latin typeface="Noto Sans SC"/>
                <a:ea typeface="Noto Sans SC"/>
                <a:cs typeface="Noto Sans SC"/>
                <a:sym typeface="Noto Sans SC"/>
              </a:rPr>
              <a:t>The future competition of AI Agent systems will not be just about the intelligence of individual agents, but about the</a:t>
            </a:r>
            <a:r>
              <a:rPr lang="en-US" b="true" i="false" strike="noStrike" u="none" sz="1600">
                <a:solidFill>
                  <a:srgbClr val="E60012"/>
                </a:solidFill>
                <a:latin typeface="Noto Sans SC"/>
                <a:ea typeface="Noto Sans SC"/>
                <a:cs typeface="Noto Sans SC"/>
                <a:sym typeface="Noto Sans SC"/>
              </a:rPr>
              <a:t>competition of Harnesses</a:t>
            </a:r>
            <a:r>
              <a:rPr lang="en-US" b="false" i="false" strike="noStrike" u="none" sz="1600">
                <a:solidFill>
                  <a:srgbClr val="333333"/>
                </a:solidFill>
                <a:latin typeface="Noto Sans SC"/>
                <a:ea typeface="Noto Sans SC"/>
                <a:cs typeface="Noto Sans SC"/>
                <a:sym typeface="Noto Sans SC"/>
              </a:rPr>
              <a:t>. A powerful, efficient, and reliable Harness will be the key moat for enterprises in the AI era, transforming demos into scalable, production-ready solutions.</a:t>
            </a:r>
            <a:endParaRPr lang="en-US" sz="1100"/>
          </a:p>
        </p:txBody>
      </p:sp>
      <p:sp>
        <p:nvSpPr>
          <p:cNvPr name="AutoShape 7" id="7"/>
          <p:cNvSpPr/>
          <p:nvPr/>
        </p:nvSpPr>
        <p:spPr>
          <a:xfrm rot="0" flipH="false" flipV="false">
            <a:off x="762000" y="3429000"/>
            <a:ext cx="5270500" cy="571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762000" y="3429000"/>
            <a:ext cx="50800" cy="571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914400" y="3429000"/>
            <a:ext cx="5016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E60012"/>
                </a:solidFill>
                <a:latin typeface="Noto Sans SC"/>
                <a:ea typeface="Noto Sans SC"/>
                <a:cs typeface="Noto Sans SC"/>
                <a:sym typeface="Noto Sans SC"/>
              </a:rPr>
              <a:t>01. Core Business Problem:</a:t>
            </a:r>
            <a:r>
              <a:rPr lang="en-US" b="false" i="false" strike="noStrike" u="none" sz="1300">
                <a:solidFill>
                  <a:srgbClr val="555555"/>
                </a:solidFill>
                <a:latin typeface="Noto Sans SC"/>
                <a:ea typeface="Noto Sans SC"/>
                <a:cs typeface="Noto Sans SC"/>
                <a:sym typeface="Noto Sans SC"/>
              </a:rPr>
              <a:t>What specific, high-impact business challenge are we solving with the Harness?</a:t>
            </a:r>
            <a:endParaRPr lang="en-US" sz="1100"/>
          </a:p>
        </p:txBody>
      </p:sp>
      <p:sp>
        <p:nvSpPr>
          <p:cNvPr name="AutoShape 10" id="10"/>
          <p:cNvSpPr/>
          <p:nvPr/>
        </p:nvSpPr>
        <p:spPr>
          <a:xfrm rot="0" flipH="false" flipV="false">
            <a:off x="762000" y="4191000"/>
            <a:ext cx="5270500" cy="571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762000" y="4191000"/>
            <a:ext cx="50800" cy="571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914400" y="4191000"/>
            <a:ext cx="5016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E60012"/>
                </a:solidFill>
                <a:latin typeface="Noto Sans SC"/>
                <a:ea typeface="Noto Sans SC"/>
                <a:cs typeface="Noto Sans SC"/>
                <a:sym typeface="Noto Sans SC"/>
              </a:rPr>
              <a:t>02. Success Metrics:</a:t>
            </a:r>
            <a:r>
              <a:rPr lang="en-US" b="false" i="false" strike="noStrike" u="none" sz="1300">
                <a:solidFill>
                  <a:srgbClr val="555555"/>
                </a:solidFill>
                <a:latin typeface="Noto Sans SC"/>
                <a:ea typeface="Noto Sans SC"/>
                <a:cs typeface="Noto Sans SC"/>
                <a:sym typeface="Noto Sans SC"/>
              </a:rPr>
              <a:t>Which measurable KPIs (e.g., efficiency, revenue) will define the Harness's success?</a:t>
            </a:r>
            <a:endParaRPr lang="en-US" sz="1100"/>
          </a:p>
        </p:txBody>
      </p:sp>
      <p:sp>
        <p:nvSpPr>
          <p:cNvPr name="AutoShape 13" id="13"/>
          <p:cNvSpPr/>
          <p:nvPr/>
        </p:nvSpPr>
        <p:spPr>
          <a:xfrm rot="0" flipH="false" flipV="false">
            <a:off x="762000" y="4953000"/>
            <a:ext cx="5270500" cy="571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762000" y="4953000"/>
            <a:ext cx="50800" cy="571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914400" y="4953000"/>
            <a:ext cx="5016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E60012"/>
                </a:solidFill>
                <a:latin typeface="Noto Sans SC"/>
                <a:ea typeface="Noto Sans SC"/>
                <a:cs typeface="Noto Sans SC"/>
                <a:sym typeface="Noto Sans SC"/>
              </a:rPr>
              <a:t>03. Agent Roles &amp; Collaboration:</a:t>
            </a:r>
            <a:r>
              <a:rPr lang="en-US" b="false" i="false" strike="noStrike" u="none" sz="1300">
                <a:solidFill>
                  <a:srgbClr val="555555"/>
                </a:solidFill>
                <a:latin typeface="Noto Sans SC"/>
                <a:ea typeface="Noto Sans SC"/>
                <a:cs typeface="Noto Sans SC"/>
                <a:sym typeface="Noto Sans SC"/>
              </a:rPr>
              <a:t>What specialized agent roles are needed, and how will they coordinate tasks and share context?</a:t>
            </a:r>
            <a:endParaRPr lang="en-US" sz="1100"/>
          </a:p>
        </p:txBody>
      </p:sp>
      <p:cxnSp>
        <p:nvCxnSpPr>
          <p:cNvPr name="Connector 16" id="16"/>
          <p:cNvCxnSpPr/>
          <p:nvPr/>
        </p:nvCxnSpPr>
        <p:spPr>
          <a:xfrm rot="5384010" flipH="false" flipV="false">
            <a:off x="4921250" y="4787915"/>
            <a:ext cx="2730500" cy="12700"/>
          </a:xfrm>
          <a:prstGeom prst="straightConnector1">
            <a:avLst/>
          </a:prstGeom>
          <a:solidFill>
            <a:srgbClr val="DEE0E3">
              <a:alpha val="100000"/>
            </a:srgbClr>
          </a:solidFill>
          <a:ln w="12700" cmpd="sng" cap="flat">
            <a:solidFill>
              <a:srgbClr val="E60012">
                <a:alpha val="20000"/>
              </a:srgbClr>
            </a:solidFill>
            <a:prstDash val="dash"/>
            <a:round/>
            <a:headEnd type="none" w="med" len="med"/>
            <a:tailEnd type="none" w="med" len="med"/>
          </a:ln>
        </p:spPr>
      </p:cxnSp>
      <p:sp>
        <p:nvSpPr>
          <p:cNvPr name="AutoShape 17" id="17"/>
          <p:cNvSpPr/>
          <p:nvPr/>
        </p:nvSpPr>
        <p:spPr>
          <a:xfrm rot="0" flipH="false" flipV="false">
            <a:off x="6540500" y="3429000"/>
            <a:ext cx="5270500" cy="571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540500" y="3429000"/>
            <a:ext cx="50800" cy="571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692900" y="3429000"/>
            <a:ext cx="5016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E60012"/>
                </a:solidFill>
                <a:latin typeface="Noto Sans SC"/>
                <a:ea typeface="Noto Sans SC"/>
                <a:cs typeface="Noto Sans SC"/>
                <a:sym typeface="Noto Sans SC"/>
              </a:rPr>
              <a:t>04. Tool Integration:</a:t>
            </a:r>
            <a:r>
              <a:rPr lang="en-US" b="false" i="false" strike="noStrike" u="none" sz="1300">
                <a:solidFill>
                  <a:srgbClr val="555555"/>
                </a:solidFill>
                <a:latin typeface="Noto Sans SC"/>
                <a:ea typeface="Noto Sans SC"/>
                <a:cs typeface="Noto Sans SC"/>
                <a:sym typeface="Noto Sans SC"/>
              </a:rPr>
              <a:t>Which critical internal/external tools (APIs, software) must agents seamlessly call and execute?</a:t>
            </a:r>
            <a:endParaRPr lang="en-US" sz="1100"/>
          </a:p>
        </p:txBody>
      </p:sp>
      <p:sp>
        <p:nvSpPr>
          <p:cNvPr name="AutoShape 20" id="20"/>
          <p:cNvSpPr/>
          <p:nvPr/>
        </p:nvSpPr>
        <p:spPr>
          <a:xfrm rot="0" flipH="false" flipV="false">
            <a:off x="6540500" y="4191000"/>
            <a:ext cx="5270500" cy="571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540500" y="4191000"/>
            <a:ext cx="50800" cy="571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6692900" y="4191000"/>
            <a:ext cx="5016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E60012"/>
                </a:solidFill>
                <a:latin typeface="Noto Sans SC"/>
                <a:ea typeface="Noto Sans SC"/>
                <a:cs typeface="Noto Sans SC"/>
                <a:sym typeface="Noto Sans SC"/>
              </a:rPr>
              <a:t>05. Tool Lifecycle:</a:t>
            </a:r>
            <a:r>
              <a:rPr lang="en-US" b="false" i="false" strike="noStrike" u="none" sz="1300">
                <a:solidFill>
                  <a:srgbClr val="555555"/>
                </a:solidFill>
                <a:latin typeface="Noto Sans SC"/>
                <a:ea typeface="Noto Sans SC"/>
                <a:cs typeface="Noto Sans SC"/>
                <a:sym typeface="Noto Sans SC"/>
              </a:rPr>
              <a:t>How will we onboard, update, and retire tools to maintain system reliability and avoid obsolescence?</a:t>
            </a:r>
            <a:endParaRPr lang="en-US" sz="1100"/>
          </a:p>
        </p:txBody>
      </p:sp>
      <p:sp>
        <p:nvSpPr>
          <p:cNvPr name="AutoShape 23" id="23"/>
          <p:cNvSpPr/>
          <p:nvPr/>
        </p:nvSpPr>
        <p:spPr>
          <a:xfrm rot="0" flipH="false" flipV="false">
            <a:off x="6540500" y="4953000"/>
            <a:ext cx="5270500" cy="571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540500" y="4953000"/>
            <a:ext cx="50800" cy="571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6692900" y="4953000"/>
            <a:ext cx="5016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E60012"/>
                </a:solidFill>
                <a:latin typeface="Noto Sans SC"/>
                <a:ea typeface="Noto Sans SC"/>
                <a:cs typeface="Noto Sans SC"/>
                <a:sym typeface="Noto Sans SC"/>
              </a:rPr>
              <a:t>06. Memory Strategy:</a:t>
            </a:r>
            <a:r>
              <a:rPr lang="en-US" b="false" i="false" strike="noStrike" u="none" sz="1300">
                <a:solidFill>
                  <a:srgbClr val="555555"/>
                </a:solidFill>
                <a:latin typeface="Noto Sans SC"/>
                <a:ea typeface="Noto Sans SC"/>
                <a:cs typeface="Noto Sans SC"/>
                <a:sym typeface="Noto Sans SC"/>
              </a:rPr>
              <a:t>What long-term memory is required, and how will it be stored, retrieved, and pruned for relevance?</a:t>
            </a:r>
            <a:endParaRPr lang="en-US" sz="1100"/>
          </a:p>
        </p:txBody>
      </p:sp>
      <p:sp>
        <p:nvSpPr>
          <p:cNvPr name="AutoShape 26" id="26"/>
          <p:cNvSpPr/>
          <p:nvPr/>
        </p:nvSpPr>
        <p:spPr>
          <a:xfrm rot="0" flipH="false" flipV="false">
            <a:off x="762000" y="5842000"/>
            <a:ext cx="10668000" cy="635000"/>
          </a:xfrm>
          <a:prstGeom prst="roundRect">
            <a:avLst>
              <a:gd name="adj" fmla="val 0"/>
            </a:avLst>
          </a:prstGeom>
          <a:solidFill>
            <a:srgbClr val="E60012">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7" id="2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5943600"/>
            <a:ext cx="304800" cy="304800"/>
          </a:xfrm>
          <a:prstGeom prst="rect">
            <a:avLst/>
          </a:prstGeom>
        </p:spPr>
      </p:pic>
      <p:sp>
        <p:nvSpPr>
          <p:cNvPr name="AutoShape 28" id="28"/>
          <p:cNvSpPr/>
          <p:nvPr/>
        </p:nvSpPr>
        <p:spPr>
          <a:xfrm rot="0" flipH="false" flipV="false">
            <a:off x="1397000" y="5842000"/>
            <a:ext cx="990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Critical Considerations:</a:t>
            </a:r>
            <a:r>
              <a:rPr lang="en-US" b="false" i="false" strike="noStrike" u="none" sz="1300">
                <a:solidFill>
                  <a:srgbClr val="555555"/>
                </a:solidFill>
                <a:latin typeface="Noto Sans SC"/>
                <a:ea typeface="Noto Sans SC"/>
                <a:cs typeface="Noto Sans SC"/>
                <a:sym typeface="Noto Sans SC"/>
              </a:rPr>
              <a:t>Ensure security/compliance, monitor performance/cost, define MVP scope, and assess team skill readiness to build and maintain the Harness.</a:t>
            </a:r>
            <a:endParaRPr lang="en-US" sz="1100"/>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444500"/>
            <a:ext cx="11176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200">
                <a:solidFill>
                  <a:srgbClr val="333333"/>
                </a:solidFill>
                <a:latin typeface="Noto Sans SC"/>
                <a:ea typeface="Noto Sans SC"/>
                <a:cs typeface="Noto Sans SC"/>
                <a:sym typeface="Noto Sans SC"/>
              </a:rPr>
              <a:t>Production-Grade AI Agent System Architecture</a:t>
            </a:r>
            <a:endParaRPr lang="en-US" sz="1100"/>
          </a:p>
        </p:txBody>
      </p:sp>
      <p:pic>
        <p:nvPicPr>
          <p:cNvPr name="Picture 4" id="4"/>
          <p:cNvPicPr>
            <a:picLocks noChangeAspect="true"/>
          </p:cNvPicPr>
          <p:nvPr/>
        </p:nvPicPr>
        <p:blipFill>
          <a:blip r:embed="rId3"/>
          <a:srcRect l="13945" r="13945" t="0" b="0"/>
          <a:stretch>
            <a:fillRect/>
          </a:stretch>
        </p:blipFill>
        <p:spPr>
          <a:xfrm rot="0" flipH="false" flipV="false">
            <a:off x="762000" y="1460500"/>
            <a:ext cx="5080000" cy="4826000"/>
          </a:xfrm>
          <a:prstGeom prst="rect">
            <a:avLst/>
          </a:prstGeom>
          <a:noFill/>
          <a:ln w="25400" cmpd="sng" cap="flat">
            <a:noFill/>
            <a:prstDash val="solid"/>
            <a:round/>
          </a:ln>
        </p:spPr>
      </p:pic>
      <p:sp>
        <p:nvSpPr>
          <p:cNvPr name="AutoShape 5" id="5"/>
          <p:cNvSpPr/>
          <p:nvPr/>
        </p:nvSpPr>
        <p:spPr>
          <a:xfrm rot="0" flipH="false" flipV="false">
            <a:off x="6350000" y="1524000"/>
            <a:ext cx="50800" cy="889000"/>
          </a:xfrm>
          <a:prstGeom prst="roundRect">
            <a:avLst>
              <a:gd name="adj" fmla="val 0"/>
            </a:avLst>
          </a:prstGeom>
          <a:solidFill>
            <a:srgbClr val="E60012">
              <a:alpha val="10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6" id="6"/>
          <p:cNvSpPr/>
          <p:nvPr/>
        </p:nvSpPr>
        <p:spPr>
          <a:xfrm rot="0" flipH="false" flipV="false">
            <a:off x="6604000" y="1460500"/>
            <a:ext cx="482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Access Layer: Unified Interaction Entry</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100">
                <a:solidFill>
                  <a:srgbClr val="555555"/>
                </a:solidFill>
                <a:latin typeface="Noto Sans SC"/>
                <a:ea typeface="Noto Sans SC"/>
                <a:cs typeface="Noto Sans SC"/>
                <a:sym typeface="Noto Sans SC"/>
              </a:rPr>
              <a:t>Standardized entry point for all user interactions, responsible for request parsing, authentication, and dispatching to the appropriate agent core.</a:t>
            </a:r>
          </a:p>
        </p:txBody>
      </p:sp>
      <p:sp>
        <p:nvSpPr>
          <p:cNvPr name="AutoShape 7" id="7"/>
          <p:cNvSpPr/>
          <p:nvPr/>
        </p:nvSpPr>
        <p:spPr>
          <a:xfrm rot="0" flipH="false" flipV="false">
            <a:off x="6350000" y="2794000"/>
            <a:ext cx="50800" cy="889000"/>
          </a:xfrm>
          <a:prstGeom prst="roundRect">
            <a:avLst>
              <a:gd name="adj" fmla="val 0"/>
            </a:avLst>
          </a:prstGeom>
          <a:solidFill>
            <a:srgbClr val="E60012">
              <a:alpha val="10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8" id="8"/>
          <p:cNvSpPr/>
          <p:nvPr/>
        </p:nvSpPr>
        <p:spPr>
          <a:xfrm rot="0" flipH="false" flipV="false">
            <a:off x="6604000" y="2730500"/>
            <a:ext cx="482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Agent Core Layer: Intelligent Logic Hub</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100">
                <a:solidFill>
                  <a:srgbClr val="555555"/>
                </a:solidFill>
                <a:latin typeface="Noto Sans SC"/>
                <a:ea typeface="Noto Sans SC"/>
                <a:cs typeface="Noto Sans SC"/>
                <a:sym typeface="Noto Sans SC"/>
              </a:rPr>
              <a:t>Hosts the core logic of various agents, including their specialized skills, reasoning capabilities, and collaboration protocols.</a:t>
            </a:r>
          </a:p>
        </p:txBody>
      </p:sp>
      <p:sp>
        <p:nvSpPr>
          <p:cNvPr name="AutoShape 9" id="9"/>
          <p:cNvSpPr/>
          <p:nvPr/>
        </p:nvSpPr>
        <p:spPr>
          <a:xfrm rot="0" flipH="false" flipV="false">
            <a:off x="6350000" y="4064000"/>
            <a:ext cx="50800" cy="889000"/>
          </a:xfrm>
          <a:prstGeom prst="roundRect">
            <a:avLst>
              <a:gd name="adj" fmla="val 0"/>
            </a:avLst>
          </a:prstGeom>
          <a:solidFill>
            <a:srgbClr val="E60012">
              <a:alpha val="10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10" id="10"/>
          <p:cNvSpPr/>
          <p:nvPr/>
        </p:nvSpPr>
        <p:spPr>
          <a:xfrm rot="0" flipH="false" flipV="false">
            <a:off x="6604000" y="4000500"/>
            <a:ext cx="482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Collaboration Layer: Multi-Agent Collaborative Scheduling</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100">
                <a:solidFill>
                  <a:srgbClr val="555555"/>
                </a:solidFill>
                <a:latin typeface="Noto Sans SC"/>
                <a:ea typeface="Noto Sans SC"/>
                <a:cs typeface="Noto Sans SC"/>
                <a:sym typeface="Noto Sans SC"/>
              </a:rPr>
              <a:t>Manages the complex interactions and task allocation between different agents, ensuring efficient and correct collaboration.</a:t>
            </a:r>
          </a:p>
        </p:txBody>
      </p:sp>
      <p:sp>
        <p:nvSpPr>
          <p:cNvPr name="AutoShape 11" id="11"/>
          <p:cNvSpPr/>
          <p:nvPr/>
        </p:nvSpPr>
        <p:spPr>
          <a:xfrm rot="0" flipH="false" flipV="false">
            <a:off x="6604000" y="5270500"/>
            <a:ext cx="2349500" cy="1270000"/>
          </a:xfrm>
          <a:prstGeom prst="roundRect">
            <a:avLst>
              <a:gd name="adj" fmla="val 0"/>
            </a:avLst>
          </a:prstGeom>
          <a:solidFill>
            <a:srgbClr val="E60012">
              <a:alpha val="8000"/>
            </a:srgbClr>
          </a:solidFill>
          <a:ln w="25400" cmpd="sng" cap="flat">
            <a:noFill/>
            <a:prstDash val="solid"/>
            <a:round/>
          </a:ln>
        </p:spPr>
        <p:txBody>
          <a:bodyPr anchor="ctr" rtlCol="false" vert="horz"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731000" y="5397500"/>
            <a:ext cx="254000" cy="254000"/>
          </a:xfrm>
          <a:prstGeom prst="rect">
            <a:avLst/>
          </a:prstGeom>
        </p:spPr>
      </p:pic>
      <p:sp>
        <p:nvSpPr>
          <p:cNvPr name="AutoShape 13" id="13"/>
          <p:cNvSpPr/>
          <p:nvPr/>
        </p:nvSpPr>
        <p:spPr>
          <a:xfrm rot="0" flipH="false" flipV="false">
            <a:off x="7048500" y="5397500"/>
            <a:ext cx="1841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333333"/>
                </a:solidFill>
                <a:latin typeface="Noto Sans SC"/>
                <a:ea typeface="Noto Sans SC"/>
                <a:cs typeface="Noto Sans SC"/>
                <a:sym typeface="Noto Sans SC"/>
              </a:rPr>
              <a:t>Tool &amp; Data Layer</a:t>
            </a:r>
            <a:r>
              <a:rPr lang="en-US" b="false" i="false" strike="noStrike" u="none" sz="10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000">
                <a:solidFill>
                  <a:srgbClr val="555555"/>
                </a:solidFill>
                <a:latin typeface="Noto Sans SC"/>
                <a:ea typeface="Noto Sans SC"/>
                <a:cs typeface="Noto Sans SC"/>
                <a:sym typeface="Noto Sans SC"/>
              </a:rPr>
              <a:t>Provides secure and standardized access to external tools, databases, and knowledge bases, forming the foundation for the agent's capabilities.</a:t>
            </a:r>
          </a:p>
        </p:txBody>
      </p:sp>
      <p:sp>
        <p:nvSpPr>
          <p:cNvPr name="AutoShape 14" id="14"/>
          <p:cNvSpPr/>
          <p:nvPr/>
        </p:nvSpPr>
        <p:spPr>
          <a:xfrm rot="0" flipH="false" flipV="false">
            <a:off x="9144000" y="5270500"/>
            <a:ext cx="2349500" cy="1270000"/>
          </a:xfrm>
          <a:prstGeom prst="roundRect">
            <a:avLst>
              <a:gd name="adj" fmla="val 0"/>
            </a:avLst>
          </a:prstGeom>
          <a:solidFill>
            <a:srgbClr val="E60012">
              <a:alpha val="8000"/>
            </a:srgbClr>
          </a:solidFill>
          <a:ln w="25400" cmpd="sng" cap="flat">
            <a:noFill/>
            <a:prstDash val="solid"/>
            <a:round/>
          </a:ln>
        </p:spPr>
        <p:txBody>
          <a:bodyPr anchor="ctr" rtlCol="false" vert="horz"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271000" y="5397500"/>
            <a:ext cx="254000" cy="254000"/>
          </a:xfrm>
          <a:prstGeom prst="rect">
            <a:avLst/>
          </a:prstGeom>
        </p:spPr>
      </p:pic>
      <p:sp>
        <p:nvSpPr>
          <p:cNvPr name="AutoShape 16" id="16"/>
          <p:cNvSpPr/>
          <p:nvPr/>
        </p:nvSpPr>
        <p:spPr>
          <a:xfrm rot="0" flipH="false" flipV="false">
            <a:off x="9588500" y="5397500"/>
            <a:ext cx="1841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333333"/>
                </a:solidFill>
                <a:latin typeface="Noto Sans SC"/>
                <a:ea typeface="Noto Sans SC"/>
                <a:cs typeface="Noto Sans SC"/>
                <a:sym typeface="Noto Sans SC"/>
              </a:rPr>
              <a:t>Security Governance Layer</a:t>
            </a:r>
            <a:r>
              <a:rPr lang="en-US" b="false" i="false" strike="noStrike" u="none" sz="10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000">
                <a:solidFill>
                  <a:srgbClr val="555555"/>
                </a:solidFill>
                <a:latin typeface="Noto Sans SC"/>
                <a:ea typeface="Noto Sans SC"/>
                <a:cs typeface="Noto Sans SC"/>
                <a:sym typeface="Noto Sans SC"/>
              </a:rPr>
              <a:t>Implements comprehensive security measures, including access control, data encryption, and audit logging, to ensure the system's security and compliance.</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DEE0E3">
              <a:alpha val="100000"/>
            </a:srgbClr>
          </a:solidFill>
          <a:ln w="25400" cmpd="sng" cap="flat">
            <a:noFill/>
            <a:prstDash val="solid"/>
            <a:round/>
          </a:ln>
        </p:spPr>
        <p:txBody>
          <a:bodyPr anchor="ctr" rtlCol="false" anchorCtr="false" vert="horz" wrap="square" lIns="0" rIns="0" tIns="0" bIns="0"/>
          <a:lstStyle/>
          <a:p>
            <a:pPr algn="ctr" marL="0" indent="0">
              <a:lnSpc>
                <a:spcPct val="100000"/>
              </a:lnSpc>
              <a:defRPr/>
            </a:pPr>
            <a:r>
              <a:rPr lang="en-US" b="true" i="false" strike="noStrike" u="none" sz="2000">
                <a:solidFill>
                  <a:srgbClr val="1A1A1A"/>
                </a:solidFill>
                <a:latin typeface="Noto Sans SC"/>
                <a:ea typeface="Noto Sans SC"/>
                <a:cs typeface="Noto Sans SC"/>
                <a:sym typeface="Noto Sans SC"/>
              </a:rPr>
              <a:t>Multi-Agent Harness Task Orchestration and Execution Sequence</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1A1A1A"/>
                </a:solidFill>
                <a:latin typeface="Noto Sans SC"/>
                <a:ea typeface="Noto Sans SC"/>
                <a:cs typeface="Noto Sans SC"/>
                <a:sym typeface="Noto Sans SC"/>
              </a:rPr>
              <a:t>User | API Gateway | Orchestrator | Planner Agent | Worker Agent | Tool Trigger | Reviewer Agent | Budget Control | State Store | Trace</a:t>
            </a:r>
            <a:r>
              <a:rPr lang="en-US" b="false" i="false" strike="noStrike" u="none" sz="1200">
                <a:solidFill>
                  <a:srgbClr val="1F2329"/>
                </a:solidFill>
                <a:latin typeface="Noto Sans SC"/>
                <a:ea typeface="Noto Sans SC"/>
                <a:cs typeface="Noto Sans SC"/>
                <a:sym typeface="Noto Sans SC"/>
              </a:rPr>
              <a:t/>
            </a:r>
          </a:p>
          <a:p>
            <a:pPr algn="l" marL="0" indent="0">
              <a:lnSpc>
                <a:spcPct val="100000"/>
              </a:lnSpc>
            </a:pPr>
            <a:r>
              <a:rPr lang="en-US" b="false" i="false" strike="noStrike" u="none" sz="1200">
                <a:solidFill>
                  <a:srgbClr val="1A1A1A"/>
                </a:solidFill>
                <a:latin typeface="Noto Sans SC"/>
                <a:ea typeface="Noto Sans SC"/>
                <a:cs typeface="Noto Sans SC"/>
                <a:sym typeface="Noto Sans SC"/>
              </a:rPr>
              <a:t>01 Orchestration: Submit Complex Task → create_task(...) → Init task_id, budget → decompose(task) → Return Execution Plan → check_budget(task) → Loop through steps in plan → execute(step, context)</a:t>
            </a:r>
            <a:r>
              <a:rPr lang="en-US" b="false" i="false" strike="noStrike" u="none" sz="1200">
                <a:solidFill>
                  <a:srgbClr val="1F2329"/>
                </a:solidFill>
                <a:latin typeface="Noto Sans SC"/>
                <a:ea typeface="Noto Sans SC"/>
                <a:cs typeface="Noto Sans SC"/>
                <a:sym typeface="Noto Sans SC"/>
              </a:rPr>
              <a:t/>
            </a:r>
          </a:p>
          <a:p>
            <a:pPr algn="l" marL="0" indent="0">
              <a:lnSpc>
                <a:spcPct val="100000"/>
              </a:lnSpc>
            </a:pPr>
            <a:r>
              <a:rPr lang="en-US" b="false" i="false" strike="noStrike" u="none" sz="1200">
                <a:solidFill>
                  <a:srgbClr val="1A1A1A"/>
                </a:solidFill>
                <a:latin typeface="Noto Sans SC"/>
                <a:ea typeface="Noto Sans SC"/>
                <a:cs typeface="Noto Sans SC"/>
                <a:sym typeface="Noto Sans SC"/>
              </a:rPr>
              <a:t>02 Execution: Prepare Context → Call Context → Return Tool Result → Write Intermediate Result → Log Step Metadata → Log Spent Budget → Return Partial Result | Insufficient Budget → Log Final Result → review(..., draft, trajectory) → Mark Task as Complete | Return Correction Steps → Return Corrected Result → Return Final Result</a:t>
            </a:r>
            <a:r>
              <a:rPr lang="en-US" b="false" i="false" strike="noStrike" u="none" sz="1200">
                <a:solidFill>
                  <a:srgbClr val="1F2329"/>
                </a:solidFill>
                <a:latin typeface="Noto Sans SC"/>
                <a:ea typeface="Noto Sans SC"/>
                <a:cs typeface="Noto Sans SC"/>
                <a:sym typeface="Noto Sans SC"/>
              </a:rPr>
              <a:t/>
            </a:r>
          </a:p>
          <a:p>
            <a:pPr algn="l" marL="0" indent="0">
              <a:lnSpc>
                <a:spcPct val="108333"/>
              </a:lnSpc>
            </a:pPr>
            <a:r>
              <a:rPr lang="en-US" b="true" i="false" strike="noStrike" u="none" sz="1400">
                <a:solidFill>
                  <a:srgbClr val="1A1A1A"/>
                </a:solidFill>
                <a:latin typeface="Noto Sans SC"/>
                <a:ea typeface="Noto Sans SC"/>
                <a:cs typeface="Noto Sans SC"/>
                <a:sym typeface="Noto Sans SC"/>
              </a:rPr>
              <a:t>Multi-Agent Harness Core Qualities</a:t>
            </a:r>
            <a:r>
              <a:rPr lang="en-US" b="false" i="false" strike="noStrike" u="none" sz="1200">
                <a:solidFill>
                  <a:srgbClr val="1F2329"/>
                </a:solidFill>
                <a:latin typeface="Noto Sans SC"/>
                <a:ea typeface="Noto Sans SC"/>
                <a:cs typeface="Noto Sans SC"/>
                <a:sym typeface="Noto Sans SC"/>
              </a:rPr>
              <a:t/>
            </a:r>
          </a:p>
          <a:p>
            <a:pPr algn="l" marL="0" indent="0">
              <a:lnSpc>
                <a:spcPct val="100000"/>
              </a:lnSpc>
            </a:pPr>
            <a:r>
              <a:rPr lang="en-US" b="true" i="false" strike="noStrike" u="none" sz="1200">
                <a:solidFill>
                  <a:srgbClr val="1A1A1A"/>
                </a:solidFill>
                <a:latin typeface="Noto Sans SC"/>
                <a:ea typeface="Noto Sans SC"/>
                <a:cs typeface="Noto Sans SC"/>
                <a:sym typeface="Noto Sans SC"/>
              </a:rPr>
              <a:t>Task Orchestration:</a:t>
            </a:r>
            <a:r>
              <a:rPr lang="en-US" b="false" i="false" strike="noStrike" u="none" sz="1100">
                <a:solidFill>
                  <a:srgbClr val="505050"/>
                </a:solidFill>
                <a:latin typeface="Noto Sans SC"/>
                <a:ea typeface="Noto Sans SC"/>
                <a:cs typeface="Noto Sans SC"/>
                <a:sym typeface="Noto Sans SC"/>
              </a:rPr>
              <a:t>Orchestrator is responsible for task decomposition, execution flow, and resource coordination.</a:t>
            </a:r>
            <a:r>
              <a:rPr lang="en-US" b="false" i="false" strike="noStrike" u="none" sz="1200">
                <a:solidFill>
                  <a:srgbClr val="1F2329"/>
                </a:solidFill>
                <a:latin typeface="Noto Sans SC"/>
                <a:ea typeface="Noto Sans SC"/>
                <a:cs typeface="Noto Sans SC"/>
                <a:sym typeface="Noto Sans SC"/>
              </a:rPr>
              <a:t/>
            </a:r>
          </a:p>
          <a:p>
            <a:pPr algn="l" marL="0" indent="0">
              <a:lnSpc>
                <a:spcPct val="100000"/>
              </a:lnSpc>
            </a:pPr>
            <a:r>
              <a:rPr lang="en-US" b="true" i="false" strike="noStrike" u="none" sz="1200">
                <a:solidFill>
                  <a:srgbClr val="1A1A1A"/>
                </a:solidFill>
                <a:latin typeface="Noto Sans SC"/>
                <a:ea typeface="Noto Sans SC"/>
                <a:cs typeface="Noto Sans SC"/>
                <a:sym typeface="Noto Sans SC"/>
              </a:rPr>
              <a:t>Budget Control:</a:t>
            </a:r>
            <a:r>
              <a:rPr lang="en-US" b="false" i="false" strike="noStrike" u="none" sz="1100">
                <a:solidFill>
                  <a:srgbClr val="505050"/>
                </a:solidFill>
                <a:latin typeface="Noto Sans SC"/>
                <a:ea typeface="Noto Sans SC"/>
                <a:cs typeface="Noto Sans SC"/>
                <a:sym typeface="Noto Sans SC"/>
              </a:rPr>
              <a:t>Budget Control validates the budget in real-time to prevent resource overrun.</a:t>
            </a:r>
            <a:r>
              <a:rPr lang="en-US" b="false" i="false" strike="noStrike" u="none" sz="1200">
                <a:solidFill>
                  <a:srgbClr val="1F2329"/>
                </a:solidFill>
                <a:latin typeface="Noto Sans SC"/>
                <a:ea typeface="Noto Sans SC"/>
                <a:cs typeface="Noto Sans SC"/>
                <a:sym typeface="Noto Sans SC"/>
              </a:rPr>
              <a:t/>
            </a:r>
          </a:p>
          <a:p>
            <a:pPr algn="l" marL="0" indent="0">
              <a:lnSpc>
                <a:spcPct val="100000"/>
              </a:lnSpc>
            </a:pPr>
            <a:r>
              <a:rPr lang="en-US" b="true" i="false" strike="noStrike" u="none" sz="1200">
                <a:solidFill>
                  <a:srgbClr val="1A1A1A"/>
                </a:solidFill>
                <a:latin typeface="Noto Sans SC"/>
                <a:ea typeface="Noto Sans SC"/>
                <a:cs typeface="Noto Sans SC"/>
                <a:sym typeface="Noto Sans SC"/>
              </a:rPr>
              <a:t>Execution Guarantee:</a:t>
            </a:r>
            <a:r>
              <a:rPr lang="en-US" b="false" i="false" strike="noStrike" u="none" sz="1100">
                <a:solidFill>
                  <a:srgbClr val="505050"/>
                </a:solidFill>
                <a:latin typeface="Noto Sans SC"/>
                <a:ea typeface="Noto Sans SC"/>
                <a:cs typeface="Noto Sans SC"/>
                <a:sym typeface="Noto Sans SC"/>
              </a:rPr>
              <a:t>The execution process is reliable and supports recovery from frequent interruptions.</a:t>
            </a:r>
            <a:r>
              <a:rPr lang="en-US" b="false" i="false" strike="noStrike" u="none" sz="1200">
                <a:solidFill>
                  <a:srgbClr val="1F2329"/>
                </a:solidFill>
                <a:latin typeface="Noto Sans SC"/>
                <a:ea typeface="Noto Sans SC"/>
                <a:cs typeface="Noto Sans SC"/>
                <a:sym typeface="Noto Sans SC"/>
              </a:rPr>
              <a:t/>
            </a:r>
          </a:p>
          <a:p>
            <a:pPr algn="l" marL="0" indent="0">
              <a:lnSpc>
                <a:spcPct val="100000"/>
              </a:lnSpc>
            </a:pPr>
            <a:r>
              <a:rPr lang="en-US" b="true" i="false" strike="noStrike" u="none" sz="1200">
                <a:solidFill>
                  <a:srgbClr val="1A1A1A"/>
                </a:solidFill>
                <a:latin typeface="Noto Sans SC"/>
                <a:ea typeface="Noto Sans SC"/>
                <a:cs typeface="Noto Sans SC"/>
                <a:sym typeface="Noto Sans SC"/>
              </a:rPr>
              <a:t>State Management:</a:t>
            </a:r>
            <a:r>
              <a:rPr lang="en-US" b="false" i="false" strike="noStrike" u="none" sz="1100">
                <a:solidFill>
                  <a:srgbClr val="505050"/>
                </a:solidFill>
                <a:latin typeface="Noto Sans SC"/>
                <a:ea typeface="Noto Sans SC"/>
                <a:cs typeface="Noto Sans SC"/>
                <a:sym typeface="Noto Sans SC"/>
              </a:rPr>
              <a:t>State Store preserves context and tool state, enabling state recovery.</a:t>
            </a:r>
            <a:r>
              <a:rPr lang="en-US" b="false" i="false" strike="noStrike" u="none" sz="1200">
                <a:solidFill>
                  <a:srgbClr val="1F2329"/>
                </a:solidFill>
                <a:latin typeface="Noto Sans SC"/>
                <a:ea typeface="Noto Sans SC"/>
                <a:cs typeface="Noto Sans SC"/>
                <a:sym typeface="Noto Sans SC"/>
              </a:rPr>
              <a:t/>
            </a:r>
          </a:p>
          <a:p>
            <a:pPr algn="l" marL="0" indent="0">
              <a:lnSpc>
                <a:spcPct val="100000"/>
              </a:lnSpc>
            </a:pPr>
            <a:r>
              <a:rPr lang="en-US" b="true" i="false" strike="noStrike" u="none" sz="1200">
                <a:solidFill>
                  <a:srgbClr val="1A1A1A"/>
                </a:solidFill>
                <a:latin typeface="Noto Sans SC"/>
                <a:ea typeface="Noto Sans SC"/>
                <a:cs typeface="Noto Sans SC"/>
                <a:sym typeface="Noto Sans SC"/>
              </a:rPr>
              <a:t>Review &amp; Correction:</a:t>
            </a:r>
            <a:r>
              <a:rPr lang="en-US" b="false" i="false" strike="noStrike" u="none" sz="1100">
                <a:solidFill>
                  <a:srgbClr val="505050"/>
                </a:solidFill>
                <a:latin typeface="Noto Sans SC"/>
                <a:ea typeface="Noto Sans SC"/>
                <a:cs typeface="Noto Sans SC"/>
                <a:sym typeface="Noto Sans SC"/>
              </a:rPr>
              <a:t>Reviewer examines the final output to ensure it meets business expectations.</a:t>
            </a:r>
            <a:r>
              <a:rPr lang="en-US" b="false" i="false" strike="noStrike" u="none" sz="1200">
                <a:solidFill>
                  <a:srgbClr val="1F2329"/>
                </a:solidFill>
                <a:latin typeface="Noto Sans SC"/>
                <a:ea typeface="Noto Sans SC"/>
                <a:cs typeface="Noto Sans SC"/>
                <a:sym typeface="Noto Sans SC"/>
              </a:rPr>
              <a:t/>
            </a:r>
          </a:p>
          <a:p>
            <a:pPr algn="l" marL="0" indent="0">
              <a:lnSpc>
                <a:spcPct val="100000"/>
              </a:lnSpc>
            </a:pPr>
            <a:r>
              <a:rPr lang="en-US" b="true" i="false" strike="noStrike" u="none" sz="1200">
                <a:solidFill>
                  <a:srgbClr val="1A1A1A"/>
                </a:solidFill>
                <a:latin typeface="Noto Sans SC"/>
                <a:ea typeface="Noto Sans SC"/>
                <a:cs typeface="Noto Sans SC"/>
                <a:sym typeface="Noto Sans SC"/>
              </a:rPr>
              <a:t>Observability:</a:t>
            </a:r>
            <a:r>
              <a:rPr lang="en-US" b="false" i="false" strike="noStrike" u="none" sz="1100">
                <a:solidFill>
                  <a:srgbClr val="505050"/>
                </a:solidFill>
                <a:latin typeface="Noto Sans SC"/>
                <a:ea typeface="Noto Sans SC"/>
                <a:cs typeface="Noto Sans SC"/>
                <a:sym typeface="Noto Sans SC"/>
              </a:rPr>
              <a:t>Trace records the complete execution trajectory for easy tracking and analysis.</a:t>
            </a:r>
            <a:r>
              <a:rPr lang="en-US" b="false" i="false" strike="noStrike" u="none" sz="1200">
                <a:solidFill>
                  <a:srgbClr val="1F2329"/>
                </a:solidFill>
                <a:latin typeface="Noto Sans SC"/>
                <a:ea typeface="Noto Sans SC"/>
                <a:cs typeface="Noto Sans SC"/>
                <a:sym typeface="Noto Sans SC"/>
              </a:rPr>
              <a:t/>
            </a:r>
          </a:p>
          <a:p>
            <a:pPr algn="l" marL="0" indent="0">
              <a:lnSpc>
                <a:spcPct val="108333"/>
              </a:lnSpc>
            </a:pPr>
            <a:r>
              <a:rPr lang="en-US" b="true" i="false" strike="noStrike" u="none" sz="1300">
                <a:solidFill>
                  <a:srgbClr val="1A1A1A"/>
                </a:solidFill>
                <a:latin typeface="Noto Sans SC"/>
                <a:ea typeface="Noto Sans SC"/>
                <a:cs typeface="Noto Sans SC"/>
                <a:sym typeface="Noto Sans SC"/>
              </a:rPr>
              <a:t>Core Philosophy:</a:t>
            </a:r>
            <a:r>
              <a:rPr lang="en-US" b="false" i="false" strike="noStrike" u="none" sz="1200">
                <a:solidFill>
                  <a:srgbClr val="505050"/>
                </a:solidFill>
                <a:latin typeface="Noto Sans SC"/>
                <a:ea typeface="Noto Sans SC"/>
                <a:cs typeface="Noto Sans SC"/>
                <a:sym typeface="Noto Sans SC"/>
              </a:rPr>
              <a:t>Build a stable, efficient, reliable, and traceable complex task flow.</a:t>
            </a:r>
            <a:r>
              <a:rPr lang="en-US" b="false" i="false" strike="noStrike" u="none" sz="1200">
                <a:solidFill>
                  <a:srgbClr val="1F2329"/>
                </a:solidFill>
                <a:latin typeface="Noto Sans SC"/>
                <a:ea typeface="Noto Sans SC"/>
                <a:cs typeface="Noto Sans SC"/>
                <a:sym typeface="Noto Sans SC"/>
              </a:rPr>
              <a:t/>
            </a:r>
          </a:p>
          <a:p>
            <a:pPr algn="ctr" marL="0" indent="0">
              <a:lnSpc>
                <a:spcPct val="125000"/>
              </a:lnSpc>
            </a:pPr>
            <a:r>
              <a:rPr lang="en-US" b="false" i="false" strike="noStrike" u="none" sz="1200">
                <a:solidFill>
                  <a:srgbClr val="1A1A1A"/>
                </a:solidFill>
                <a:latin typeface="Noto Sans SC"/>
                <a:ea typeface="Noto Sans SC"/>
                <a:cs typeface="Noto Sans SC"/>
                <a:sym typeface="Noto Sans SC"/>
              </a:rPr>
              <a:t>Orchestrate → Plan → Execute → Review → Decide</a:t>
            </a:r>
          </a:p>
        </p:txBody>
      </p:sp>
      <p:pic>
        <p:nvPicPr>
          <p:cNvPr name="Picture 3" id="3"/>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{"Label":"1","ContentProducer":"001191110102MACQD9K64010000","ProduceID":"7648469799459212260","ReservedCode1":"","ContentPropagator":"","PropagateID":"","ReservedCode2":""}</vt:lpwstr>
  </property>
</Properties>
</file>