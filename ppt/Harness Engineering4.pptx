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83" r:id="rId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This slide presents the complete 11 core components of a production-grade Harness. These components work together to provide a robust, secure, and efficient operating system for AI agents. From the central orchestration loop to the final deployment, each layer plays a critical role in ensuring the system's reliability and performance.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The 11 Core Components of a Production-Grade Harness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467100" cy="11176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6001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0800" cy="1117600"/>
          </a:xfrm>
          <a:prstGeom prst="roundRect">
            <a:avLst>
              <a:gd name="adj" fmla="val 0"/>
            </a:avLst>
          </a:prstGeom>
          <a:solidFill>
            <a:srgbClr val="E6001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14400" y="17145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60012"/>
                </a:solidFill>
                <a:latin typeface="Noto Sans SC"/>
                <a:ea typeface="Noto Sans SC"/>
                <a:cs typeface="Noto Sans SC"/>
                <a:sym typeface="Noto Sans SC"/>
              </a:rPr>
              <a:t>01. Orchestration &amp; Scheduling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3587">
            <a:off x="914413" y="2051050"/>
            <a:ext cx="321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14400" y="2108200"/>
            <a:ext cx="3175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Runs the TAO ReAct loop (Thought-Action-Observation). Handles task decomposition, parallel distribution, and fault tolerance (breakpoint resumption, timeout).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921000"/>
            <a:ext cx="3467100" cy="11176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6001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2921000"/>
            <a:ext cx="50800" cy="1117600"/>
          </a:xfrm>
          <a:prstGeom prst="roundRect">
            <a:avLst>
              <a:gd name="adj" fmla="val 0"/>
            </a:avLst>
          </a:prstGeom>
          <a:solidFill>
            <a:srgbClr val="E6001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14400" y="29845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60012"/>
                </a:solidFill>
                <a:latin typeface="Noto Sans SC"/>
                <a:ea typeface="Noto Sans SC"/>
                <a:cs typeface="Noto Sans SC"/>
                <a:sym typeface="Noto Sans SC"/>
              </a:rPr>
              <a:t>02. Constraint &amp; Behavior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3587">
            <a:off x="914413" y="3321050"/>
            <a:ext cx="321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914400" y="3378200"/>
            <a:ext cx="3175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Enforces hard rules via `AGENTS.md` and system prompts. Implements input/output filters for security and format compliance.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064000"/>
            <a:ext cx="3467100" cy="11176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6001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4064000"/>
            <a:ext cx="50800" cy="1117600"/>
          </a:xfrm>
          <a:prstGeom prst="roundRect">
            <a:avLst>
              <a:gd name="adj" fmla="val 0"/>
            </a:avLst>
          </a:prstGeom>
          <a:solidFill>
            <a:srgbClr val="E6001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14400" y="41275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60012"/>
                </a:solidFill>
                <a:latin typeface="Noto Sans SC"/>
                <a:ea typeface="Noto Sans SC"/>
                <a:cs typeface="Noto Sans SC"/>
                <a:sym typeface="Noto Sans SC"/>
              </a:rPr>
              <a:t>03. Context Management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3587">
            <a:off x="914413" y="4464050"/>
            <a:ext cx="321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914400" y="4521200"/>
            <a:ext cx="3175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Optimizes context window usage with compaction and just-in-time retrieval. Provides layered storage (short-term, long-term, global).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270500"/>
            <a:ext cx="3467100" cy="11176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6001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5270500"/>
            <a:ext cx="50800" cy="1117600"/>
          </a:xfrm>
          <a:prstGeom prst="roundRect">
            <a:avLst>
              <a:gd name="adj" fmla="val 0"/>
            </a:avLst>
          </a:prstGeom>
          <a:solidFill>
            <a:srgbClr val="E6001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14400" y="53340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60012"/>
                </a:solidFill>
                <a:latin typeface="Noto Sans SC"/>
                <a:ea typeface="Noto Sans SC"/>
                <a:cs typeface="Noto Sans SC"/>
                <a:sym typeface="Noto Sans SC"/>
              </a:rPr>
              <a:t>04. Tool &amp; Sandbox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3587">
            <a:off x="914413" y="5670550"/>
            <a:ext cx="321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914400" y="5727700"/>
            <a:ext cx="3175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Provides a standardized, isolated runtime for tool execution (file, shell, API). Ensures safety with input validation, logging, and auto-retry/rollback.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394200" y="1651000"/>
            <a:ext cx="3467100" cy="11176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6001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4394200" y="1651000"/>
            <a:ext cx="50800" cy="1117600"/>
          </a:xfrm>
          <a:prstGeom prst="roundRect">
            <a:avLst>
              <a:gd name="adj" fmla="val 0"/>
            </a:avLst>
          </a:prstGeom>
          <a:solidFill>
            <a:srgbClr val="E6001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4546600" y="17145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60012"/>
                </a:solidFill>
                <a:latin typeface="Noto Sans SC"/>
                <a:ea typeface="Noto Sans SC"/>
                <a:cs typeface="Noto Sans SC"/>
                <a:sym typeface="Noto Sans SC"/>
              </a:rPr>
              <a:t>05. State Persistence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3587">
            <a:off x="4546613" y="2051050"/>
            <a:ext cx="321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4546600" y="2108200"/>
            <a:ext cx="3175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Solves AI "amnesia" with progress files, databases, and memory vectors. Archives complete runtime traces for reproducibility.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394200" y="2921000"/>
            <a:ext cx="3467100" cy="11176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6001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4394200" y="2921000"/>
            <a:ext cx="50800" cy="1117600"/>
          </a:xfrm>
          <a:prstGeom prst="roundRect">
            <a:avLst>
              <a:gd name="adj" fmla="val 0"/>
            </a:avLst>
          </a:prstGeom>
          <a:solidFill>
            <a:srgbClr val="E6001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4546600" y="29845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60012"/>
                </a:solidFill>
                <a:latin typeface="Noto Sans SC"/>
                <a:ea typeface="Noto Sans SC"/>
                <a:cs typeface="Noto Sans SC"/>
                <a:sym typeface="Noto Sans SC"/>
              </a:rPr>
              <a:t>06. Self-Verification Loop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13587">
            <a:off x="4546613" y="3321050"/>
            <a:ext cx="321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4546600" y="3378200"/>
            <a:ext cx="3175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Automatically triggers validation (unit tests, linting, fact-checking). Forces rollback and regeneration on failure, feeding errors back for model improvement.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4394200" y="4064000"/>
            <a:ext cx="3467100" cy="11176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6001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4394200" y="4064000"/>
            <a:ext cx="50800" cy="1117600"/>
          </a:xfrm>
          <a:prstGeom prst="roundRect">
            <a:avLst>
              <a:gd name="adj" fmla="val 0"/>
            </a:avLst>
          </a:prstGeom>
          <a:solidFill>
            <a:srgbClr val="E6001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4546600" y="41275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60012"/>
                </a:solidFill>
                <a:latin typeface="Noto Sans SC"/>
                <a:ea typeface="Noto Sans SC"/>
                <a:cs typeface="Noto Sans SC"/>
                <a:sym typeface="Noto Sans SC"/>
              </a:rPr>
              <a:t>07. Security &amp; Access Control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 rot="-13587">
            <a:off x="4546613" y="4464050"/>
            <a:ext cx="321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4546600" y="4521200"/>
            <a:ext cx="3175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Implements fine-grained RBAC permissions and data desensitization. Monitors entropy and requires manual approval for high-risk actions.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4394200" y="5270500"/>
            <a:ext cx="3467100" cy="11176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6001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4394200" y="5270500"/>
            <a:ext cx="50800" cy="1117600"/>
          </a:xfrm>
          <a:prstGeom prst="roundRect">
            <a:avLst>
              <a:gd name="adj" fmla="val 0"/>
            </a:avLst>
          </a:prstGeom>
          <a:solidFill>
            <a:srgbClr val="E6001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4546600" y="53340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60012"/>
                </a:solidFill>
                <a:latin typeface="Noto Sans SC"/>
                <a:ea typeface="Noto Sans SC"/>
                <a:cs typeface="Noto Sans SC"/>
                <a:sym typeface="Noto Sans SC"/>
              </a:rPr>
              <a:t>08. Observability &amp; Logging</a:t>
            </a:r>
            <a:endParaRPr lang="en-US" sz="1100"/>
          </a:p>
        </p:txBody>
      </p:sp>
      <p:cxnSp>
        <p:nvCxnSpPr>
          <p:cNvPr id="41" name="Connector 41"/>
          <p:cNvCxnSpPr/>
          <p:nvPr/>
        </p:nvCxnSpPr>
        <p:spPr>
          <a:xfrm rot="-13587">
            <a:off x="4546613" y="5670550"/>
            <a:ext cx="321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AutoShape 42"/>
          <p:cNvSpPr/>
          <p:nvPr/>
        </p:nvSpPr>
        <p:spPr>
          <a:xfrm>
            <a:off x="4546600" y="5727700"/>
            <a:ext cx="3175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Logs all LLM interactions, tool calls, and metrics (latency, cost). Provides error attribution and A/B testing capabilities.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7912100" y="1651000"/>
            <a:ext cx="3467100" cy="14224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6001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44"/>
          <p:cNvSpPr/>
          <p:nvPr/>
        </p:nvSpPr>
        <p:spPr>
          <a:xfrm>
            <a:off x="7912100" y="1651000"/>
            <a:ext cx="50800" cy="1422400"/>
          </a:xfrm>
          <a:prstGeom prst="roundRect">
            <a:avLst>
              <a:gd name="adj" fmla="val 0"/>
            </a:avLst>
          </a:prstGeom>
          <a:solidFill>
            <a:srgbClr val="E6001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45"/>
          <p:cNvSpPr/>
          <p:nvPr/>
        </p:nvSpPr>
        <p:spPr>
          <a:xfrm>
            <a:off x="8064500" y="17145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60012"/>
                </a:solidFill>
                <a:latin typeface="Noto Sans SC"/>
                <a:ea typeface="Noto Sans SC"/>
                <a:cs typeface="Noto Sans SC"/>
                <a:sym typeface="Noto Sans SC"/>
              </a:rPr>
              <a:t>09. Model Gateway &amp; Routing</a:t>
            </a:r>
            <a:endParaRPr lang="en-US" sz="1100"/>
          </a:p>
        </p:txBody>
      </p:sp>
      <p:cxnSp>
        <p:nvCxnSpPr>
          <p:cNvPr id="46" name="Connector 46"/>
          <p:cNvCxnSpPr/>
          <p:nvPr/>
        </p:nvCxnSpPr>
        <p:spPr>
          <a:xfrm rot="-13587">
            <a:off x="8064513" y="2051050"/>
            <a:ext cx="321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AutoShape 47"/>
          <p:cNvSpPr/>
          <p:nvPr/>
        </p:nvSpPr>
        <p:spPr>
          <a:xfrm>
            <a:off x="8064500" y="2108200"/>
            <a:ext cx="3175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Decouples models from business with a unified API adapter. Enables load balancing, failover, and cost-effective model routing across different providers and endpoints.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7912100" y="3302000"/>
            <a:ext cx="3467100" cy="14224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6001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AutoShape 49"/>
          <p:cNvSpPr/>
          <p:nvPr/>
        </p:nvSpPr>
        <p:spPr>
          <a:xfrm>
            <a:off x="7912100" y="3302000"/>
            <a:ext cx="50800" cy="1422400"/>
          </a:xfrm>
          <a:prstGeom prst="roundRect">
            <a:avLst>
              <a:gd name="adj" fmla="val 0"/>
            </a:avLst>
          </a:prstGeom>
          <a:solidFill>
            <a:srgbClr val="E6001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AutoShape 50"/>
          <p:cNvSpPr/>
          <p:nvPr/>
        </p:nvSpPr>
        <p:spPr>
          <a:xfrm>
            <a:off x="8064500" y="33655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60012"/>
                </a:solidFill>
                <a:latin typeface="Noto Sans SC"/>
                <a:ea typeface="Noto Sans SC"/>
                <a:cs typeface="Noto Sans SC"/>
                <a:sym typeface="Noto Sans SC"/>
              </a:rPr>
              <a:t>10. Evaluation &amp; Iteration</a:t>
            </a:r>
            <a:endParaRPr lang="en-US" sz="1100"/>
          </a:p>
        </p:txBody>
      </p:sp>
      <p:cxnSp>
        <p:nvCxnSpPr>
          <p:cNvPr id="51" name="Connector 51"/>
          <p:cNvCxnSpPr/>
          <p:nvPr/>
        </p:nvCxnSpPr>
        <p:spPr>
          <a:xfrm rot="-13587">
            <a:off x="8064513" y="3702050"/>
            <a:ext cx="321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AutoShape 52"/>
          <p:cNvSpPr/>
          <p:nvPr/>
        </p:nvSpPr>
        <p:spPr>
          <a:xfrm>
            <a:off x="8064500" y="3759200"/>
            <a:ext cx="3175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Uses standardized datasets for batch evaluation of success/accuracy. Employs a "Meta-Harness" for AI-driven optimization of prompts, rules, and execution strategies.</a:t>
            </a:r>
            <a:endParaRPr lang="en-US" sz="1100"/>
          </a:p>
        </p:txBody>
      </p:sp>
      <p:sp>
        <p:nvSpPr>
          <p:cNvPr id="53" name="AutoShape 53"/>
          <p:cNvSpPr/>
          <p:nvPr/>
        </p:nvSpPr>
        <p:spPr>
          <a:xfrm>
            <a:off x="7912100" y="4953000"/>
            <a:ext cx="3467100" cy="14224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6001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4" name="AutoShape 54"/>
          <p:cNvSpPr/>
          <p:nvPr/>
        </p:nvSpPr>
        <p:spPr>
          <a:xfrm>
            <a:off x="7912100" y="4953000"/>
            <a:ext cx="50800" cy="1422400"/>
          </a:xfrm>
          <a:prstGeom prst="roundRect">
            <a:avLst>
              <a:gd name="adj" fmla="val 0"/>
            </a:avLst>
          </a:prstGeom>
          <a:solidFill>
            <a:srgbClr val="E6001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5" name="AutoShape 55"/>
          <p:cNvSpPr/>
          <p:nvPr/>
        </p:nvSpPr>
        <p:spPr>
          <a:xfrm>
            <a:off x="8064500" y="50165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60012"/>
                </a:solidFill>
                <a:latin typeface="Noto Sans SC"/>
                <a:ea typeface="Noto Sans SC"/>
                <a:cs typeface="Noto Sans SC"/>
                <a:sym typeface="Noto Sans SC"/>
              </a:rPr>
              <a:t>11. Deployment &amp; Serving</a:t>
            </a:r>
            <a:endParaRPr lang="en-US" sz="1100"/>
          </a:p>
        </p:txBody>
      </p:sp>
      <p:cxnSp>
        <p:nvCxnSpPr>
          <p:cNvPr id="56" name="Connector 56"/>
          <p:cNvCxnSpPr/>
          <p:nvPr/>
        </p:nvCxnSpPr>
        <p:spPr>
          <a:xfrm rot="-13587">
            <a:off x="8064513" y="5353050"/>
            <a:ext cx="3213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" name="AutoShape 57"/>
          <p:cNvSpPr/>
          <p:nvPr/>
        </p:nvSpPr>
        <p:spPr>
          <a:xfrm>
            <a:off x="8064500" y="5410200"/>
            <a:ext cx="3175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Containerized deployment with elastic scaling and environment isolation. Supports multiple forms: high-availability API services, CLI agents, and IDE plugins.</a:t>
            </a:r>
            <a:endParaRPr lang="en-US" sz="1100"/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1925</Words>
  <Application>WPS Presentation</Application>
  <PresentationFormat/>
  <Paragraphs>46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8" baseType="lpstr">
      <vt:lpstr>Arial</vt:lpstr>
      <vt:lpstr>SimSun</vt:lpstr>
      <vt:lpstr>Wingdings</vt:lpstr>
      <vt:lpstr>Arial</vt:lpstr>
      <vt:lpstr>Noto Sans SC</vt:lpstr>
      <vt:lpstr>Thonburi</vt:lpstr>
      <vt:lpstr>Poppins</vt:lpstr>
      <vt:lpstr>Microsoft YaHei</vt:lpstr>
      <vt:lpstr>汉仪旗黑</vt:lpstr>
      <vt:lpstr>Arial Unicode MS</vt:lpstr>
      <vt:lpstr>SimSun</vt:lpstr>
      <vt:lpstr>汉仪书宋二KW</vt:lpstr>
      <vt:lpstr>Noto Sans SC</vt:lpstr>
      <vt:lpstr>Poppins</vt:lpstr>
      <vt:lpstr>苹方-简</vt:lpstr>
      <vt:lpstr>Office 主题​​</vt:lpstr>
      <vt:lpstr>默认主题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Thomas</cp:lastModifiedBy>
  <cp:revision>1</cp:revision>
  <dcterms:created xsi:type="dcterms:W3CDTF">2026-06-08T15:35:32Z</dcterms:created>
  <dcterms:modified xsi:type="dcterms:W3CDTF">2026-06-08T15:35:32Z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{"Label":"1","ContentProducer":"001191110102MACQD9K64010000","ProduceID":"7649047915407576026","ReservedCode1":"","ContentPropagator":"","PropagateID":"","ReservedCode2":""}</vt:lpwstr>
  </property>
  <property fmtid="{D5CDD505-2E9C-101B-9397-08002B2CF9AE}" pid="3" name="ICV">
    <vt:lpwstr>6D133439493D7BAD44E1266A00FF009D_42</vt:lpwstr>
  </property>
  <property fmtid="{D5CDD505-2E9C-101B-9397-08002B2CF9AE}" pid="4" name="KSOProductBuildVer">
    <vt:lpwstr>1033-12.1.26016.26016</vt:lpwstr>
  </property>
</Properties>
</file>